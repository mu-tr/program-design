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6" d="100"/>
          <a:sy n="66" d="100"/>
        </p:scale>
        <p:origin x="58" y="1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8D871B54-0867-46D0-9F9E-2D0E57E7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847FF6D5-D2CC-4806-BD2C-B4E8ADD0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189543D3-C6A8-470A-8070-5BA93210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0828E6-1DA4-42D7-A612-D555A23B810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4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81980DF4-18BE-4AD3-9CB0-0B1D1EE2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5695E6BB-19FC-47A7-BC6B-FDA1E099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7B9B32F8-184E-49A1-BE1C-8DB14C19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70162-8749-44F9-8179-8B1CEC497DA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13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8469BEDB-7220-491F-88A8-6E627118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863B0486-E6C9-4D7E-934C-4EC65875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4CDF28D9-5CE6-4A3E-AD98-6ED258D3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015757-FF6C-4B7A-A630-E0BABD75B34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64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B8BF752A-6A3D-4E25-8868-BE603CAF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806A4083-6E70-4BD0-912E-E6E1E84B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F2EAD0F5-8DA0-499E-B165-9C0996F2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51A277-694D-445F-8103-E475C7B5B6F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18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>
            <a:extLst>
              <a:ext uri="{FF2B5EF4-FFF2-40B4-BE49-F238E27FC236}">
                <a16:creationId xmlns:a16="http://schemas.microsoft.com/office/drawing/2014/main" id="{D46CEBC4-997B-4310-ABB0-7B45FEF9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1028">
            <a:extLst>
              <a:ext uri="{FF2B5EF4-FFF2-40B4-BE49-F238E27FC236}">
                <a16:creationId xmlns:a16="http://schemas.microsoft.com/office/drawing/2014/main" id="{2E5710FA-E019-4415-B725-0C32DCFD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1029">
            <a:extLst>
              <a:ext uri="{FF2B5EF4-FFF2-40B4-BE49-F238E27FC236}">
                <a16:creationId xmlns:a16="http://schemas.microsoft.com/office/drawing/2014/main" id="{15C37CBC-CBA1-44F7-9BDF-C34ED5E9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A86153-5C86-4BF0-AC1E-B7721B669A0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37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>
            <a:extLst>
              <a:ext uri="{FF2B5EF4-FFF2-40B4-BE49-F238E27FC236}">
                <a16:creationId xmlns:a16="http://schemas.microsoft.com/office/drawing/2014/main" id="{0724DF93-52EF-4A59-B0C8-10AF3A39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1028">
            <a:extLst>
              <a:ext uri="{FF2B5EF4-FFF2-40B4-BE49-F238E27FC236}">
                <a16:creationId xmlns:a16="http://schemas.microsoft.com/office/drawing/2014/main" id="{46815478-65C0-4293-91CD-2E4301FF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1029">
            <a:extLst>
              <a:ext uri="{FF2B5EF4-FFF2-40B4-BE49-F238E27FC236}">
                <a16:creationId xmlns:a16="http://schemas.microsoft.com/office/drawing/2014/main" id="{94D89783-B34E-4EFB-AF4C-B5F8BADA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55320E-5FDE-4B8C-B57E-F1E88D75D42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46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>
            <a:extLst>
              <a:ext uri="{FF2B5EF4-FFF2-40B4-BE49-F238E27FC236}">
                <a16:creationId xmlns:a16="http://schemas.microsoft.com/office/drawing/2014/main" id="{53D658E4-617F-415B-8FEB-EDF14DE5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1028">
            <a:extLst>
              <a:ext uri="{FF2B5EF4-FFF2-40B4-BE49-F238E27FC236}">
                <a16:creationId xmlns:a16="http://schemas.microsoft.com/office/drawing/2014/main" id="{21CA4433-21AA-4C9F-AAD8-2D940E69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1029">
            <a:extLst>
              <a:ext uri="{FF2B5EF4-FFF2-40B4-BE49-F238E27FC236}">
                <a16:creationId xmlns:a16="http://schemas.microsoft.com/office/drawing/2014/main" id="{C7F05614-8717-434F-8565-AE2DD61A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C77E64-08CC-4CE4-A252-E12A78D4DB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7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E8302BE1-00BD-4616-954E-88EB4984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C313D082-AFDF-4BAB-84D5-483FE68D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C42687E3-BC7F-47EA-AD14-3CC9732C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7A7C47-1271-48A2-86A5-F65EDDDF405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90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>
            <a:extLst>
              <a:ext uri="{FF2B5EF4-FFF2-40B4-BE49-F238E27FC236}">
                <a16:creationId xmlns:a16="http://schemas.microsoft.com/office/drawing/2014/main" id="{AE6C069A-5492-4F56-A144-263AAE50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1028">
            <a:extLst>
              <a:ext uri="{FF2B5EF4-FFF2-40B4-BE49-F238E27FC236}">
                <a16:creationId xmlns:a16="http://schemas.microsoft.com/office/drawing/2014/main" id="{93458BA8-74ED-46D3-8874-D3D1956F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9">
            <a:extLst>
              <a:ext uri="{FF2B5EF4-FFF2-40B4-BE49-F238E27FC236}">
                <a16:creationId xmlns:a16="http://schemas.microsoft.com/office/drawing/2014/main" id="{9E7A553F-5D8F-4151-BC93-EB3AC266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354EAB-398F-497B-85EC-187F335B603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2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EDCE50B3-9EC8-4A0D-AC1C-200A42CC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50B64478-BD0E-4073-B923-FA693BA6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9E476396-11F3-4863-A1FC-28226672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788622-BFAC-4594-B24C-275157E6F3A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80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>
            <a:extLst>
              <a:ext uri="{FF2B5EF4-FFF2-40B4-BE49-F238E27FC236}">
                <a16:creationId xmlns:a16="http://schemas.microsoft.com/office/drawing/2014/main" id="{BDF1142B-2C17-40F3-9EDC-6CFC03C480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>
            <a:extLst>
              <a:ext uri="{FF2B5EF4-FFF2-40B4-BE49-F238E27FC236}">
                <a16:creationId xmlns:a16="http://schemas.microsoft.com/office/drawing/2014/main" id="{884C67F7-DF4B-4656-973A-EA37BE9B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>
            <a:extLst>
              <a:ext uri="{FF2B5EF4-FFF2-40B4-BE49-F238E27FC236}">
                <a16:creationId xmlns:a16="http://schemas.microsoft.com/office/drawing/2014/main" id="{DB1CA99E-9AB3-4324-86E4-48D467C3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5EED35-1FAE-4AFE-B893-B5E285B10C5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5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>
            <a:extLst>
              <a:ext uri="{FF2B5EF4-FFF2-40B4-BE49-F238E27FC236}">
                <a16:creationId xmlns:a16="http://schemas.microsoft.com/office/drawing/2014/main" id="{76185020-7E77-47B9-8EC5-AB0434DFA9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>
            <a:extLst>
              <a:ext uri="{FF2B5EF4-FFF2-40B4-BE49-F238E27FC236}">
                <a16:creationId xmlns:a16="http://schemas.microsoft.com/office/drawing/2014/main" id="{F888B4EF-BD24-46D9-9669-6E10FDEADBF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>
            <a:extLst>
              <a:ext uri="{FF2B5EF4-FFF2-40B4-BE49-F238E27FC236}">
                <a16:creationId xmlns:a16="http://schemas.microsoft.com/office/drawing/2014/main" id="{71FC1A67-7AE5-462F-B3DF-496ED9AD2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/>
            </a:lvl1pPr>
          </a:lstStyle>
          <a:p>
            <a:endParaRPr lang="zh-CN" altLang="en-US"/>
          </a:p>
        </p:txBody>
      </p:sp>
      <p:sp>
        <p:nvSpPr>
          <p:cNvPr id="1029" name="页脚占位符 1028">
            <a:extLst>
              <a:ext uri="{FF2B5EF4-FFF2-40B4-BE49-F238E27FC236}">
                <a16:creationId xmlns:a16="http://schemas.microsoft.com/office/drawing/2014/main" id="{A45EBD57-0483-4A3E-B2F8-9D2C437EB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/>
            </a:lvl1pPr>
          </a:lstStyle>
          <a:p>
            <a:endParaRPr lang="zh-CN" altLang="en-US"/>
          </a:p>
        </p:txBody>
      </p:sp>
      <p:sp>
        <p:nvSpPr>
          <p:cNvPr id="1030" name="灯片编号占位符 1029">
            <a:extLst>
              <a:ext uri="{FF2B5EF4-FFF2-40B4-BE49-F238E27FC236}">
                <a16:creationId xmlns:a16="http://schemas.microsoft.com/office/drawing/2014/main" id="{2930A889-D659-4EC8-B244-D22050703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67A634-90C6-4B0F-BC38-A4E147C8F97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>
            <a:extLst>
              <a:ext uri="{FF2B5EF4-FFF2-40B4-BE49-F238E27FC236}">
                <a16:creationId xmlns:a16="http://schemas.microsoft.com/office/drawing/2014/main" id="{DC4F5387-9479-4E6B-93AE-1C93E63F7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2492896"/>
            <a:ext cx="7164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6000" b="1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math</a:t>
            </a:r>
            <a:r>
              <a:rPr lang="zh-CN" altLang="en-US" sz="6000" b="1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库的使用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4">
            <a:extLst>
              <a:ext uri="{FF2B5EF4-FFF2-40B4-BE49-F238E27FC236}">
                <a16:creationId xmlns:a16="http://schemas.microsoft.com/office/drawing/2014/main" id="{0AFA931E-572D-4343-A197-A1548D789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" y="396875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Box 2">
            <a:extLst>
              <a:ext uri="{FF2B5EF4-FFF2-40B4-BE49-F238E27FC236}">
                <a16:creationId xmlns:a16="http://schemas.microsoft.com/office/drawing/2014/main" id="{17B3B051-2DD8-4CB5-A968-ECF852DCB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" y="1093788"/>
            <a:ext cx="2152650" cy="5222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folHlink"/>
              </a:buClr>
              <a:buSzPct val="60000"/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math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库概述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5B0CA59F-C2D2-4171-AB37-6CE5BBE76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89138"/>
            <a:ext cx="8712200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库是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提供的内置数学类函数库</a:t>
            </a: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库不支持复数类型</a:t>
            </a: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库一共提供了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个数学常数和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个函数。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个函数共分为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类，包括：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个数值表示函数、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个幂对数函数、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个三角对数函数和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个高等特殊函数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Box 2">
            <a:extLst>
              <a:ext uri="{FF2B5EF4-FFF2-40B4-BE49-F238E27FC236}">
                <a16:creationId xmlns:a16="http://schemas.microsoft.com/office/drawing/2014/main" id="{A7F89C91-03A2-4348-B9CC-513D94F04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692150"/>
            <a:ext cx="2498725" cy="523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math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库概述</a:t>
            </a:r>
          </a:p>
        </p:txBody>
      </p:sp>
      <p:sp>
        <p:nvSpPr>
          <p:cNvPr id="4098" name="TextBox 2">
            <a:extLst>
              <a:ext uri="{FF2B5EF4-FFF2-40B4-BE49-F238E27FC236}">
                <a16:creationId xmlns:a16="http://schemas.microsoft.com/office/drawing/2014/main" id="{905CA031-6346-4710-B72A-CEE021F3F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205038"/>
            <a:ext cx="54784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28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math</a:t>
            </a: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99" name="表格 4098">
            <a:extLst>
              <a:ext uri="{FF2B5EF4-FFF2-40B4-BE49-F238E27FC236}">
                <a16:creationId xmlns:a16="http://schemas.microsoft.com/office/drawing/2014/main" id="{0BBFD8FC-E982-4416-95CA-601C3D8DEE52}"/>
              </a:ext>
            </a:extLst>
          </p:cNvPr>
          <p:cNvGraphicFramePr/>
          <p:nvPr/>
        </p:nvGraphicFramePr>
        <p:xfrm>
          <a:off x="1365250" y="3068638"/>
          <a:ext cx="5372100" cy="1096962"/>
        </p:xfrm>
        <a:graphic>
          <a:graphicData uri="http://schemas.openxmlformats.org/drawingml/2006/table">
            <a:tbl>
              <a:tblPr/>
              <a:tblGrid>
                <a:gridCol w="53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696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&gt;&gt;&gt;import math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math.ceil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(10.2)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11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>
                    <a:lnL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05" name="表格 4104">
            <a:extLst>
              <a:ext uri="{FF2B5EF4-FFF2-40B4-BE49-F238E27FC236}">
                <a16:creationId xmlns:a16="http://schemas.microsoft.com/office/drawing/2014/main" id="{8A1BFBD3-FD3B-463E-949D-EC70E8A89913}"/>
              </a:ext>
            </a:extLst>
          </p:cNvPr>
          <p:cNvGraphicFramePr/>
          <p:nvPr/>
        </p:nvGraphicFramePr>
        <p:xfrm>
          <a:off x="1381125" y="5157788"/>
          <a:ext cx="5341938" cy="1235075"/>
        </p:xfrm>
        <a:graphic>
          <a:graphicData uri="http://schemas.openxmlformats.org/drawingml/2006/table">
            <a:tbl>
              <a:tblPr/>
              <a:tblGrid>
                <a:gridCol w="534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50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&gt;&gt;&gt;from math import floor</a:t>
                      </a:r>
                      <a:endParaRPr lang="zh-CN" altLang="zh-CN" sz="18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&gt;&gt;&gt;floor(10.2)</a:t>
                      </a:r>
                      <a:endParaRPr lang="zh-CN" altLang="zh-CN" sz="18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zh-CN" sz="18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68" marR="68568" marT="0" marB="0">
                    <a:lnL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2">
            <a:extLst>
              <a:ext uri="{FF2B5EF4-FFF2-40B4-BE49-F238E27FC236}">
                <a16:creationId xmlns:a16="http://schemas.microsoft.com/office/drawing/2014/main" id="{B560FFCD-CF8E-4014-9D48-139BB5672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71613"/>
            <a:ext cx="2620963" cy="5810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1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altLang="zh-CN" sz="2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math</a:t>
            </a:r>
            <a:r>
              <a:rPr lang="zh-CN" altLang="en-US" sz="24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库引用</a:t>
            </a:r>
          </a:p>
        </p:txBody>
      </p:sp>
      <p:sp>
        <p:nvSpPr>
          <p:cNvPr id="4112" name="TextBox 2">
            <a:extLst>
              <a:ext uri="{FF2B5EF4-FFF2-40B4-BE49-F238E27FC236}">
                <a16:creationId xmlns:a16="http://schemas.microsoft.com/office/drawing/2014/main" id="{96AB11F6-6E18-428B-9618-32E85ED21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376738"/>
            <a:ext cx="6303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28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math import &lt;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4">
            <a:extLst>
              <a:ext uri="{FF2B5EF4-FFF2-40B4-BE49-F238E27FC236}">
                <a16:creationId xmlns:a16="http://schemas.microsoft.com/office/drawing/2014/main" id="{B9ED71C6-67D5-4B81-B963-0432402B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1038" y="396875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TextBox 2">
            <a:extLst>
              <a:ext uri="{FF2B5EF4-FFF2-40B4-BE49-F238E27FC236}">
                <a16:creationId xmlns:a16="http://schemas.microsoft.com/office/drawing/2014/main" id="{2288BB85-BCEA-4115-8CC5-6B46E8051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196975"/>
            <a:ext cx="6769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库包括</a:t>
            </a: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个数学常数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123" name="表格 5122">
            <a:extLst>
              <a:ext uri="{FF2B5EF4-FFF2-40B4-BE49-F238E27FC236}">
                <a16:creationId xmlns:a16="http://schemas.microsoft.com/office/drawing/2014/main" id="{6BC58B1D-CD12-43A9-BE5D-F89C3115C4A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900113" y="2492375"/>
          <a:ext cx="7272337" cy="2881313"/>
        </p:xfrm>
        <a:graphic>
          <a:graphicData uri="http://schemas.openxmlformats.org/drawingml/2006/table">
            <a:tbl>
              <a:tblPr/>
              <a:tblGrid>
                <a:gridCol w="1716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6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常数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数学表示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38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math.pi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圆周率，值为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3.141592653589793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math.e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i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自然对数，值为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2.718281828459045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9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math.inf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正无穷大，负无穷大为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-math.inf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math.nan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非浮点数标记，</a:t>
                      </a:r>
                      <a:r>
                        <a:rPr lang="en-US" altLang="zh-CN" sz="1800" dirty="0" err="1">
                          <a:latin typeface="Calibri" panose="020F0502020204030204" charset="0"/>
                          <a:ea typeface="宋体" panose="02010600030101010101" pitchFamily="2" charset="-122"/>
                        </a:rPr>
                        <a:t>NaN</a:t>
                      </a:r>
                      <a:r>
                        <a:rPr lang="zh-CN" altLang="zh-CN" sz="18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Not a Number</a:t>
                      </a:r>
                      <a:r>
                        <a:rPr lang="zh-CN" altLang="zh-CN" sz="18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4">
            <a:extLst>
              <a:ext uri="{FF2B5EF4-FFF2-40B4-BE49-F238E27FC236}">
                <a16:creationId xmlns:a16="http://schemas.microsoft.com/office/drawing/2014/main" id="{403C19B3-FD08-4589-BF4D-641EF6E1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" y="396875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TextBox 2">
            <a:extLst>
              <a:ext uri="{FF2B5EF4-FFF2-40B4-BE49-F238E27FC236}">
                <a16:creationId xmlns:a16="http://schemas.microsoft.com/office/drawing/2014/main" id="{6695934A-9F0E-4918-BC67-9E1769DF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60350"/>
            <a:ext cx="7900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ctr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个数值表示函数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147" name="表格 6146">
            <a:extLst>
              <a:ext uri="{FF2B5EF4-FFF2-40B4-BE49-F238E27FC236}">
                <a16:creationId xmlns:a16="http://schemas.microsoft.com/office/drawing/2014/main" id="{E14D4204-6051-422F-9435-23A06615E9B9}"/>
              </a:ext>
            </a:extLst>
          </p:cNvPr>
          <p:cNvGraphicFramePr/>
          <p:nvPr/>
        </p:nvGraphicFramePr>
        <p:xfrm>
          <a:off x="827088" y="976313"/>
          <a:ext cx="7626350" cy="6121400"/>
        </p:xfrm>
        <a:graphic>
          <a:graphicData uri="http://schemas.openxmlformats.org/drawingml/2006/table">
            <a:tbl>
              <a:tblPr/>
              <a:tblGrid>
                <a:gridCol w="179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lang="zh-CN" altLang="zh-CN" sz="14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数学表示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6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math.fabs(x)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32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的绝对值</a:t>
                      </a:r>
                      <a:endParaRPr lang="zh-CN" altLang="zh-CN" sz="14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math.fmod(x, y)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% y</a:t>
                      </a:r>
                      <a:endParaRPr lang="zh-CN" altLang="zh-CN" sz="14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的模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math.fsum([x,y,…])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x+y+…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浮点数精确求和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6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math.ceil(x)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32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向上取整，返回不小于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的最小整数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026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math.floor(x)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32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向下取证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，返回不大于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的最大整数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math.factorial(x)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x!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的阶乘，如果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是小数或负数，返回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ValueError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math.gcd(a, b)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的最大公约数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math.frepx(x)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= m * 2</a:t>
                      </a:r>
                      <a:r>
                        <a:rPr lang="en-US" altLang="zh-CN" sz="14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(m, e)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，当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x=0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(0.0, 0)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math.ldexp(x, i)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* 2</a:t>
                      </a:r>
                      <a:r>
                        <a:rPr lang="en-US" altLang="zh-CN" sz="14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* 2</a:t>
                      </a:r>
                      <a:r>
                        <a:rPr lang="en-US" altLang="zh-CN" sz="14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运算值，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math.frepx(x)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函数的反运算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1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math.modf(x)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的小数和整数部分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math.trunc(x)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的整数部分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9026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math.copysign(x, y)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32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用数值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的正负号替换数值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的正负号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math.isclose(a,b)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比较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的相似性，返回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math.isfinite(x)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为无穷大，返回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；否则，返回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 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math.isinf(x)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为正数或负数无穷大，返回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；否则，返回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0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math.isnan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</a:t>
                      </a:r>
                      <a:endParaRPr lang="zh-CN" altLang="zh-CN" sz="14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4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NaN</a:t>
                      </a: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，返回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；否则，返回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  <a:endParaRPr lang="zh-CN" altLang="zh-CN" sz="14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4">
            <a:extLst>
              <a:ext uri="{FF2B5EF4-FFF2-40B4-BE49-F238E27FC236}">
                <a16:creationId xmlns:a16="http://schemas.microsoft.com/office/drawing/2014/main" id="{9FB1FF1A-B4FF-4382-B01E-811F6EC8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038" y="396875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TextBox 2">
            <a:extLst>
              <a:ext uri="{FF2B5EF4-FFF2-40B4-BE49-F238E27FC236}">
                <a16:creationId xmlns:a16="http://schemas.microsoft.com/office/drawing/2014/main" id="{A0A60CFA-BE32-403E-AD51-FB6572447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722313"/>
            <a:ext cx="86407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ctr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幂对数函数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表格 7170">
            <a:extLst>
              <a:ext uri="{FF2B5EF4-FFF2-40B4-BE49-F238E27FC236}">
                <a16:creationId xmlns:a16="http://schemas.microsoft.com/office/drawing/2014/main" id="{212D11AA-47B1-4C4D-AD32-AE5FAEFB4738}"/>
              </a:ext>
            </a:extLst>
          </p:cNvPr>
          <p:cNvGraphicFramePr/>
          <p:nvPr/>
        </p:nvGraphicFramePr>
        <p:xfrm>
          <a:off x="827088" y="1484313"/>
          <a:ext cx="7848600" cy="5045075"/>
        </p:xfrm>
        <a:graphic>
          <a:graphicData uri="http://schemas.openxmlformats.org/drawingml/2006/table">
            <a:tbl>
              <a:tblPr/>
              <a:tblGrid>
                <a:gridCol w="185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5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数学表示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math.pow(x,y)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altLang="zh-CN" sz="18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次幂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math.exp(x)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altLang="zh-CN" sz="18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次幂，</a:t>
                      </a:r>
                      <a:r>
                        <a:rPr lang="en-US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是自然对数 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math.expml(x)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en-US" altLang="zh-CN" sz="1800" baseline="300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次幂减</a:t>
                      </a:r>
                      <a:r>
                        <a:rPr lang="en-US" altLang="zh-CN" sz="1800">
                          <a:latin typeface="Calibri" panose="020F0502020204030204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math.sqrt(x)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的平方根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math.log(x[,base])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5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math.log1p(x)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1+x</a:t>
                      </a: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的自然对数值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13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math.log2(x)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对数值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45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math.log10(x)</a:t>
                      </a:r>
                      <a:endParaRPr lang="zh-CN" altLang="zh-CN" sz="20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40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zh-CN" sz="18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对数值</a:t>
                      </a:r>
                      <a:endParaRPr lang="zh-CN" altLang="zh-CN" sz="20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4">
            <a:extLst>
              <a:ext uri="{FF2B5EF4-FFF2-40B4-BE49-F238E27FC236}">
                <a16:creationId xmlns:a16="http://schemas.microsoft.com/office/drawing/2014/main" id="{229C2421-40FF-4568-BEF5-552DF442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1038" y="396875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TextBox 2">
            <a:extLst>
              <a:ext uri="{FF2B5EF4-FFF2-40B4-BE49-F238E27FC236}">
                <a16:creationId xmlns:a16="http://schemas.microsoft.com/office/drawing/2014/main" id="{9877CDA5-9E51-401A-82EE-C2B998608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06363"/>
            <a:ext cx="53641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zh-CN" sz="24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三角双曲函数</a:t>
            </a:r>
            <a:endParaRPr lang="en-US" altLang="zh-CN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195" name="表格 8194">
            <a:extLst>
              <a:ext uri="{FF2B5EF4-FFF2-40B4-BE49-F238E27FC236}">
                <a16:creationId xmlns:a16="http://schemas.microsoft.com/office/drawing/2014/main" id="{61ECE9C2-6BFD-4813-8F4E-19A903C78A7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468313" y="769938"/>
          <a:ext cx="8135937" cy="5761038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数学表示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描述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math.degrees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角度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的弧度值转角度值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math.radians(x)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角度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的角度值转弧度值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math.hypot(x,y)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32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(x,y)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坐标到原点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(0,0)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的距离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math.sin(x)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sin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的正弦函数值，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4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math.cos(x)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cos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的余弦函数值，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math.tan(x)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tan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的正切函数值，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math.asin(x)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arcsin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的反正弦函数值，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4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math.acos(x)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arccos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的反余弦函数值，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 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math.atan(x)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arctan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的反正切函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0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math.atan2(y,x)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arctan y/x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y/x</a:t>
                      </a:r>
                      <a:r>
                        <a:rPr lang="zh-CN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的反正切函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数值，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是弧度值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4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math.sinh(x)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sinh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的双曲正弦函数值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math.cosh(x)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cosh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的双曲余弦函数值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0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math.tanh(x)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tanh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的双曲正切函数值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437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math.asinh(x)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arcsinh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的反双曲正弦函数值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0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math.acosh(x)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arccosh x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的反双曲余弦函数值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54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math.atanh(x)</a:t>
                      </a:r>
                      <a:endParaRPr lang="zh-CN" altLang="zh-CN" sz="160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arctanh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x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返回</a:t>
                      </a:r>
                      <a:r>
                        <a:rPr lang="en-US" altLang="zh-CN" sz="14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zh-CN" sz="1400" dirty="0">
                          <a:latin typeface="Calibri" panose="020F0502020204030204" charset="0"/>
                          <a:ea typeface="宋体" panose="02010600030101010101" pitchFamily="2" charset="-122"/>
                        </a:rPr>
                        <a:t>的反双曲正切函数值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Box 2">
            <a:extLst>
              <a:ext uri="{FF2B5EF4-FFF2-40B4-BE49-F238E27FC236}">
                <a16:creationId xmlns:a16="http://schemas.microsoft.com/office/drawing/2014/main" id="{A6A72ED5-63F1-4AB3-8A5C-39C6EC5F3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808288"/>
            <a:ext cx="63690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5400"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  <a:r>
              <a:rPr lang="zh-CN" altLang="en-US" sz="5400">
                <a:latin typeface="微软雅黑" panose="020B0503020204020204" pitchFamily="34" charset="-122"/>
                <a:ea typeface="微软雅黑" panose="020B0503020204020204" pitchFamily="34" charset="-122"/>
              </a:rPr>
              <a:t>库的使用</a:t>
            </a:r>
            <a:endParaRPr lang="zh-CN" altLang="en-US" sz="5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B0F7F783-87C3-401A-9259-B6427C45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92D39DA2-C497-4D73-B203-FAD8DE541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3652837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random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库概述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0962C7-107E-4D94-83CE-54AEADB25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66888"/>
            <a:ext cx="856932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随机数在计算机应用中十分常见，Python内置的random库主要用于产生各种分布的伪随机数序列。random库采用梅森旋转算法（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Mersenne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twister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）生成伪随机数序列，可用于除随机性要求更高的加解密算法外的大多数工程应用。</a:t>
            </a: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random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库主要目的是生成随机数，因此只需要查阅该库的随机数生成函数，找到符合使用场景的函数使用即可。这个库提供了不同类型的随机数函数，所有函数都是基于最基本的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random.random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()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函数扩展而来。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30F50D9D-FBF2-498D-8AAF-21681048A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5D5CBB2A-4A33-412D-803D-86EF72E65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3652837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random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库解析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F133B39-B039-434A-ABA2-730CA645AC3A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2205038"/>
          <a:ext cx="8326437" cy="3865563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seed(a=None)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初始化随机数种子，默认值为当前系统时间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random()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[0.0, 1.0)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之间的随机小数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randint(a, b)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[a,b]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之间的整数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getrandbits(k)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比特长度的随机整数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randrange(start, stop[, step])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[start, stop)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之间以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为步数的随机整数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uniform(a, b)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生成一个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[a, b]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之间的随机小数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choice(seq)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从序列类型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例如：列表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中随机返回一个元素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shuffle(seq)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将序列类型中元素随机排列，返回打乱后的序列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sample(pop, k)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pop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类型中随机选取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个元素，以列表类型返回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0D898933-06B7-40FE-A517-049A43B4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D813AEB7-61E7-4911-A981-1E35DC929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3652837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random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库解析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22EBA1-C77E-4A5B-8923-92CE89675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2265363"/>
            <a:ext cx="4135438" cy="286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对random库的引用方法，采用下面两种方式实现：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import random  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或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from random import *</a:t>
            </a:r>
          </a:p>
        </p:txBody>
      </p:sp>
      <p:graphicFrame>
        <p:nvGraphicFramePr>
          <p:cNvPr id="12292" name="表格 12291">
            <a:extLst>
              <a:ext uri="{FF2B5EF4-FFF2-40B4-BE49-F238E27FC236}">
                <a16:creationId xmlns:a16="http://schemas.microsoft.com/office/drawing/2014/main" id="{473CF518-0170-4718-9CD7-771620C29343}"/>
              </a:ext>
            </a:extLst>
          </p:cNvPr>
          <p:cNvGraphicFramePr/>
          <p:nvPr/>
        </p:nvGraphicFramePr>
        <p:xfrm>
          <a:off x="4427538" y="1747838"/>
          <a:ext cx="4649787" cy="4826000"/>
        </p:xfrm>
        <a:graphic>
          <a:graphicData uri="http://schemas.openxmlformats.org/drawingml/2006/table">
            <a:tbl>
              <a:tblPr/>
              <a:tblGrid>
                <a:gridCol w="4649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260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&gt;&gt;&gt;from random import *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&gt;&gt;&gt;random()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0.2922089114412476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&gt;&gt;&gt;uniform(1,10)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1.5913082783598524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&gt;&gt;&gt;uniform(1,20)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lang="en-US" altLang="zh-CN" sz="14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randrange</a:t>
                      </a: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(0,100,4) #</a:t>
                      </a:r>
                      <a:r>
                        <a:rPr lang="zh-CN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从</a:t>
                      </a: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开始到</a:t>
                      </a: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100</a:t>
                      </a:r>
                      <a:r>
                        <a:rPr lang="zh-CN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以</a:t>
                      </a: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递增的元素中随机返回</a:t>
                      </a: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96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&gt;&gt;&gt;choice(range(100)) 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97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&gt;&gt;&gt;ls = list(range(10))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&gt;&gt;&gt;print(ls)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[0, 1, 2, 3, 4, 5, 6, 7, 8, 9]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&gt;&gt;&gt;shuffle(ls)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&gt;&gt;&gt;print(ls)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[5,8,4,7,6,9,3,0,2,10, 1, 2, 3, 4, 5, 6, 7, 8, 9]</a:t>
                      </a:r>
                      <a:endParaRPr lang="zh-CN" altLang="zh-CN" sz="1400" b="1" dirty="0"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L="68582" marR="68582" marT="0" marB="0">
                    <a:lnL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445F9765-24EA-4A9F-867C-1EC83F76C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17478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7F451850-9BF5-442E-911D-A366B585E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78D1DD45-AB1B-4806-8417-233D4CA45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3652837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random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库解析</a:t>
            </a:r>
          </a:p>
        </p:txBody>
      </p:sp>
      <p:sp>
        <p:nvSpPr>
          <p:cNvPr id="13315" name="矩形 2">
            <a:extLst>
              <a:ext uri="{FF2B5EF4-FFF2-40B4-BE49-F238E27FC236}">
                <a16:creationId xmlns:a16="http://schemas.microsoft.com/office/drawing/2014/main" id="{71B4202A-1A4D-4064-A56C-3E2B210F8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00225"/>
            <a:ext cx="813593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生成随机数之前可以通过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seed()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函数指定随机数种子，随机种子一般是一个整数，只要种子相同，每次生成的随机数序列也相同。这种情况便于测试和同步数据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316" name="表格 13315">
            <a:extLst>
              <a:ext uri="{FF2B5EF4-FFF2-40B4-BE49-F238E27FC236}">
                <a16:creationId xmlns:a16="http://schemas.microsoft.com/office/drawing/2014/main" id="{A781182E-903F-4CE7-8D1F-C811B73C240C}"/>
              </a:ext>
            </a:extLst>
          </p:cNvPr>
          <p:cNvGraphicFramePr/>
          <p:nvPr/>
        </p:nvGraphicFramePr>
        <p:xfrm>
          <a:off x="669925" y="3881438"/>
          <a:ext cx="7856538" cy="2447925"/>
        </p:xfrm>
        <a:graphic>
          <a:graphicData uri="http://schemas.openxmlformats.org/drawingml/2006/table">
            <a:tbl>
              <a:tblPr/>
              <a:tblGrid>
                <a:gridCol w="785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79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&gt;&gt;&gt;seed(125) # </a:t>
                      </a:r>
                      <a:r>
                        <a:rPr lang="zh-CN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随机种子赋值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125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&gt;&gt;&gt;"{}.{}.{}".format(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(1,10))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'4.4.10'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&gt;&gt;&gt;"{}.{}.{}".format(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(1,10))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'5.10.3'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&gt;&gt;&gt;seed(125) # </a:t>
                      </a:r>
                      <a:r>
                        <a:rPr lang="zh-CN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再次给随机种子赋值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125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&gt;&gt;&gt;"{}.{}.{}".format(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(1,10),</a:t>
                      </a:r>
                      <a:r>
                        <a:rPr lang="en-US" altLang="zh-CN" sz="1600" b="1" dirty="0" err="1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randint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(1,10))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ts val="2000"/>
                        </a:lnSpc>
                        <a:buSzTx/>
                        <a:buNone/>
                      </a:pPr>
                      <a:r>
                        <a:rPr lang="en-US" altLang="zh-CN" sz="16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'4.4.10'</a:t>
                      </a:r>
                      <a:endParaRPr lang="zh-CN" altLang="zh-CN" sz="1600" dirty="0"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0c42b52-d723-477a-8b5b-0d4e51c3c3b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e1d08c1-40e0-4521-b8bc-db45757d66cd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全屏显示(4:3)</PresentationFormat>
  <Paragraphs>207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宋体</vt:lpstr>
      <vt:lpstr>微软雅黑</vt:lpstr>
      <vt:lpstr>Arial</vt:lpstr>
      <vt:lpstr>Calibri</vt:lpstr>
      <vt:lpstr>Courier New</vt:lpstr>
      <vt:lpstr>Times New Roman</vt:lpstr>
      <vt:lpstr>Verdana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 he</dc:creator>
  <cp:lastModifiedBy>tian he</cp:lastModifiedBy>
  <cp:revision>7</cp:revision>
  <dcterms:created xsi:type="dcterms:W3CDTF">2020-03-03T13:56:10Z</dcterms:created>
  <dcterms:modified xsi:type="dcterms:W3CDTF">2025-06-21T01:52:24Z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