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7" r:id="rId1"/>
  </p:sldMasterIdLst>
  <p:notesMasterIdLst>
    <p:notesMasterId r:id="rId33"/>
  </p:notesMasterIdLst>
  <p:sldIdLst>
    <p:sldId id="256" r:id="rId2"/>
    <p:sldId id="491" r:id="rId3"/>
    <p:sldId id="356" r:id="rId4"/>
    <p:sldId id="366" r:id="rId5"/>
    <p:sldId id="492" r:id="rId6"/>
    <p:sldId id="493" r:id="rId7"/>
    <p:sldId id="494" r:id="rId8"/>
    <p:sldId id="495" r:id="rId9"/>
    <p:sldId id="496" r:id="rId10"/>
    <p:sldId id="497" r:id="rId11"/>
    <p:sldId id="498" r:id="rId12"/>
    <p:sldId id="367" r:id="rId13"/>
    <p:sldId id="378" r:id="rId14"/>
    <p:sldId id="379" r:id="rId15"/>
    <p:sldId id="499" r:id="rId16"/>
    <p:sldId id="407" r:id="rId17"/>
    <p:sldId id="408" r:id="rId18"/>
    <p:sldId id="409" r:id="rId19"/>
    <p:sldId id="410" r:id="rId20"/>
    <p:sldId id="411" r:id="rId21"/>
    <p:sldId id="412" r:id="rId22"/>
    <p:sldId id="424" r:id="rId23"/>
    <p:sldId id="413" r:id="rId24"/>
    <p:sldId id="414" r:id="rId25"/>
    <p:sldId id="415" r:id="rId26"/>
    <p:sldId id="416" r:id="rId27"/>
    <p:sldId id="417" r:id="rId28"/>
    <p:sldId id="418" r:id="rId29"/>
    <p:sldId id="419" r:id="rId30"/>
    <p:sldId id="420" r:id="rId31"/>
    <p:sldId id="421" r:id="rId32"/>
  </p:sldIdLst>
  <p:sldSz cx="9144000" cy="6858000" type="screen4x3"/>
  <p:notesSz cx="6858000" cy="9144000"/>
  <p:defaultTextStyle>
    <a:defPPr>
      <a:defRPr lang="zh-CN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Verdana" panose="020B060403050404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Verdana" panose="020B060403050404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Verdana" panose="020B060403050404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Verdana" panose="020B060403050404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6600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807" autoAdjust="0"/>
  </p:normalViewPr>
  <p:slideViewPr>
    <p:cSldViewPr>
      <p:cViewPr varScale="1">
        <p:scale>
          <a:sx n="82" d="100"/>
          <a:sy n="82" d="100"/>
        </p:scale>
        <p:origin x="1282" y="5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>
            <a:extLst>
              <a:ext uri="{FF2B5EF4-FFF2-40B4-BE49-F238E27FC236}">
                <a16:creationId xmlns:a16="http://schemas.microsoft.com/office/drawing/2014/main" id="{6656E7F4-2346-4AB9-9A6B-3994A50932E1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hangingPunct="1">
              <a:defRPr sz="1200"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D5FB8CCD-6F32-4CE3-9017-9709DB897510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hangingPunct="1">
              <a:defRPr sz="1200">
                <a:ea typeface="宋体" panose="02010600030101010101" pitchFamily="2" charset="-122"/>
              </a:defRPr>
            </a:lvl1pPr>
          </a:lstStyle>
          <a:p>
            <a:pPr>
              <a:defRPr/>
            </a:pPr>
            <a:fld id="{FD0F3A29-5792-409F-9B76-39BF1ABFFBBF}" type="datetimeFigureOut">
              <a:rPr lang="zh-CN" altLang="en-US"/>
              <a:pPr>
                <a:defRPr/>
              </a:pPr>
              <a:t>2026/6/27</a:t>
            </a:fld>
            <a:endParaRPr lang="zh-CN" altLang="en-US"/>
          </a:p>
        </p:txBody>
      </p:sp>
      <p:sp>
        <p:nvSpPr>
          <p:cNvPr id="4" name="幻灯片图像占位符 3">
            <a:extLst>
              <a:ext uri="{FF2B5EF4-FFF2-40B4-BE49-F238E27FC236}">
                <a16:creationId xmlns:a16="http://schemas.microsoft.com/office/drawing/2014/main" id="{EC9C3AA0-0F51-4E9C-A1CC-1877ADDA6DE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zh-CN" altLang="en-US" noProof="0"/>
          </a:p>
        </p:txBody>
      </p:sp>
      <p:sp>
        <p:nvSpPr>
          <p:cNvPr id="5" name="备注占位符 4">
            <a:extLst>
              <a:ext uri="{FF2B5EF4-FFF2-40B4-BE49-F238E27FC236}">
                <a16:creationId xmlns:a16="http://schemas.microsoft.com/office/drawing/2014/main" id="{A10C7B0A-809D-4BDC-8F32-56E48461228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D0F28AA5-825B-4DAB-9D77-C1C1F753BBD9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hangingPunct="1">
              <a:defRPr sz="1200"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707BE9D-E8E9-41B1-ACE6-E63E652492F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 smtClean="0"/>
            </a:lvl1pPr>
          </a:lstStyle>
          <a:p>
            <a:pPr>
              <a:defRPr/>
            </a:pPr>
            <a:fld id="{A7126DD3-89BA-4364-9CC5-3C6297469D89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2">
            <a:extLst>
              <a:ext uri="{FF2B5EF4-FFF2-40B4-BE49-F238E27FC236}">
                <a16:creationId xmlns:a16="http://schemas.microsoft.com/office/drawing/2014/main" id="{03A367C0-D92C-48CD-8269-261E1FA469C2}"/>
              </a:ext>
            </a:extLst>
          </p:cNvPr>
          <p:cNvGrpSpPr>
            <a:grpSpLocks/>
          </p:cNvGrpSpPr>
          <p:nvPr/>
        </p:nvGrpSpPr>
        <p:grpSpPr bwMode="auto">
          <a:xfrm>
            <a:off x="0" y="0"/>
            <a:ext cx="8805863" cy="6858000"/>
            <a:chOff x="0" y="0"/>
            <a:chExt cx="5547" cy="4320"/>
          </a:xfrm>
        </p:grpSpPr>
        <p:grpSp>
          <p:nvGrpSpPr>
            <p:cNvPr id="5" name="Group 3">
              <a:extLst>
                <a:ext uri="{FF2B5EF4-FFF2-40B4-BE49-F238E27FC236}">
                  <a16:creationId xmlns:a16="http://schemas.microsoft.com/office/drawing/2014/main" id="{4F48EA2C-B1F2-4901-9B77-AA23D4E7D1B5}"/>
                </a:ext>
              </a:extLst>
            </p:cNvPr>
            <p:cNvGrpSpPr>
              <a:grpSpLocks/>
            </p:cNvGrpSpPr>
            <p:nvPr userDrawn="1"/>
          </p:nvGrpSpPr>
          <p:grpSpPr bwMode="auto">
            <a:xfrm rot="-215207">
              <a:off x="3691" y="234"/>
              <a:ext cx="1857" cy="3625"/>
              <a:chOff x="3010" y="778"/>
              <a:chExt cx="1857" cy="3625"/>
            </a:xfrm>
          </p:grpSpPr>
          <p:sp>
            <p:nvSpPr>
              <p:cNvPr id="39" name="Freeform 4">
                <a:extLst>
                  <a:ext uri="{FF2B5EF4-FFF2-40B4-BE49-F238E27FC236}">
                    <a16:creationId xmlns:a16="http://schemas.microsoft.com/office/drawing/2014/main" id="{CCD6206C-1EEA-46B6-95C6-92DE7D1D6BC7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auto">
              <a:xfrm rot="12185230" flipV="1">
                <a:off x="3533" y="777"/>
                <a:ext cx="1333" cy="1485"/>
              </a:xfrm>
              <a:custGeom>
                <a:avLst/>
                <a:gdLst>
                  <a:gd name="T0" fmla="*/ 36 w 596"/>
                  <a:gd name="T1" fmla="*/ 825 h 666"/>
                  <a:gd name="T2" fmla="*/ 13 w 596"/>
                  <a:gd name="T3" fmla="*/ 760 h 666"/>
                  <a:gd name="T4" fmla="*/ 0 w 596"/>
                  <a:gd name="T5" fmla="*/ 644 h 666"/>
                  <a:gd name="T6" fmla="*/ 9 w 596"/>
                  <a:gd name="T7" fmla="*/ 495 h 666"/>
                  <a:gd name="T8" fmla="*/ 56 w 596"/>
                  <a:gd name="T9" fmla="*/ 337 h 666"/>
                  <a:gd name="T10" fmla="*/ 154 w 596"/>
                  <a:gd name="T11" fmla="*/ 187 h 666"/>
                  <a:gd name="T12" fmla="*/ 318 w 596"/>
                  <a:gd name="T13" fmla="*/ 69 h 666"/>
                  <a:gd name="T14" fmla="*/ 552 w 596"/>
                  <a:gd name="T15" fmla="*/ 4 h 666"/>
                  <a:gd name="T16" fmla="*/ 850 w 596"/>
                  <a:gd name="T17" fmla="*/ 20 h 666"/>
                  <a:gd name="T18" fmla="*/ 1083 w 596"/>
                  <a:gd name="T19" fmla="*/ 152 h 666"/>
                  <a:gd name="T20" fmla="*/ 1239 w 596"/>
                  <a:gd name="T21" fmla="*/ 368 h 666"/>
                  <a:gd name="T22" fmla="*/ 1322 w 596"/>
                  <a:gd name="T23" fmla="*/ 633 h 666"/>
                  <a:gd name="T24" fmla="*/ 1331 w 596"/>
                  <a:gd name="T25" fmla="*/ 912 h 666"/>
                  <a:gd name="T26" fmla="*/ 1266 w 596"/>
                  <a:gd name="T27" fmla="*/ 1171 h 666"/>
                  <a:gd name="T28" fmla="*/ 1134 w 596"/>
                  <a:gd name="T29" fmla="*/ 1371 h 666"/>
                  <a:gd name="T30" fmla="*/ 933 w 596"/>
                  <a:gd name="T31" fmla="*/ 1478 h 666"/>
                  <a:gd name="T32" fmla="*/ 870 w 596"/>
                  <a:gd name="T33" fmla="*/ 1469 h 666"/>
                  <a:gd name="T34" fmla="*/ 986 w 596"/>
                  <a:gd name="T35" fmla="*/ 1376 h 666"/>
                  <a:gd name="T36" fmla="*/ 1078 w 596"/>
                  <a:gd name="T37" fmla="*/ 1213 h 666"/>
                  <a:gd name="T38" fmla="*/ 1138 w 596"/>
                  <a:gd name="T39" fmla="*/ 1012 h 666"/>
                  <a:gd name="T40" fmla="*/ 1163 w 596"/>
                  <a:gd name="T41" fmla="*/ 792 h 666"/>
                  <a:gd name="T42" fmla="*/ 1150 w 596"/>
                  <a:gd name="T43" fmla="*/ 575 h 666"/>
                  <a:gd name="T44" fmla="*/ 1085 w 596"/>
                  <a:gd name="T45" fmla="*/ 388 h 666"/>
                  <a:gd name="T46" fmla="*/ 968 w 596"/>
                  <a:gd name="T47" fmla="*/ 250 h 666"/>
                  <a:gd name="T48" fmla="*/ 763 w 596"/>
                  <a:gd name="T49" fmla="*/ 167 h 666"/>
                  <a:gd name="T50" fmla="*/ 550 w 596"/>
                  <a:gd name="T51" fmla="*/ 136 h 666"/>
                  <a:gd name="T52" fmla="*/ 389 w 596"/>
                  <a:gd name="T53" fmla="*/ 158 h 666"/>
                  <a:gd name="T54" fmla="*/ 271 w 596"/>
                  <a:gd name="T55" fmla="*/ 225 h 666"/>
                  <a:gd name="T56" fmla="*/ 188 w 596"/>
                  <a:gd name="T57" fmla="*/ 332 h 666"/>
                  <a:gd name="T58" fmla="*/ 127 w 596"/>
                  <a:gd name="T59" fmla="*/ 459 h 666"/>
                  <a:gd name="T60" fmla="*/ 89 w 596"/>
                  <a:gd name="T61" fmla="*/ 606 h 666"/>
                  <a:gd name="T62" fmla="*/ 63 w 596"/>
                  <a:gd name="T63" fmla="*/ 756 h 66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</a:gdLst>
                <a:ahLst/>
                <a:cxnLst>
                  <a:cxn ang="T64">
                    <a:pos x="T0" y="T1"/>
                  </a:cxn>
                  <a:cxn ang="T65">
                    <a:pos x="T2" y="T3"/>
                  </a:cxn>
                  <a:cxn ang="T66">
                    <a:pos x="T4" y="T5"/>
                  </a:cxn>
                  <a:cxn ang="T67">
                    <a:pos x="T6" y="T7"/>
                  </a:cxn>
                  <a:cxn ang="T68">
                    <a:pos x="T8" y="T9"/>
                  </a:cxn>
                  <a:cxn ang="T69">
                    <a:pos x="T10" y="T11"/>
                  </a:cxn>
                  <a:cxn ang="T70">
                    <a:pos x="T12" y="T13"/>
                  </a:cxn>
                  <a:cxn ang="T71">
                    <a:pos x="T14" y="T15"/>
                  </a:cxn>
                  <a:cxn ang="T72">
                    <a:pos x="T16" y="T17"/>
                  </a:cxn>
                  <a:cxn ang="T73">
                    <a:pos x="T18" y="T19"/>
                  </a:cxn>
                  <a:cxn ang="T74">
                    <a:pos x="T20" y="T21"/>
                  </a:cxn>
                  <a:cxn ang="T75">
                    <a:pos x="T22" y="T23"/>
                  </a:cxn>
                  <a:cxn ang="T76">
                    <a:pos x="T24" y="T25"/>
                  </a:cxn>
                  <a:cxn ang="T77">
                    <a:pos x="T26" y="T27"/>
                  </a:cxn>
                  <a:cxn ang="T78">
                    <a:pos x="T28" y="T29"/>
                  </a:cxn>
                  <a:cxn ang="T79">
                    <a:pos x="T30" y="T31"/>
                  </a:cxn>
                  <a:cxn ang="T80">
                    <a:pos x="T32" y="T33"/>
                  </a:cxn>
                  <a:cxn ang="T81">
                    <a:pos x="T34" y="T35"/>
                  </a:cxn>
                  <a:cxn ang="T82">
                    <a:pos x="T36" y="T37"/>
                  </a:cxn>
                  <a:cxn ang="T83">
                    <a:pos x="T38" y="T39"/>
                  </a:cxn>
                  <a:cxn ang="T84">
                    <a:pos x="T40" y="T41"/>
                  </a:cxn>
                  <a:cxn ang="T85">
                    <a:pos x="T42" y="T43"/>
                  </a:cxn>
                  <a:cxn ang="T86">
                    <a:pos x="T44" y="T45"/>
                  </a:cxn>
                  <a:cxn ang="T87">
                    <a:pos x="T46" y="T47"/>
                  </a:cxn>
                  <a:cxn ang="T88">
                    <a:pos x="T48" y="T49"/>
                  </a:cxn>
                  <a:cxn ang="T89">
                    <a:pos x="T50" y="T51"/>
                  </a:cxn>
                  <a:cxn ang="T90">
                    <a:pos x="T52" y="T53"/>
                  </a:cxn>
                  <a:cxn ang="T91">
                    <a:pos x="T54" y="T55"/>
                  </a:cxn>
                  <a:cxn ang="T92">
                    <a:pos x="T56" y="T57"/>
                  </a:cxn>
                  <a:cxn ang="T93">
                    <a:pos x="T58" y="T59"/>
                  </a:cxn>
                  <a:cxn ang="T94">
                    <a:pos x="T60" y="T61"/>
                  </a:cxn>
                  <a:cxn ang="T95">
                    <a:pos x="T62" y="T63"/>
                  </a:cxn>
                </a:cxnLst>
                <a:rect l="0" t="0" r="r" b="b"/>
                <a:pathLst>
                  <a:path w="596" h="666">
                    <a:moveTo>
                      <a:pt x="22" y="372"/>
                    </a:moveTo>
                    <a:lnTo>
                      <a:pt x="16" y="370"/>
                    </a:lnTo>
                    <a:lnTo>
                      <a:pt x="10" y="360"/>
                    </a:lnTo>
                    <a:lnTo>
                      <a:pt x="6" y="341"/>
                    </a:lnTo>
                    <a:lnTo>
                      <a:pt x="1" y="318"/>
                    </a:lnTo>
                    <a:lnTo>
                      <a:pt x="0" y="289"/>
                    </a:lnTo>
                    <a:lnTo>
                      <a:pt x="0" y="257"/>
                    </a:lnTo>
                    <a:lnTo>
                      <a:pt x="4" y="222"/>
                    </a:lnTo>
                    <a:lnTo>
                      <a:pt x="13" y="187"/>
                    </a:lnTo>
                    <a:lnTo>
                      <a:pt x="25" y="151"/>
                    </a:lnTo>
                    <a:lnTo>
                      <a:pt x="45" y="116"/>
                    </a:lnTo>
                    <a:lnTo>
                      <a:pt x="69" y="84"/>
                    </a:lnTo>
                    <a:lnTo>
                      <a:pt x="101" y="55"/>
                    </a:lnTo>
                    <a:lnTo>
                      <a:pt x="142" y="31"/>
                    </a:lnTo>
                    <a:lnTo>
                      <a:pt x="190" y="13"/>
                    </a:lnTo>
                    <a:lnTo>
                      <a:pt x="247" y="2"/>
                    </a:lnTo>
                    <a:lnTo>
                      <a:pt x="314" y="0"/>
                    </a:lnTo>
                    <a:lnTo>
                      <a:pt x="380" y="9"/>
                    </a:lnTo>
                    <a:lnTo>
                      <a:pt x="436" y="33"/>
                    </a:lnTo>
                    <a:lnTo>
                      <a:pt x="484" y="68"/>
                    </a:lnTo>
                    <a:lnTo>
                      <a:pt x="524" y="113"/>
                    </a:lnTo>
                    <a:lnTo>
                      <a:pt x="554" y="165"/>
                    </a:lnTo>
                    <a:lnTo>
                      <a:pt x="577" y="222"/>
                    </a:lnTo>
                    <a:lnTo>
                      <a:pt x="591" y="284"/>
                    </a:lnTo>
                    <a:lnTo>
                      <a:pt x="596" y="347"/>
                    </a:lnTo>
                    <a:lnTo>
                      <a:pt x="595" y="409"/>
                    </a:lnTo>
                    <a:lnTo>
                      <a:pt x="585" y="469"/>
                    </a:lnTo>
                    <a:lnTo>
                      <a:pt x="566" y="525"/>
                    </a:lnTo>
                    <a:lnTo>
                      <a:pt x="540" y="574"/>
                    </a:lnTo>
                    <a:lnTo>
                      <a:pt x="507" y="615"/>
                    </a:lnTo>
                    <a:lnTo>
                      <a:pt x="465" y="645"/>
                    </a:lnTo>
                    <a:lnTo>
                      <a:pt x="417" y="663"/>
                    </a:lnTo>
                    <a:lnTo>
                      <a:pt x="360" y="666"/>
                    </a:lnTo>
                    <a:lnTo>
                      <a:pt x="389" y="659"/>
                    </a:lnTo>
                    <a:lnTo>
                      <a:pt x="417" y="642"/>
                    </a:lnTo>
                    <a:lnTo>
                      <a:pt x="441" y="617"/>
                    </a:lnTo>
                    <a:lnTo>
                      <a:pt x="463" y="583"/>
                    </a:lnTo>
                    <a:lnTo>
                      <a:pt x="482" y="544"/>
                    </a:lnTo>
                    <a:lnTo>
                      <a:pt x="497" y="501"/>
                    </a:lnTo>
                    <a:lnTo>
                      <a:pt x="509" y="454"/>
                    </a:lnTo>
                    <a:lnTo>
                      <a:pt x="517" y="404"/>
                    </a:lnTo>
                    <a:lnTo>
                      <a:pt x="520" y="355"/>
                    </a:lnTo>
                    <a:lnTo>
                      <a:pt x="519" y="305"/>
                    </a:lnTo>
                    <a:lnTo>
                      <a:pt x="514" y="258"/>
                    </a:lnTo>
                    <a:lnTo>
                      <a:pt x="502" y="213"/>
                    </a:lnTo>
                    <a:lnTo>
                      <a:pt x="485" y="174"/>
                    </a:lnTo>
                    <a:lnTo>
                      <a:pt x="462" y="139"/>
                    </a:lnTo>
                    <a:lnTo>
                      <a:pt x="433" y="112"/>
                    </a:lnTo>
                    <a:lnTo>
                      <a:pt x="397" y="93"/>
                    </a:lnTo>
                    <a:lnTo>
                      <a:pt x="341" y="75"/>
                    </a:lnTo>
                    <a:lnTo>
                      <a:pt x="290" y="65"/>
                    </a:lnTo>
                    <a:lnTo>
                      <a:pt x="246" y="61"/>
                    </a:lnTo>
                    <a:lnTo>
                      <a:pt x="207" y="63"/>
                    </a:lnTo>
                    <a:lnTo>
                      <a:pt x="174" y="71"/>
                    </a:lnTo>
                    <a:lnTo>
                      <a:pt x="146" y="84"/>
                    </a:lnTo>
                    <a:lnTo>
                      <a:pt x="121" y="101"/>
                    </a:lnTo>
                    <a:lnTo>
                      <a:pt x="101" y="123"/>
                    </a:lnTo>
                    <a:lnTo>
                      <a:pt x="84" y="149"/>
                    </a:lnTo>
                    <a:lnTo>
                      <a:pt x="69" y="176"/>
                    </a:lnTo>
                    <a:lnTo>
                      <a:pt x="57" y="206"/>
                    </a:lnTo>
                    <a:lnTo>
                      <a:pt x="48" y="239"/>
                    </a:lnTo>
                    <a:lnTo>
                      <a:pt x="40" y="272"/>
                    </a:lnTo>
                    <a:lnTo>
                      <a:pt x="33" y="305"/>
                    </a:lnTo>
                    <a:lnTo>
                      <a:pt x="28" y="339"/>
                    </a:lnTo>
                    <a:lnTo>
                      <a:pt x="22" y="372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0" name="Freeform 5">
                <a:extLst>
                  <a:ext uri="{FF2B5EF4-FFF2-40B4-BE49-F238E27FC236}">
                    <a16:creationId xmlns:a16="http://schemas.microsoft.com/office/drawing/2014/main" id="{0117A797-A101-46A5-B237-277E89991A8B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auto">
              <a:xfrm rot="12185230" flipV="1">
                <a:off x="4028" y="1801"/>
                <a:ext cx="571" cy="531"/>
              </a:xfrm>
              <a:custGeom>
                <a:avLst/>
                <a:gdLst>
                  <a:gd name="T0" fmla="*/ 0 w 257"/>
                  <a:gd name="T1" fmla="*/ 0 h 237"/>
                  <a:gd name="T2" fmla="*/ 0 w 257"/>
                  <a:gd name="T3" fmla="*/ 56 h 237"/>
                  <a:gd name="T4" fmla="*/ 7 w 257"/>
                  <a:gd name="T5" fmla="*/ 112 h 237"/>
                  <a:gd name="T6" fmla="*/ 13 w 257"/>
                  <a:gd name="T7" fmla="*/ 168 h 237"/>
                  <a:gd name="T8" fmla="*/ 24 w 257"/>
                  <a:gd name="T9" fmla="*/ 220 h 237"/>
                  <a:gd name="T10" fmla="*/ 40 w 257"/>
                  <a:gd name="T11" fmla="*/ 267 h 237"/>
                  <a:gd name="T12" fmla="*/ 60 w 257"/>
                  <a:gd name="T13" fmla="*/ 316 h 237"/>
                  <a:gd name="T14" fmla="*/ 84 w 257"/>
                  <a:gd name="T15" fmla="*/ 361 h 237"/>
                  <a:gd name="T16" fmla="*/ 113 w 257"/>
                  <a:gd name="T17" fmla="*/ 399 h 237"/>
                  <a:gd name="T18" fmla="*/ 149 w 257"/>
                  <a:gd name="T19" fmla="*/ 435 h 237"/>
                  <a:gd name="T20" fmla="*/ 191 w 257"/>
                  <a:gd name="T21" fmla="*/ 466 h 237"/>
                  <a:gd name="T22" fmla="*/ 236 w 257"/>
                  <a:gd name="T23" fmla="*/ 491 h 237"/>
                  <a:gd name="T24" fmla="*/ 291 w 257"/>
                  <a:gd name="T25" fmla="*/ 511 h 237"/>
                  <a:gd name="T26" fmla="*/ 351 w 257"/>
                  <a:gd name="T27" fmla="*/ 524 h 237"/>
                  <a:gd name="T28" fmla="*/ 418 w 257"/>
                  <a:gd name="T29" fmla="*/ 531 h 237"/>
                  <a:gd name="T30" fmla="*/ 489 w 257"/>
                  <a:gd name="T31" fmla="*/ 529 h 237"/>
                  <a:gd name="T32" fmla="*/ 571 w 257"/>
                  <a:gd name="T33" fmla="*/ 520 h 237"/>
                  <a:gd name="T34" fmla="*/ 498 w 257"/>
                  <a:gd name="T35" fmla="*/ 509 h 237"/>
                  <a:gd name="T36" fmla="*/ 433 w 257"/>
                  <a:gd name="T37" fmla="*/ 493 h 237"/>
                  <a:gd name="T38" fmla="*/ 378 w 257"/>
                  <a:gd name="T39" fmla="*/ 475 h 237"/>
                  <a:gd name="T40" fmla="*/ 329 w 257"/>
                  <a:gd name="T41" fmla="*/ 457 h 237"/>
                  <a:gd name="T42" fmla="*/ 284 w 257"/>
                  <a:gd name="T43" fmla="*/ 432 h 237"/>
                  <a:gd name="T44" fmla="*/ 249 w 257"/>
                  <a:gd name="T45" fmla="*/ 408 h 237"/>
                  <a:gd name="T46" fmla="*/ 216 w 257"/>
                  <a:gd name="T47" fmla="*/ 379 h 237"/>
                  <a:gd name="T48" fmla="*/ 187 w 257"/>
                  <a:gd name="T49" fmla="*/ 347 h 237"/>
                  <a:gd name="T50" fmla="*/ 160 w 257"/>
                  <a:gd name="T51" fmla="*/ 316 h 237"/>
                  <a:gd name="T52" fmla="*/ 136 w 257"/>
                  <a:gd name="T53" fmla="*/ 280 h 237"/>
                  <a:gd name="T54" fmla="*/ 116 w 257"/>
                  <a:gd name="T55" fmla="*/ 240 h 237"/>
                  <a:gd name="T56" fmla="*/ 96 w 257"/>
                  <a:gd name="T57" fmla="*/ 197 h 237"/>
                  <a:gd name="T58" fmla="*/ 73 w 257"/>
                  <a:gd name="T59" fmla="*/ 155 h 237"/>
                  <a:gd name="T60" fmla="*/ 51 w 257"/>
                  <a:gd name="T61" fmla="*/ 105 h 237"/>
                  <a:gd name="T62" fmla="*/ 27 w 257"/>
                  <a:gd name="T63" fmla="*/ 54 h 237"/>
                  <a:gd name="T64" fmla="*/ 0 w 257"/>
                  <a:gd name="T65" fmla="*/ 0 h 237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</a:gdLst>
                <a:ahLst/>
                <a:cxnLst>
                  <a:cxn ang="T66">
                    <a:pos x="T0" y="T1"/>
                  </a:cxn>
                  <a:cxn ang="T67">
                    <a:pos x="T2" y="T3"/>
                  </a:cxn>
                  <a:cxn ang="T68">
                    <a:pos x="T4" y="T5"/>
                  </a:cxn>
                  <a:cxn ang="T69">
                    <a:pos x="T6" y="T7"/>
                  </a:cxn>
                  <a:cxn ang="T70">
                    <a:pos x="T8" y="T9"/>
                  </a:cxn>
                  <a:cxn ang="T71">
                    <a:pos x="T10" y="T11"/>
                  </a:cxn>
                  <a:cxn ang="T72">
                    <a:pos x="T12" y="T13"/>
                  </a:cxn>
                  <a:cxn ang="T73">
                    <a:pos x="T14" y="T15"/>
                  </a:cxn>
                  <a:cxn ang="T74">
                    <a:pos x="T16" y="T17"/>
                  </a:cxn>
                  <a:cxn ang="T75">
                    <a:pos x="T18" y="T19"/>
                  </a:cxn>
                  <a:cxn ang="T76">
                    <a:pos x="T20" y="T21"/>
                  </a:cxn>
                  <a:cxn ang="T77">
                    <a:pos x="T22" y="T23"/>
                  </a:cxn>
                  <a:cxn ang="T78">
                    <a:pos x="T24" y="T25"/>
                  </a:cxn>
                  <a:cxn ang="T79">
                    <a:pos x="T26" y="T27"/>
                  </a:cxn>
                  <a:cxn ang="T80">
                    <a:pos x="T28" y="T29"/>
                  </a:cxn>
                  <a:cxn ang="T81">
                    <a:pos x="T30" y="T31"/>
                  </a:cxn>
                  <a:cxn ang="T82">
                    <a:pos x="T32" y="T33"/>
                  </a:cxn>
                  <a:cxn ang="T83">
                    <a:pos x="T34" y="T35"/>
                  </a:cxn>
                  <a:cxn ang="T84">
                    <a:pos x="T36" y="T37"/>
                  </a:cxn>
                  <a:cxn ang="T85">
                    <a:pos x="T38" y="T39"/>
                  </a:cxn>
                  <a:cxn ang="T86">
                    <a:pos x="T40" y="T41"/>
                  </a:cxn>
                  <a:cxn ang="T87">
                    <a:pos x="T42" y="T43"/>
                  </a:cxn>
                  <a:cxn ang="T88">
                    <a:pos x="T44" y="T45"/>
                  </a:cxn>
                  <a:cxn ang="T89">
                    <a:pos x="T46" y="T47"/>
                  </a:cxn>
                  <a:cxn ang="T90">
                    <a:pos x="T48" y="T49"/>
                  </a:cxn>
                  <a:cxn ang="T91">
                    <a:pos x="T50" y="T51"/>
                  </a:cxn>
                  <a:cxn ang="T92">
                    <a:pos x="T52" y="T53"/>
                  </a:cxn>
                  <a:cxn ang="T93">
                    <a:pos x="T54" y="T55"/>
                  </a:cxn>
                  <a:cxn ang="T94">
                    <a:pos x="T56" y="T57"/>
                  </a:cxn>
                  <a:cxn ang="T95">
                    <a:pos x="T58" y="T59"/>
                  </a:cxn>
                  <a:cxn ang="T96">
                    <a:pos x="T60" y="T61"/>
                  </a:cxn>
                  <a:cxn ang="T97">
                    <a:pos x="T62" y="T63"/>
                  </a:cxn>
                  <a:cxn ang="T98">
                    <a:pos x="T64" y="T65"/>
                  </a:cxn>
                </a:cxnLst>
                <a:rect l="0" t="0" r="r" b="b"/>
                <a:pathLst>
                  <a:path w="257" h="237">
                    <a:moveTo>
                      <a:pt x="0" y="0"/>
                    </a:moveTo>
                    <a:lnTo>
                      <a:pt x="0" y="25"/>
                    </a:lnTo>
                    <a:lnTo>
                      <a:pt x="3" y="50"/>
                    </a:lnTo>
                    <a:lnTo>
                      <a:pt x="6" y="75"/>
                    </a:lnTo>
                    <a:lnTo>
                      <a:pt x="11" y="98"/>
                    </a:lnTo>
                    <a:lnTo>
                      <a:pt x="18" y="119"/>
                    </a:lnTo>
                    <a:lnTo>
                      <a:pt x="27" y="141"/>
                    </a:lnTo>
                    <a:lnTo>
                      <a:pt x="38" y="161"/>
                    </a:lnTo>
                    <a:lnTo>
                      <a:pt x="51" y="178"/>
                    </a:lnTo>
                    <a:lnTo>
                      <a:pt x="67" y="194"/>
                    </a:lnTo>
                    <a:lnTo>
                      <a:pt x="86" y="208"/>
                    </a:lnTo>
                    <a:lnTo>
                      <a:pt x="106" y="219"/>
                    </a:lnTo>
                    <a:lnTo>
                      <a:pt x="131" y="228"/>
                    </a:lnTo>
                    <a:lnTo>
                      <a:pt x="158" y="234"/>
                    </a:lnTo>
                    <a:lnTo>
                      <a:pt x="188" y="237"/>
                    </a:lnTo>
                    <a:lnTo>
                      <a:pt x="220" y="236"/>
                    </a:lnTo>
                    <a:lnTo>
                      <a:pt x="257" y="232"/>
                    </a:lnTo>
                    <a:lnTo>
                      <a:pt x="224" y="227"/>
                    </a:lnTo>
                    <a:lnTo>
                      <a:pt x="195" y="220"/>
                    </a:lnTo>
                    <a:lnTo>
                      <a:pt x="170" y="212"/>
                    </a:lnTo>
                    <a:lnTo>
                      <a:pt x="148" y="204"/>
                    </a:lnTo>
                    <a:lnTo>
                      <a:pt x="128" y="193"/>
                    </a:lnTo>
                    <a:lnTo>
                      <a:pt x="112" y="182"/>
                    </a:lnTo>
                    <a:lnTo>
                      <a:pt x="97" y="169"/>
                    </a:lnTo>
                    <a:lnTo>
                      <a:pt x="84" y="155"/>
                    </a:lnTo>
                    <a:lnTo>
                      <a:pt x="72" y="141"/>
                    </a:lnTo>
                    <a:lnTo>
                      <a:pt x="61" y="125"/>
                    </a:lnTo>
                    <a:lnTo>
                      <a:pt x="52" y="107"/>
                    </a:lnTo>
                    <a:lnTo>
                      <a:pt x="43" y="88"/>
                    </a:lnTo>
                    <a:lnTo>
                      <a:pt x="33" y="69"/>
                    </a:lnTo>
                    <a:lnTo>
                      <a:pt x="23" y="47"/>
                    </a:lnTo>
                    <a:lnTo>
                      <a:pt x="12" y="24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1" name="Freeform 6">
                <a:extLst>
                  <a:ext uri="{FF2B5EF4-FFF2-40B4-BE49-F238E27FC236}">
                    <a16:creationId xmlns:a16="http://schemas.microsoft.com/office/drawing/2014/main" id="{C1CB293C-575A-4924-BC29-1E197D265BB5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auto">
              <a:xfrm rot="12185230" flipV="1">
                <a:off x="3638" y="2166"/>
                <a:ext cx="277" cy="249"/>
              </a:xfrm>
              <a:custGeom>
                <a:avLst/>
                <a:gdLst>
                  <a:gd name="T0" fmla="*/ 172 w 124"/>
                  <a:gd name="T1" fmla="*/ 0 h 110"/>
                  <a:gd name="T2" fmla="*/ 277 w 124"/>
                  <a:gd name="T3" fmla="*/ 244 h 110"/>
                  <a:gd name="T4" fmla="*/ 268 w 124"/>
                  <a:gd name="T5" fmla="*/ 242 h 110"/>
                  <a:gd name="T6" fmla="*/ 239 w 124"/>
                  <a:gd name="T7" fmla="*/ 238 h 110"/>
                  <a:gd name="T8" fmla="*/ 199 w 124"/>
                  <a:gd name="T9" fmla="*/ 229 h 110"/>
                  <a:gd name="T10" fmla="*/ 152 w 124"/>
                  <a:gd name="T11" fmla="*/ 224 h 110"/>
                  <a:gd name="T12" fmla="*/ 101 w 124"/>
                  <a:gd name="T13" fmla="*/ 220 h 110"/>
                  <a:gd name="T14" fmla="*/ 56 w 124"/>
                  <a:gd name="T15" fmla="*/ 222 h 110"/>
                  <a:gd name="T16" fmla="*/ 20 w 124"/>
                  <a:gd name="T17" fmla="*/ 231 h 110"/>
                  <a:gd name="T18" fmla="*/ 0 w 124"/>
                  <a:gd name="T19" fmla="*/ 249 h 110"/>
                  <a:gd name="T20" fmla="*/ 9 w 124"/>
                  <a:gd name="T21" fmla="*/ 222 h 110"/>
                  <a:gd name="T22" fmla="*/ 18 w 124"/>
                  <a:gd name="T23" fmla="*/ 201 h 110"/>
                  <a:gd name="T24" fmla="*/ 36 w 124"/>
                  <a:gd name="T25" fmla="*/ 186 h 110"/>
                  <a:gd name="T26" fmla="*/ 56 w 124"/>
                  <a:gd name="T27" fmla="*/ 172 h 110"/>
                  <a:gd name="T28" fmla="*/ 80 w 124"/>
                  <a:gd name="T29" fmla="*/ 163 h 110"/>
                  <a:gd name="T30" fmla="*/ 105 w 124"/>
                  <a:gd name="T31" fmla="*/ 161 h 110"/>
                  <a:gd name="T32" fmla="*/ 132 w 124"/>
                  <a:gd name="T33" fmla="*/ 161 h 110"/>
                  <a:gd name="T34" fmla="*/ 161 w 124"/>
                  <a:gd name="T35" fmla="*/ 168 h 110"/>
                  <a:gd name="T36" fmla="*/ 163 w 124"/>
                  <a:gd name="T37" fmla="*/ 161 h 110"/>
                  <a:gd name="T38" fmla="*/ 156 w 124"/>
                  <a:gd name="T39" fmla="*/ 127 h 110"/>
                  <a:gd name="T40" fmla="*/ 150 w 124"/>
                  <a:gd name="T41" fmla="*/ 86 h 110"/>
                  <a:gd name="T42" fmla="*/ 145 w 124"/>
                  <a:gd name="T43" fmla="*/ 68 h 110"/>
                  <a:gd name="T44" fmla="*/ 141 w 124"/>
                  <a:gd name="T45" fmla="*/ 68 h 110"/>
                  <a:gd name="T46" fmla="*/ 136 w 124"/>
                  <a:gd name="T47" fmla="*/ 66 h 110"/>
                  <a:gd name="T48" fmla="*/ 132 w 124"/>
                  <a:gd name="T49" fmla="*/ 59 h 110"/>
                  <a:gd name="T50" fmla="*/ 127 w 124"/>
                  <a:gd name="T51" fmla="*/ 52 h 110"/>
                  <a:gd name="T52" fmla="*/ 127 w 124"/>
                  <a:gd name="T53" fmla="*/ 43 h 110"/>
                  <a:gd name="T54" fmla="*/ 132 w 124"/>
                  <a:gd name="T55" fmla="*/ 32 h 110"/>
                  <a:gd name="T56" fmla="*/ 147 w 124"/>
                  <a:gd name="T57" fmla="*/ 18 h 110"/>
                  <a:gd name="T58" fmla="*/ 172 w 124"/>
                  <a:gd name="T59" fmla="*/ 0 h 110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</a:gdLst>
                <a:ahLst/>
                <a:cxnLst>
                  <a:cxn ang="T60">
                    <a:pos x="T0" y="T1"/>
                  </a:cxn>
                  <a:cxn ang="T61">
                    <a:pos x="T2" y="T3"/>
                  </a:cxn>
                  <a:cxn ang="T62">
                    <a:pos x="T4" y="T5"/>
                  </a:cxn>
                  <a:cxn ang="T63">
                    <a:pos x="T6" y="T7"/>
                  </a:cxn>
                  <a:cxn ang="T64">
                    <a:pos x="T8" y="T9"/>
                  </a:cxn>
                  <a:cxn ang="T65">
                    <a:pos x="T10" y="T11"/>
                  </a:cxn>
                  <a:cxn ang="T66">
                    <a:pos x="T12" y="T13"/>
                  </a:cxn>
                  <a:cxn ang="T67">
                    <a:pos x="T14" y="T15"/>
                  </a:cxn>
                  <a:cxn ang="T68">
                    <a:pos x="T16" y="T17"/>
                  </a:cxn>
                  <a:cxn ang="T69">
                    <a:pos x="T18" y="T19"/>
                  </a:cxn>
                  <a:cxn ang="T70">
                    <a:pos x="T20" y="T21"/>
                  </a:cxn>
                  <a:cxn ang="T71">
                    <a:pos x="T22" y="T23"/>
                  </a:cxn>
                  <a:cxn ang="T72">
                    <a:pos x="T24" y="T25"/>
                  </a:cxn>
                  <a:cxn ang="T73">
                    <a:pos x="T26" y="T27"/>
                  </a:cxn>
                  <a:cxn ang="T74">
                    <a:pos x="T28" y="T29"/>
                  </a:cxn>
                  <a:cxn ang="T75">
                    <a:pos x="T30" y="T31"/>
                  </a:cxn>
                  <a:cxn ang="T76">
                    <a:pos x="T32" y="T33"/>
                  </a:cxn>
                  <a:cxn ang="T77">
                    <a:pos x="T34" y="T35"/>
                  </a:cxn>
                  <a:cxn ang="T78">
                    <a:pos x="T36" y="T37"/>
                  </a:cxn>
                  <a:cxn ang="T79">
                    <a:pos x="T38" y="T39"/>
                  </a:cxn>
                  <a:cxn ang="T80">
                    <a:pos x="T40" y="T41"/>
                  </a:cxn>
                  <a:cxn ang="T81">
                    <a:pos x="T42" y="T43"/>
                  </a:cxn>
                  <a:cxn ang="T82">
                    <a:pos x="T44" y="T45"/>
                  </a:cxn>
                  <a:cxn ang="T83">
                    <a:pos x="T46" y="T47"/>
                  </a:cxn>
                  <a:cxn ang="T84">
                    <a:pos x="T48" y="T49"/>
                  </a:cxn>
                  <a:cxn ang="T85">
                    <a:pos x="T50" y="T51"/>
                  </a:cxn>
                  <a:cxn ang="T86">
                    <a:pos x="T52" y="T53"/>
                  </a:cxn>
                  <a:cxn ang="T87">
                    <a:pos x="T54" y="T55"/>
                  </a:cxn>
                  <a:cxn ang="T88">
                    <a:pos x="T56" y="T57"/>
                  </a:cxn>
                  <a:cxn ang="T89">
                    <a:pos x="T58" y="T59"/>
                  </a:cxn>
                </a:cxnLst>
                <a:rect l="0" t="0" r="r" b="b"/>
                <a:pathLst>
                  <a:path w="124" h="110">
                    <a:moveTo>
                      <a:pt x="77" y="0"/>
                    </a:moveTo>
                    <a:lnTo>
                      <a:pt x="124" y="108"/>
                    </a:lnTo>
                    <a:lnTo>
                      <a:pt x="120" y="107"/>
                    </a:lnTo>
                    <a:lnTo>
                      <a:pt x="107" y="105"/>
                    </a:lnTo>
                    <a:lnTo>
                      <a:pt x="89" y="101"/>
                    </a:lnTo>
                    <a:lnTo>
                      <a:pt x="68" y="99"/>
                    </a:lnTo>
                    <a:lnTo>
                      <a:pt x="45" y="97"/>
                    </a:lnTo>
                    <a:lnTo>
                      <a:pt x="25" y="98"/>
                    </a:lnTo>
                    <a:lnTo>
                      <a:pt x="9" y="102"/>
                    </a:lnTo>
                    <a:lnTo>
                      <a:pt x="0" y="110"/>
                    </a:lnTo>
                    <a:lnTo>
                      <a:pt x="4" y="98"/>
                    </a:lnTo>
                    <a:lnTo>
                      <a:pt x="8" y="89"/>
                    </a:lnTo>
                    <a:lnTo>
                      <a:pt x="16" y="82"/>
                    </a:lnTo>
                    <a:lnTo>
                      <a:pt x="25" y="76"/>
                    </a:lnTo>
                    <a:lnTo>
                      <a:pt x="36" y="72"/>
                    </a:lnTo>
                    <a:lnTo>
                      <a:pt x="47" y="71"/>
                    </a:lnTo>
                    <a:lnTo>
                      <a:pt x="59" y="71"/>
                    </a:lnTo>
                    <a:lnTo>
                      <a:pt x="72" y="74"/>
                    </a:lnTo>
                    <a:lnTo>
                      <a:pt x="73" y="71"/>
                    </a:lnTo>
                    <a:lnTo>
                      <a:pt x="70" y="56"/>
                    </a:lnTo>
                    <a:lnTo>
                      <a:pt x="67" y="38"/>
                    </a:lnTo>
                    <a:lnTo>
                      <a:pt x="65" y="30"/>
                    </a:lnTo>
                    <a:lnTo>
                      <a:pt x="63" y="30"/>
                    </a:lnTo>
                    <a:lnTo>
                      <a:pt x="61" y="29"/>
                    </a:lnTo>
                    <a:lnTo>
                      <a:pt x="59" y="26"/>
                    </a:lnTo>
                    <a:lnTo>
                      <a:pt x="57" y="23"/>
                    </a:lnTo>
                    <a:lnTo>
                      <a:pt x="57" y="19"/>
                    </a:lnTo>
                    <a:lnTo>
                      <a:pt x="59" y="14"/>
                    </a:lnTo>
                    <a:lnTo>
                      <a:pt x="66" y="8"/>
                    </a:lnTo>
                    <a:lnTo>
                      <a:pt x="77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2" name="Freeform 7">
                <a:extLst>
                  <a:ext uri="{FF2B5EF4-FFF2-40B4-BE49-F238E27FC236}">
                    <a16:creationId xmlns:a16="http://schemas.microsoft.com/office/drawing/2014/main" id="{A4BDA8FD-1B9E-47BF-B4DE-3F8AE6BA35AC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auto">
              <a:xfrm rot="12185230" flipV="1">
                <a:off x="3978" y="976"/>
                <a:ext cx="245" cy="347"/>
              </a:xfrm>
              <a:custGeom>
                <a:avLst/>
                <a:gdLst>
                  <a:gd name="T0" fmla="*/ 0 w 109"/>
                  <a:gd name="T1" fmla="*/ 0 h 156"/>
                  <a:gd name="T2" fmla="*/ 11 w 109"/>
                  <a:gd name="T3" fmla="*/ 2 h 156"/>
                  <a:gd name="T4" fmla="*/ 40 w 109"/>
                  <a:gd name="T5" fmla="*/ 11 h 156"/>
                  <a:gd name="T6" fmla="*/ 83 w 109"/>
                  <a:gd name="T7" fmla="*/ 27 h 156"/>
                  <a:gd name="T8" fmla="*/ 130 w 109"/>
                  <a:gd name="T9" fmla="*/ 53 h 156"/>
                  <a:gd name="T10" fmla="*/ 175 w 109"/>
                  <a:gd name="T11" fmla="*/ 98 h 156"/>
                  <a:gd name="T12" fmla="*/ 216 w 109"/>
                  <a:gd name="T13" fmla="*/ 158 h 156"/>
                  <a:gd name="T14" fmla="*/ 241 w 109"/>
                  <a:gd name="T15" fmla="*/ 240 h 156"/>
                  <a:gd name="T16" fmla="*/ 245 w 109"/>
                  <a:gd name="T17" fmla="*/ 347 h 156"/>
                  <a:gd name="T18" fmla="*/ 236 w 109"/>
                  <a:gd name="T19" fmla="*/ 347 h 156"/>
                  <a:gd name="T20" fmla="*/ 223 w 109"/>
                  <a:gd name="T21" fmla="*/ 347 h 156"/>
                  <a:gd name="T22" fmla="*/ 209 w 109"/>
                  <a:gd name="T23" fmla="*/ 347 h 156"/>
                  <a:gd name="T24" fmla="*/ 196 w 109"/>
                  <a:gd name="T25" fmla="*/ 343 h 156"/>
                  <a:gd name="T26" fmla="*/ 182 w 109"/>
                  <a:gd name="T27" fmla="*/ 340 h 156"/>
                  <a:gd name="T28" fmla="*/ 166 w 109"/>
                  <a:gd name="T29" fmla="*/ 334 h 156"/>
                  <a:gd name="T30" fmla="*/ 148 w 109"/>
                  <a:gd name="T31" fmla="*/ 323 h 156"/>
                  <a:gd name="T32" fmla="*/ 130 w 109"/>
                  <a:gd name="T33" fmla="*/ 309 h 156"/>
                  <a:gd name="T34" fmla="*/ 119 w 109"/>
                  <a:gd name="T35" fmla="*/ 280 h 156"/>
                  <a:gd name="T36" fmla="*/ 119 w 109"/>
                  <a:gd name="T37" fmla="*/ 247 h 156"/>
                  <a:gd name="T38" fmla="*/ 126 w 109"/>
                  <a:gd name="T39" fmla="*/ 214 h 156"/>
                  <a:gd name="T40" fmla="*/ 133 w 109"/>
                  <a:gd name="T41" fmla="*/ 178 h 156"/>
                  <a:gd name="T42" fmla="*/ 126 w 109"/>
                  <a:gd name="T43" fmla="*/ 138 h 156"/>
                  <a:gd name="T44" fmla="*/ 108 w 109"/>
                  <a:gd name="T45" fmla="*/ 96 h 156"/>
                  <a:gd name="T46" fmla="*/ 70 w 109"/>
                  <a:gd name="T47" fmla="*/ 51 h 156"/>
                  <a:gd name="T48" fmla="*/ 0 w 109"/>
                  <a:gd name="T49" fmla="*/ 0 h 15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</a:gdLst>
                <a:ahLst/>
                <a:cxnLst>
                  <a:cxn ang="T50">
                    <a:pos x="T0" y="T1"/>
                  </a:cxn>
                  <a:cxn ang="T51">
                    <a:pos x="T2" y="T3"/>
                  </a:cxn>
                  <a:cxn ang="T52">
                    <a:pos x="T4" y="T5"/>
                  </a:cxn>
                  <a:cxn ang="T53">
                    <a:pos x="T6" y="T7"/>
                  </a:cxn>
                  <a:cxn ang="T54">
                    <a:pos x="T8" y="T9"/>
                  </a:cxn>
                  <a:cxn ang="T55">
                    <a:pos x="T10" y="T11"/>
                  </a:cxn>
                  <a:cxn ang="T56">
                    <a:pos x="T12" y="T13"/>
                  </a:cxn>
                  <a:cxn ang="T57">
                    <a:pos x="T14" y="T15"/>
                  </a:cxn>
                  <a:cxn ang="T58">
                    <a:pos x="T16" y="T17"/>
                  </a:cxn>
                  <a:cxn ang="T59">
                    <a:pos x="T18" y="T19"/>
                  </a:cxn>
                  <a:cxn ang="T60">
                    <a:pos x="T20" y="T21"/>
                  </a:cxn>
                  <a:cxn ang="T61">
                    <a:pos x="T22" y="T23"/>
                  </a:cxn>
                  <a:cxn ang="T62">
                    <a:pos x="T24" y="T25"/>
                  </a:cxn>
                  <a:cxn ang="T63">
                    <a:pos x="T26" y="T27"/>
                  </a:cxn>
                  <a:cxn ang="T64">
                    <a:pos x="T28" y="T29"/>
                  </a:cxn>
                  <a:cxn ang="T65">
                    <a:pos x="T30" y="T31"/>
                  </a:cxn>
                  <a:cxn ang="T66">
                    <a:pos x="T32" y="T33"/>
                  </a:cxn>
                  <a:cxn ang="T67">
                    <a:pos x="T34" y="T35"/>
                  </a:cxn>
                  <a:cxn ang="T68">
                    <a:pos x="T36" y="T37"/>
                  </a:cxn>
                  <a:cxn ang="T69">
                    <a:pos x="T38" y="T39"/>
                  </a:cxn>
                  <a:cxn ang="T70">
                    <a:pos x="T40" y="T41"/>
                  </a:cxn>
                  <a:cxn ang="T71">
                    <a:pos x="T42" y="T43"/>
                  </a:cxn>
                  <a:cxn ang="T72">
                    <a:pos x="T44" y="T45"/>
                  </a:cxn>
                  <a:cxn ang="T73">
                    <a:pos x="T46" y="T47"/>
                  </a:cxn>
                  <a:cxn ang="T74">
                    <a:pos x="T48" y="T49"/>
                  </a:cxn>
                </a:cxnLst>
                <a:rect l="0" t="0" r="r" b="b"/>
                <a:pathLst>
                  <a:path w="109" h="156">
                    <a:moveTo>
                      <a:pt x="0" y="0"/>
                    </a:moveTo>
                    <a:lnTo>
                      <a:pt x="5" y="1"/>
                    </a:lnTo>
                    <a:lnTo>
                      <a:pt x="18" y="5"/>
                    </a:lnTo>
                    <a:lnTo>
                      <a:pt x="37" y="12"/>
                    </a:lnTo>
                    <a:lnTo>
                      <a:pt x="58" y="24"/>
                    </a:lnTo>
                    <a:lnTo>
                      <a:pt x="78" y="44"/>
                    </a:lnTo>
                    <a:lnTo>
                      <a:pt x="96" y="71"/>
                    </a:lnTo>
                    <a:lnTo>
                      <a:pt x="107" y="108"/>
                    </a:lnTo>
                    <a:lnTo>
                      <a:pt x="109" y="156"/>
                    </a:lnTo>
                    <a:lnTo>
                      <a:pt x="105" y="156"/>
                    </a:lnTo>
                    <a:lnTo>
                      <a:pt x="99" y="156"/>
                    </a:lnTo>
                    <a:lnTo>
                      <a:pt x="93" y="156"/>
                    </a:lnTo>
                    <a:lnTo>
                      <a:pt x="87" y="154"/>
                    </a:lnTo>
                    <a:lnTo>
                      <a:pt x="81" y="153"/>
                    </a:lnTo>
                    <a:lnTo>
                      <a:pt x="74" y="150"/>
                    </a:lnTo>
                    <a:lnTo>
                      <a:pt x="66" y="145"/>
                    </a:lnTo>
                    <a:lnTo>
                      <a:pt x="58" y="139"/>
                    </a:lnTo>
                    <a:lnTo>
                      <a:pt x="53" y="126"/>
                    </a:lnTo>
                    <a:lnTo>
                      <a:pt x="53" y="111"/>
                    </a:lnTo>
                    <a:lnTo>
                      <a:pt x="56" y="96"/>
                    </a:lnTo>
                    <a:lnTo>
                      <a:pt x="59" y="80"/>
                    </a:lnTo>
                    <a:lnTo>
                      <a:pt x="56" y="62"/>
                    </a:lnTo>
                    <a:lnTo>
                      <a:pt x="48" y="43"/>
                    </a:lnTo>
                    <a:lnTo>
                      <a:pt x="31" y="23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3" name="Freeform 8">
                <a:extLst>
                  <a:ext uri="{FF2B5EF4-FFF2-40B4-BE49-F238E27FC236}">
                    <a16:creationId xmlns:a16="http://schemas.microsoft.com/office/drawing/2014/main" id="{AEF5C899-9783-4E24-9D73-4223D398AF59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auto">
              <a:xfrm rot="12185230" flipV="1">
                <a:off x="3844" y="2207"/>
                <a:ext cx="103" cy="209"/>
              </a:xfrm>
              <a:custGeom>
                <a:avLst/>
                <a:gdLst>
                  <a:gd name="T0" fmla="*/ 69 w 46"/>
                  <a:gd name="T1" fmla="*/ 0 h 94"/>
                  <a:gd name="T2" fmla="*/ 45 w 46"/>
                  <a:gd name="T3" fmla="*/ 84 h 94"/>
                  <a:gd name="T4" fmla="*/ 34 w 46"/>
                  <a:gd name="T5" fmla="*/ 138 h 94"/>
                  <a:gd name="T6" fmla="*/ 25 w 46"/>
                  <a:gd name="T7" fmla="*/ 176 h 94"/>
                  <a:gd name="T8" fmla="*/ 0 w 46"/>
                  <a:gd name="T9" fmla="*/ 209 h 94"/>
                  <a:gd name="T10" fmla="*/ 27 w 46"/>
                  <a:gd name="T11" fmla="*/ 196 h 94"/>
                  <a:gd name="T12" fmla="*/ 52 w 46"/>
                  <a:gd name="T13" fmla="*/ 178 h 94"/>
                  <a:gd name="T14" fmla="*/ 72 w 46"/>
                  <a:gd name="T15" fmla="*/ 153 h 94"/>
                  <a:gd name="T16" fmla="*/ 90 w 46"/>
                  <a:gd name="T17" fmla="*/ 127 h 94"/>
                  <a:gd name="T18" fmla="*/ 101 w 46"/>
                  <a:gd name="T19" fmla="*/ 98 h 94"/>
                  <a:gd name="T20" fmla="*/ 103 w 46"/>
                  <a:gd name="T21" fmla="*/ 67 h 94"/>
                  <a:gd name="T22" fmla="*/ 94 w 46"/>
                  <a:gd name="T23" fmla="*/ 33 h 94"/>
                  <a:gd name="T24" fmla="*/ 69 w 46"/>
                  <a:gd name="T25" fmla="*/ 0 h 94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</a:gdLst>
                <a:ahLst/>
                <a:cxnLst>
                  <a:cxn ang="T26">
                    <a:pos x="T0" y="T1"/>
                  </a:cxn>
                  <a:cxn ang="T27">
                    <a:pos x="T2" y="T3"/>
                  </a:cxn>
                  <a:cxn ang="T28">
                    <a:pos x="T4" y="T5"/>
                  </a:cxn>
                  <a:cxn ang="T29">
                    <a:pos x="T6" y="T7"/>
                  </a:cxn>
                  <a:cxn ang="T30">
                    <a:pos x="T8" y="T9"/>
                  </a:cxn>
                  <a:cxn ang="T31">
                    <a:pos x="T10" y="T11"/>
                  </a:cxn>
                  <a:cxn ang="T32">
                    <a:pos x="T12" y="T13"/>
                  </a:cxn>
                  <a:cxn ang="T33">
                    <a:pos x="T14" y="T15"/>
                  </a:cxn>
                  <a:cxn ang="T34">
                    <a:pos x="T16" y="T17"/>
                  </a:cxn>
                  <a:cxn ang="T35">
                    <a:pos x="T18" y="T19"/>
                  </a:cxn>
                  <a:cxn ang="T36">
                    <a:pos x="T20" y="T21"/>
                  </a:cxn>
                  <a:cxn ang="T37">
                    <a:pos x="T22" y="T23"/>
                  </a:cxn>
                  <a:cxn ang="T38">
                    <a:pos x="T24" y="T25"/>
                  </a:cxn>
                </a:cxnLst>
                <a:rect l="0" t="0" r="r" b="b"/>
                <a:pathLst>
                  <a:path w="46" h="94">
                    <a:moveTo>
                      <a:pt x="31" y="0"/>
                    </a:moveTo>
                    <a:lnTo>
                      <a:pt x="20" y="38"/>
                    </a:lnTo>
                    <a:lnTo>
                      <a:pt x="15" y="62"/>
                    </a:lnTo>
                    <a:lnTo>
                      <a:pt x="11" y="79"/>
                    </a:lnTo>
                    <a:lnTo>
                      <a:pt x="0" y="94"/>
                    </a:lnTo>
                    <a:lnTo>
                      <a:pt x="12" y="88"/>
                    </a:lnTo>
                    <a:lnTo>
                      <a:pt x="23" y="80"/>
                    </a:lnTo>
                    <a:lnTo>
                      <a:pt x="32" y="69"/>
                    </a:lnTo>
                    <a:lnTo>
                      <a:pt x="40" y="57"/>
                    </a:lnTo>
                    <a:lnTo>
                      <a:pt x="45" y="44"/>
                    </a:lnTo>
                    <a:lnTo>
                      <a:pt x="46" y="30"/>
                    </a:lnTo>
                    <a:lnTo>
                      <a:pt x="42" y="15"/>
                    </a:lnTo>
                    <a:lnTo>
                      <a:pt x="31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4" name="Freeform 9">
                <a:extLst>
                  <a:ext uri="{FF2B5EF4-FFF2-40B4-BE49-F238E27FC236}">
                    <a16:creationId xmlns:a16="http://schemas.microsoft.com/office/drawing/2014/main" id="{5864C262-7FE5-424D-9796-4C0EA105A1CC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auto">
              <a:xfrm rot="12185230" flipV="1">
                <a:off x="3894" y="1325"/>
                <a:ext cx="120" cy="90"/>
              </a:xfrm>
              <a:custGeom>
                <a:avLst/>
                <a:gdLst>
                  <a:gd name="T0" fmla="*/ 0 w 54"/>
                  <a:gd name="T1" fmla="*/ 0 h 40"/>
                  <a:gd name="T2" fmla="*/ 2 w 54"/>
                  <a:gd name="T3" fmla="*/ 2 h 40"/>
                  <a:gd name="T4" fmla="*/ 13 w 54"/>
                  <a:gd name="T5" fmla="*/ 7 h 40"/>
                  <a:gd name="T6" fmla="*/ 29 w 54"/>
                  <a:gd name="T7" fmla="*/ 18 h 40"/>
                  <a:gd name="T8" fmla="*/ 47 w 54"/>
                  <a:gd name="T9" fmla="*/ 27 h 40"/>
                  <a:gd name="T10" fmla="*/ 64 w 54"/>
                  <a:gd name="T11" fmla="*/ 34 h 40"/>
                  <a:gd name="T12" fmla="*/ 84 w 54"/>
                  <a:gd name="T13" fmla="*/ 38 h 40"/>
                  <a:gd name="T14" fmla="*/ 102 w 54"/>
                  <a:gd name="T15" fmla="*/ 41 h 40"/>
                  <a:gd name="T16" fmla="*/ 120 w 54"/>
                  <a:gd name="T17" fmla="*/ 36 h 40"/>
                  <a:gd name="T18" fmla="*/ 118 w 54"/>
                  <a:gd name="T19" fmla="*/ 56 h 40"/>
                  <a:gd name="T20" fmla="*/ 111 w 54"/>
                  <a:gd name="T21" fmla="*/ 74 h 40"/>
                  <a:gd name="T22" fmla="*/ 98 w 54"/>
                  <a:gd name="T23" fmla="*/ 86 h 40"/>
                  <a:gd name="T24" fmla="*/ 82 w 54"/>
                  <a:gd name="T25" fmla="*/ 90 h 40"/>
                  <a:gd name="T26" fmla="*/ 62 w 54"/>
                  <a:gd name="T27" fmla="*/ 88 h 40"/>
                  <a:gd name="T28" fmla="*/ 42 w 54"/>
                  <a:gd name="T29" fmla="*/ 72 h 40"/>
                  <a:gd name="T30" fmla="*/ 22 w 54"/>
                  <a:gd name="T31" fmla="*/ 45 h 40"/>
                  <a:gd name="T32" fmla="*/ 0 w 54"/>
                  <a:gd name="T33" fmla="*/ 0 h 40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</a:gdLst>
                <a:ahLst/>
                <a:cxnLst>
                  <a:cxn ang="T34">
                    <a:pos x="T0" y="T1"/>
                  </a:cxn>
                  <a:cxn ang="T35">
                    <a:pos x="T2" y="T3"/>
                  </a:cxn>
                  <a:cxn ang="T36">
                    <a:pos x="T4" y="T5"/>
                  </a:cxn>
                  <a:cxn ang="T37">
                    <a:pos x="T6" y="T7"/>
                  </a:cxn>
                  <a:cxn ang="T38">
                    <a:pos x="T8" y="T9"/>
                  </a:cxn>
                  <a:cxn ang="T39">
                    <a:pos x="T10" y="T11"/>
                  </a:cxn>
                  <a:cxn ang="T40">
                    <a:pos x="T12" y="T13"/>
                  </a:cxn>
                  <a:cxn ang="T41">
                    <a:pos x="T14" y="T15"/>
                  </a:cxn>
                  <a:cxn ang="T42">
                    <a:pos x="T16" y="T17"/>
                  </a:cxn>
                  <a:cxn ang="T43">
                    <a:pos x="T18" y="T19"/>
                  </a:cxn>
                  <a:cxn ang="T44">
                    <a:pos x="T20" y="T21"/>
                  </a:cxn>
                  <a:cxn ang="T45">
                    <a:pos x="T22" y="T23"/>
                  </a:cxn>
                  <a:cxn ang="T46">
                    <a:pos x="T24" y="T25"/>
                  </a:cxn>
                  <a:cxn ang="T47">
                    <a:pos x="T26" y="T27"/>
                  </a:cxn>
                  <a:cxn ang="T48">
                    <a:pos x="T28" y="T29"/>
                  </a:cxn>
                  <a:cxn ang="T49">
                    <a:pos x="T30" y="T31"/>
                  </a:cxn>
                  <a:cxn ang="T50">
                    <a:pos x="T32" y="T33"/>
                  </a:cxn>
                </a:cxnLst>
                <a:rect l="0" t="0" r="r" b="b"/>
                <a:pathLst>
                  <a:path w="54" h="40">
                    <a:moveTo>
                      <a:pt x="0" y="0"/>
                    </a:moveTo>
                    <a:lnTo>
                      <a:pt x="1" y="1"/>
                    </a:lnTo>
                    <a:lnTo>
                      <a:pt x="6" y="3"/>
                    </a:lnTo>
                    <a:lnTo>
                      <a:pt x="13" y="8"/>
                    </a:lnTo>
                    <a:lnTo>
                      <a:pt x="21" y="12"/>
                    </a:lnTo>
                    <a:lnTo>
                      <a:pt x="29" y="15"/>
                    </a:lnTo>
                    <a:lnTo>
                      <a:pt x="38" y="17"/>
                    </a:lnTo>
                    <a:lnTo>
                      <a:pt x="46" y="18"/>
                    </a:lnTo>
                    <a:lnTo>
                      <a:pt x="54" y="16"/>
                    </a:lnTo>
                    <a:lnTo>
                      <a:pt x="53" y="25"/>
                    </a:lnTo>
                    <a:lnTo>
                      <a:pt x="50" y="33"/>
                    </a:lnTo>
                    <a:lnTo>
                      <a:pt x="44" y="38"/>
                    </a:lnTo>
                    <a:lnTo>
                      <a:pt x="37" y="40"/>
                    </a:lnTo>
                    <a:lnTo>
                      <a:pt x="28" y="39"/>
                    </a:lnTo>
                    <a:lnTo>
                      <a:pt x="19" y="32"/>
                    </a:lnTo>
                    <a:lnTo>
                      <a:pt x="10" y="2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5" name="Freeform 10">
                <a:extLst>
                  <a:ext uri="{FF2B5EF4-FFF2-40B4-BE49-F238E27FC236}">
                    <a16:creationId xmlns:a16="http://schemas.microsoft.com/office/drawing/2014/main" id="{356DD6C1-38E1-4A9E-AB47-A38E717621E7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auto">
              <a:xfrm rot="12185230" flipV="1">
                <a:off x="3010" y="2344"/>
                <a:ext cx="330" cy="2059"/>
              </a:xfrm>
              <a:custGeom>
                <a:avLst/>
                <a:gdLst>
                  <a:gd name="T0" fmla="*/ 0 w 149"/>
                  <a:gd name="T1" fmla="*/ 0 h 704"/>
                  <a:gd name="T2" fmla="*/ 13 w 149"/>
                  <a:gd name="T3" fmla="*/ 18 h 704"/>
                  <a:gd name="T4" fmla="*/ 35 w 149"/>
                  <a:gd name="T5" fmla="*/ 41 h 704"/>
                  <a:gd name="T6" fmla="*/ 62 w 149"/>
                  <a:gd name="T7" fmla="*/ 70 h 704"/>
                  <a:gd name="T8" fmla="*/ 91 w 149"/>
                  <a:gd name="T9" fmla="*/ 108 h 704"/>
                  <a:gd name="T10" fmla="*/ 128 w 149"/>
                  <a:gd name="T11" fmla="*/ 155 h 704"/>
                  <a:gd name="T12" fmla="*/ 162 w 149"/>
                  <a:gd name="T13" fmla="*/ 205 h 704"/>
                  <a:gd name="T14" fmla="*/ 195 w 149"/>
                  <a:gd name="T15" fmla="*/ 263 h 704"/>
                  <a:gd name="T16" fmla="*/ 221 w 149"/>
                  <a:gd name="T17" fmla="*/ 330 h 704"/>
                  <a:gd name="T18" fmla="*/ 248 w 149"/>
                  <a:gd name="T19" fmla="*/ 401 h 704"/>
                  <a:gd name="T20" fmla="*/ 266 w 149"/>
                  <a:gd name="T21" fmla="*/ 483 h 704"/>
                  <a:gd name="T22" fmla="*/ 275 w 149"/>
                  <a:gd name="T23" fmla="*/ 573 h 704"/>
                  <a:gd name="T24" fmla="*/ 279 w 149"/>
                  <a:gd name="T25" fmla="*/ 667 h 704"/>
                  <a:gd name="T26" fmla="*/ 266 w 149"/>
                  <a:gd name="T27" fmla="*/ 772 h 704"/>
                  <a:gd name="T28" fmla="*/ 241 w 149"/>
                  <a:gd name="T29" fmla="*/ 883 h 704"/>
                  <a:gd name="T30" fmla="*/ 204 w 149"/>
                  <a:gd name="T31" fmla="*/ 1000 h 704"/>
                  <a:gd name="T32" fmla="*/ 148 w 149"/>
                  <a:gd name="T33" fmla="*/ 1129 h 704"/>
                  <a:gd name="T34" fmla="*/ 86 w 149"/>
                  <a:gd name="T35" fmla="*/ 1275 h 704"/>
                  <a:gd name="T36" fmla="*/ 47 w 149"/>
                  <a:gd name="T37" fmla="*/ 1410 h 704"/>
                  <a:gd name="T38" fmla="*/ 22 w 149"/>
                  <a:gd name="T39" fmla="*/ 1535 h 704"/>
                  <a:gd name="T40" fmla="*/ 13 w 149"/>
                  <a:gd name="T41" fmla="*/ 1655 h 704"/>
                  <a:gd name="T42" fmla="*/ 13 w 149"/>
                  <a:gd name="T43" fmla="*/ 1769 h 704"/>
                  <a:gd name="T44" fmla="*/ 18 w 149"/>
                  <a:gd name="T45" fmla="*/ 1875 h 704"/>
                  <a:gd name="T46" fmla="*/ 27 w 149"/>
                  <a:gd name="T47" fmla="*/ 1968 h 704"/>
                  <a:gd name="T48" fmla="*/ 31 w 149"/>
                  <a:gd name="T49" fmla="*/ 2059 h 704"/>
                  <a:gd name="T50" fmla="*/ 91 w 149"/>
                  <a:gd name="T51" fmla="*/ 2012 h 704"/>
                  <a:gd name="T52" fmla="*/ 86 w 149"/>
                  <a:gd name="T53" fmla="*/ 1989 h 704"/>
                  <a:gd name="T54" fmla="*/ 80 w 149"/>
                  <a:gd name="T55" fmla="*/ 1922 h 704"/>
                  <a:gd name="T56" fmla="*/ 73 w 149"/>
                  <a:gd name="T57" fmla="*/ 1819 h 704"/>
                  <a:gd name="T58" fmla="*/ 78 w 149"/>
                  <a:gd name="T59" fmla="*/ 1682 h 704"/>
                  <a:gd name="T60" fmla="*/ 91 w 149"/>
                  <a:gd name="T61" fmla="*/ 1518 h 704"/>
                  <a:gd name="T62" fmla="*/ 128 w 149"/>
                  <a:gd name="T63" fmla="*/ 1331 h 704"/>
                  <a:gd name="T64" fmla="*/ 190 w 149"/>
                  <a:gd name="T65" fmla="*/ 1129 h 704"/>
                  <a:gd name="T66" fmla="*/ 286 w 149"/>
                  <a:gd name="T67" fmla="*/ 915 h 704"/>
                  <a:gd name="T68" fmla="*/ 317 w 149"/>
                  <a:gd name="T69" fmla="*/ 816 h 704"/>
                  <a:gd name="T70" fmla="*/ 330 w 149"/>
                  <a:gd name="T71" fmla="*/ 687 h 704"/>
                  <a:gd name="T72" fmla="*/ 319 w 149"/>
                  <a:gd name="T73" fmla="*/ 538 h 704"/>
                  <a:gd name="T74" fmla="*/ 290 w 149"/>
                  <a:gd name="T75" fmla="*/ 392 h 704"/>
                  <a:gd name="T76" fmla="*/ 241 w 149"/>
                  <a:gd name="T77" fmla="*/ 249 h 704"/>
                  <a:gd name="T78" fmla="*/ 179 w 149"/>
                  <a:gd name="T79" fmla="*/ 129 h 704"/>
                  <a:gd name="T80" fmla="*/ 97 w 149"/>
                  <a:gd name="T81" fmla="*/ 41 h 704"/>
                  <a:gd name="T82" fmla="*/ 0 w 149"/>
                  <a:gd name="T83" fmla="*/ 0 h 704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</a:gdLst>
                <a:ahLst/>
                <a:cxnLst>
                  <a:cxn ang="T84">
                    <a:pos x="T0" y="T1"/>
                  </a:cxn>
                  <a:cxn ang="T85">
                    <a:pos x="T2" y="T3"/>
                  </a:cxn>
                  <a:cxn ang="T86">
                    <a:pos x="T4" y="T5"/>
                  </a:cxn>
                  <a:cxn ang="T87">
                    <a:pos x="T6" y="T7"/>
                  </a:cxn>
                  <a:cxn ang="T88">
                    <a:pos x="T8" y="T9"/>
                  </a:cxn>
                  <a:cxn ang="T89">
                    <a:pos x="T10" y="T11"/>
                  </a:cxn>
                  <a:cxn ang="T90">
                    <a:pos x="T12" y="T13"/>
                  </a:cxn>
                  <a:cxn ang="T91">
                    <a:pos x="T14" y="T15"/>
                  </a:cxn>
                  <a:cxn ang="T92">
                    <a:pos x="T16" y="T17"/>
                  </a:cxn>
                  <a:cxn ang="T93">
                    <a:pos x="T18" y="T19"/>
                  </a:cxn>
                  <a:cxn ang="T94">
                    <a:pos x="T20" y="T21"/>
                  </a:cxn>
                  <a:cxn ang="T95">
                    <a:pos x="T22" y="T23"/>
                  </a:cxn>
                  <a:cxn ang="T96">
                    <a:pos x="T24" y="T25"/>
                  </a:cxn>
                  <a:cxn ang="T97">
                    <a:pos x="T26" y="T27"/>
                  </a:cxn>
                  <a:cxn ang="T98">
                    <a:pos x="T28" y="T29"/>
                  </a:cxn>
                  <a:cxn ang="T99">
                    <a:pos x="T30" y="T31"/>
                  </a:cxn>
                  <a:cxn ang="T100">
                    <a:pos x="T32" y="T33"/>
                  </a:cxn>
                  <a:cxn ang="T101">
                    <a:pos x="T34" y="T35"/>
                  </a:cxn>
                  <a:cxn ang="T102">
                    <a:pos x="T36" y="T37"/>
                  </a:cxn>
                  <a:cxn ang="T103">
                    <a:pos x="T38" y="T39"/>
                  </a:cxn>
                  <a:cxn ang="T104">
                    <a:pos x="T40" y="T41"/>
                  </a:cxn>
                  <a:cxn ang="T105">
                    <a:pos x="T42" y="T43"/>
                  </a:cxn>
                  <a:cxn ang="T106">
                    <a:pos x="T44" y="T45"/>
                  </a:cxn>
                  <a:cxn ang="T107">
                    <a:pos x="T46" y="T47"/>
                  </a:cxn>
                  <a:cxn ang="T108">
                    <a:pos x="T48" y="T49"/>
                  </a:cxn>
                  <a:cxn ang="T109">
                    <a:pos x="T50" y="T51"/>
                  </a:cxn>
                  <a:cxn ang="T110">
                    <a:pos x="T52" y="T53"/>
                  </a:cxn>
                  <a:cxn ang="T111">
                    <a:pos x="T54" y="T55"/>
                  </a:cxn>
                  <a:cxn ang="T112">
                    <a:pos x="T56" y="T57"/>
                  </a:cxn>
                  <a:cxn ang="T113">
                    <a:pos x="T58" y="T59"/>
                  </a:cxn>
                  <a:cxn ang="T114">
                    <a:pos x="T60" y="T61"/>
                  </a:cxn>
                  <a:cxn ang="T115">
                    <a:pos x="T62" y="T63"/>
                  </a:cxn>
                  <a:cxn ang="T116">
                    <a:pos x="T64" y="T65"/>
                  </a:cxn>
                  <a:cxn ang="T117">
                    <a:pos x="T66" y="T67"/>
                  </a:cxn>
                  <a:cxn ang="T118">
                    <a:pos x="T68" y="T69"/>
                  </a:cxn>
                  <a:cxn ang="T119">
                    <a:pos x="T70" y="T71"/>
                  </a:cxn>
                  <a:cxn ang="T120">
                    <a:pos x="T72" y="T73"/>
                  </a:cxn>
                  <a:cxn ang="T121">
                    <a:pos x="T74" y="T75"/>
                  </a:cxn>
                  <a:cxn ang="T122">
                    <a:pos x="T76" y="T77"/>
                  </a:cxn>
                  <a:cxn ang="T123">
                    <a:pos x="T78" y="T79"/>
                  </a:cxn>
                  <a:cxn ang="T124">
                    <a:pos x="T80" y="T81"/>
                  </a:cxn>
                  <a:cxn ang="T125">
                    <a:pos x="T82" y="T83"/>
                  </a:cxn>
                </a:cxnLst>
                <a:rect l="0" t="0" r="r" b="b"/>
                <a:pathLst>
                  <a:path w="149" h="704">
                    <a:moveTo>
                      <a:pt x="0" y="0"/>
                    </a:moveTo>
                    <a:lnTo>
                      <a:pt x="6" y="6"/>
                    </a:lnTo>
                    <a:lnTo>
                      <a:pt x="16" y="14"/>
                    </a:lnTo>
                    <a:lnTo>
                      <a:pt x="28" y="24"/>
                    </a:lnTo>
                    <a:lnTo>
                      <a:pt x="41" y="37"/>
                    </a:lnTo>
                    <a:lnTo>
                      <a:pt x="58" y="53"/>
                    </a:lnTo>
                    <a:lnTo>
                      <a:pt x="73" y="70"/>
                    </a:lnTo>
                    <a:lnTo>
                      <a:pt x="88" y="90"/>
                    </a:lnTo>
                    <a:lnTo>
                      <a:pt x="100" y="113"/>
                    </a:lnTo>
                    <a:lnTo>
                      <a:pt x="112" y="137"/>
                    </a:lnTo>
                    <a:lnTo>
                      <a:pt x="120" y="165"/>
                    </a:lnTo>
                    <a:lnTo>
                      <a:pt x="124" y="196"/>
                    </a:lnTo>
                    <a:lnTo>
                      <a:pt x="126" y="228"/>
                    </a:lnTo>
                    <a:lnTo>
                      <a:pt x="120" y="264"/>
                    </a:lnTo>
                    <a:lnTo>
                      <a:pt x="109" y="302"/>
                    </a:lnTo>
                    <a:lnTo>
                      <a:pt x="92" y="342"/>
                    </a:lnTo>
                    <a:lnTo>
                      <a:pt x="67" y="386"/>
                    </a:lnTo>
                    <a:lnTo>
                      <a:pt x="39" y="436"/>
                    </a:lnTo>
                    <a:lnTo>
                      <a:pt x="21" y="482"/>
                    </a:lnTo>
                    <a:lnTo>
                      <a:pt x="10" y="525"/>
                    </a:lnTo>
                    <a:lnTo>
                      <a:pt x="6" y="566"/>
                    </a:lnTo>
                    <a:lnTo>
                      <a:pt x="6" y="605"/>
                    </a:lnTo>
                    <a:lnTo>
                      <a:pt x="8" y="641"/>
                    </a:lnTo>
                    <a:lnTo>
                      <a:pt x="12" y="673"/>
                    </a:lnTo>
                    <a:lnTo>
                      <a:pt x="14" y="704"/>
                    </a:lnTo>
                    <a:lnTo>
                      <a:pt x="41" y="688"/>
                    </a:lnTo>
                    <a:lnTo>
                      <a:pt x="39" y="680"/>
                    </a:lnTo>
                    <a:lnTo>
                      <a:pt x="36" y="657"/>
                    </a:lnTo>
                    <a:lnTo>
                      <a:pt x="33" y="622"/>
                    </a:lnTo>
                    <a:lnTo>
                      <a:pt x="35" y="575"/>
                    </a:lnTo>
                    <a:lnTo>
                      <a:pt x="41" y="519"/>
                    </a:lnTo>
                    <a:lnTo>
                      <a:pt x="58" y="455"/>
                    </a:lnTo>
                    <a:lnTo>
                      <a:pt x="86" y="386"/>
                    </a:lnTo>
                    <a:lnTo>
                      <a:pt x="129" y="313"/>
                    </a:lnTo>
                    <a:lnTo>
                      <a:pt x="143" y="279"/>
                    </a:lnTo>
                    <a:lnTo>
                      <a:pt x="149" y="235"/>
                    </a:lnTo>
                    <a:lnTo>
                      <a:pt x="144" y="184"/>
                    </a:lnTo>
                    <a:lnTo>
                      <a:pt x="131" y="134"/>
                    </a:lnTo>
                    <a:lnTo>
                      <a:pt x="109" y="85"/>
                    </a:lnTo>
                    <a:lnTo>
                      <a:pt x="81" y="44"/>
                    </a:lnTo>
                    <a:lnTo>
                      <a:pt x="44" y="14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6" name="Freeform 11">
              <a:extLst>
                <a:ext uri="{FF2B5EF4-FFF2-40B4-BE49-F238E27FC236}">
                  <a16:creationId xmlns:a16="http://schemas.microsoft.com/office/drawing/2014/main" id="{21B589CE-2855-4FE3-87FC-45FE7863D6B8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 rot="373331" flipH="1">
              <a:off x="22" y="1957"/>
              <a:ext cx="323" cy="649"/>
            </a:xfrm>
            <a:custGeom>
              <a:avLst/>
              <a:gdLst>
                <a:gd name="T0" fmla="*/ 237 w 128"/>
                <a:gd name="T1" fmla="*/ 0 h 217"/>
                <a:gd name="T2" fmla="*/ 265 w 128"/>
                <a:gd name="T3" fmla="*/ 27 h 217"/>
                <a:gd name="T4" fmla="*/ 290 w 128"/>
                <a:gd name="T5" fmla="*/ 81 h 217"/>
                <a:gd name="T6" fmla="*/ 310 w 128"/>
                <a:gd name="T7" fmla="*/ 150 h 217"/>
                <a:gd name="T8" fmla="*/ 323 w 128"/>
                <a:gd name="T9" fmla="*/ 233 h 217"/>
                <a:gd name="T10" fmla="*/ 320 w 128"/>
                <a:gd name="T11" fmla="*/ 332 h 217"/>
                <a:gd name="T12" fmla="*/ 293 w 128"/>
                <a:gd name="T13" fmla="*/ 434 h 217"/>
                <a:gd name="T14" fmla="*/ 237 w 128"/>
                <a:gd name="T15" fmla="*/ 541 h 217"/>
                <a:gd name="T16" fmla="*/ 151 w 128"/>
                <a:gd name="T17" fmla="*/ 649 h 217"/>
                <a:gd name="T18" fmla="*/ 124 w 128"/>
                <a:gd name="T19" fmla="*/ 637 h 217"/>
                <a:gd name="T20" fmla="*/ 96 w 128"/>
                <a:gd name="T21" fmla="*/ 628 h 217"/>
                <a:gd name="T22" fmla="*/ 66 w 128"/>
                <a:gd name="T23" fmla="*/ 613 h 217"/>
                <a:gd name="T24" fmla="*/ 40 w 128"/>
                <a:gd name="T25" fmla="*/ 601 h 217"/>
                <a:gd name="T26" fmla="*/ 20 w 128"/>
                <a:gd name="T27" fmla="*/ 586 h 217"/>
                <a:gd name="T28" fmla="*/ 5 w 128"/>
                <a:gd name="T29" fmla="*/ 568 h 217"/>
                <a:gd name="T30" fmla="*/ 0 w 128"/>
                <a:gd name="T31" fmla="*/ 547 h 217"/>
                <a:gd name="T32" fmla="*/ 3 w 128"/>
                <a:gd name="T33" fmla="*/ 532 h 217"/>
                <a:gd name="T34" fmla="*/ 33 w 128"/>
                <a:gd name="T35" fmla="*/ 511 h 217"/>
                <a:gd name="T36" fmla="*/ 73 w 128"/>
                <a:gd name="T37" fmla="*/ 482 h 217"/>
                <a:gd name="T38" fmla="*/ 116 w 128"/>
                <a:gd name="T39" fmla="*/ 449 h 217"/>
                <a:gd name="T40" fmla="*/ 159 w 128"/>
                <a:gd name="T41" fmla="*/ 401 h 217"/>
                <a:gd name="T42" fmla="*/ 199 w 128"/>
                <a:gd name="T43" fmla="*/ 335 h 217"/>
                <a:gd name="T44" fmla="*/ 230 w 128"/>
                <a:gd name="T45" fmla="*/ 248 h 217"/>
                <a:gd name="T46" fmla="*/ 245 w 128"/>
                <a:gd name="T47" fmla="*/ 138 h 217"/>
                <a:gd name="T48" fmla="*/ 237 w 128"/>
                <a:gd name="T49" fmla="*/ 0 h 217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</a:gdLst>
              <a:ahLst/>
              <a:cxnLst>
                <a:cxn ang="T50">
                  <a:pos x="T0" y="T1"/>
                </a:cxn>
                <a:cxn ang="T51">
                  <a:pos x="T2" y="T3"/>
                </a:cxn>
                <a:cxn ang="T52">
                  <a:pos x="T4" y="T5"/>
                </a:cxn>
                <a:cxn ang="T53">
                  <a:pos x="T6" y="T7"/>
                </a:cxn>
                <a:cxn ang="T54">
                  <a:pos x="T8" y="T9"/>
                </a:cxn>
                <a:cxn ang="T55">
                  <a:pos x="T10" y="T11"/>
                </a:cxn>
                <a:cxn ang="T56">
                  <a:pos x="T12" y="T13"/>
                </a:cxn>
                <a:cxn ang="T57">
                  <a:pos x="T14" y="T15"/>
                </a:cxn>
                <a:cxn ang="T58">
                  <a:pos x="T16" y="T17"/>
                </a:cxn>
                <a:cxn ang="T59">
                  <a:pos x="T18" y="T19"/>
                </a:cxn>
                <a:cxn ang="T60">
                  <a:pos x="T20" y="T21"/>
                </a:cxn>
                <a:cxn ang="T61">
                  <a:pos x="T22" y="T23"/>
                </a:cxn>
                <a:cxn ang="T62">
                  <a:pos x="T24" y="T25"/>
                </a:cxn>
                <a:cxn ang="T63">
                  <a:pos x="T26" y="T27"/>
                </a:cxn>
                <a:cxn ang="T64">
                  <a:pos x="T28" y="T29"/>
                </a:cxn>
                <a:cxn ang="T65">
                  <a:pos x="T30" y="T31"/>
                </a:cxn>
                <a:cxn ang="T66">
                  <a:pos x="T32" y="T33"/>
                </a:cxn>
                <a:cxn ang="T67">
                  <a:pos x="T34" y="T35"/>
                </a:cxn>
                <a:cxn ang="T68">
                  <a:pos x="T36" y="T37"/>
                </a:cxn>
                <a:cxn ang="T69">
                  <a:pos x="T38" y="T39"/>
                </a:cxn>
                <a:cxn ang="T70">
                  <a:pos x="T40" y="T41"/>
                </a:cxn>
                <a:cxn ang="T71">
                  <a:pos x="T42" y="T43"/>
                </a:cxn>
                <a:cxn ang="T72">
                  <a:pos x="T44" y="T45"/>
                </a:cxn>
                <a:cxn ang="T73">
                  <a:pos x="T46" y="T47"/>
                </a:cxn>
                <a:cxn ang="T74">
                  <a:pos x="T48" y="T49"/>
                </a:cxn>
              </a:cxnLst>
              <a:rect l="0" t="0" r="r" b="b"/>
              <a:pathLst>
                <a:path w="128" h="217">
                  <a:moveTo>
                    <a:pt x="94" y="0"/>
                  </a:moveTo>
                  <a:lnTo>
                    <a:pt x="105" y="9"/>
                  </a:lnTo>
                  <a:lnTo>
                    <a:pt x="115" y="27"/>
                  </a:lnTo>
                  <a:lnTo>
                    <a:pt x="123" y="50"/>
                  </a:lnTo>
                  <a:lnTo>
                    <a:pt x="128" y="78"/>
                  </a:lnTo>
                  <a:lnTo>
                    <a:pt x="127" y="111"/>
                  </a:lnTo>
                  <a:lnTo>
                    <a:pt x="116" y="145"/>
                  </a:lnTo>
                  <a:lnTo>
                    <a:pt x="94" y="181"/>
                  </a:lnTo>
                  <a:lnTo>
                    <a:pt x="60" y="217"/>
                  </a:lnTo>
                  <a:lnTo>
                    <a:pt x="49" y="213"/>
                  </a:lnTo>
                  <a:lnTo>
                    <a:pt x="38" y="210"/>
                  </a:lnTo>
                  <a:lnTo>
                    <a:pt x="26" y="205"/>
                  </a:lnTo>
                  <a:lnTo>
                    <a:pt x="16" y="201"/>
                  </a:lnTo>
                  <a:lnTo>
                    <a:pt x="8" y="196"/>
                  </a:lnTo>
                  <a:lnTo>
                    <a:pt x="2" y="190"/>
                  </a:lnTo>
                  <a:lnTo>
                    <a:pt x="0" y="183"/>
                  </a:lnTo>
                  <a:lnTo>
                    <a:pt x="1" y="178"/>
                  </a:lnTo>
                  <a:lnTo>
                    <a:pt x="13" y="171"/>
                  </a:lnTo>
                  <a:lnTo>
                    <a:pt x="29" y="161"/>
                  </a:lnTo>
                  <a:lnTo>
                    <a:pt x="46" y="150"/>
                  </a:lnTo>
                  <a:lnTo>
                    <a:pt x="63" y="134"/>
                  </a:lnTo>
                  <a:lnTo>
                    <a:pt x="79" y="112"/>
                  </a:lnTo>
                  <a:lnTo>
                    <a:pt x="91" y="83"/>
                  </a:lnTo>
                  <a:lnTo>
                    <a:pt x="97" y="46"/>
                  </a:lnTo>
                  <a:lnTo>
                    <a:pt x="94" y="0"/>
                  </a:lnTo>
                  <a:close/>
                </a:path>
              </a:pathLst>
            </a:cu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" name="Freeform 12">
              <a:extLst>
                <a:ext uri="{FF2B5EF4-FFF2-40B4-BE49-F238E27FC236}">
                  <a16:creationId xmlns:a16="http://schemas.microsoft.com/office/drawing/2014/main" id="{C69B21AD-6BC3-497C-BECE-A5AE03F7E019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168" y="1260"/>
              <a:ext cx="1259" cy="1532"/>
            </a:xfrm>
            <a:custGeom>
              <a:avLst/>
              <a:gdLst>
                <a:gd name="T0" fmla="*/ 891 w 1259"/>
                <a:gd name="T1" fmla="*/ 1532 h 1532"/>
                <a:gd name="T2" fmla="*/ 954 w 1259"/>
                <a:gd name="T3" fmla="*/ 1452 h 1532"/>
                <a:gd name="T4" fmla="*/ 1032 w 1259"/>
                <a:gd name="T5" fmla="*/ 1338 h 1532"/>
                <a:gd name="T6" fmla="*/ 1115 w 1259"/>
                <a:gd name="T7" fmla="*/ 1188 h 1532"/>
                <a:gd name="T8" fmla="*/ 1194 w 1259"/>
                <a:gd name="T9" fmla="*/ 1023 h 1532"/>
                <a:gd name="T10" fmla="*/ 1244 w 1259"/>
                <a:gd name="T11" fmla="*/ 841 h 1532"/>
                <a:gd name="T12" fmla="*/ 1259 w 1259"/>
                <a:gd name="T13" fmla="*/ 647 h 1532"/>
                <a:gd name="T14" fmla="*/ 1230 w 1259"/>
                <a:gd name="T15" fmla="*/ 463 h 1532"/>
                <a:gd name="T16" fmla="*/ 1140 w 1259"/>
                <a:gd name="T17" fmla="*/ 294 h 1532"/>
                <a:gd name="T18" fmla="*/ 1043 w 1259"/>
                <a:gd name="T19" fmla="*/ 190 h 1532"/>
                <a:gd name="T20" fmla="*/ 961 w 1259"/>
                <a:gd name="T21" fmla="*/ 109 h 1532"/>
                <a:gd name="T22" fmla="*/ 894 w 1259"/>
                <a:gd name="T23" fmla="*/ 65 h 1532"/>
                <a:gd name="T24" fmla="*/ 786 w 1259"/>
                <a:gd name="T25" fmla="*/ 18 h 1532"/>
                <a:gd name="T26" fmla="*/ 642 w 1259"/>
                <a:gd name="T27" fmla="*/ 0 h 1532"/>
                <a:gd name="T28" fmla="*/ 440 w 1259"/>
                <a:gd name="T29" fmla="*/ 23 h 1532"/>
                <a:gd name="T30" fmla="*/ 366 w 1259"/>
                <a:gd name="T31" fmla="*/ 44 h 1532"/>
                <a:gd name="T32" fmla="*/ 292 w 1259"/>
                <a:gd name="T33" fmla="*/ 58 h 1532"/>
                <a:gd name="T34" fmla="*/ 229 w 1259"/>
                <a:gd name="T35" fmla="*/ 79 h 1532"/>
                <a:gd name="T36" fmla="*/ 178 w 1259"/>
                <a:gd name="T37" fmla="*/ 103 h 1532"/>
                <a:gd name="T38" fmla="*/ 127 w 1259"/>
                <a:gd name="T39" fmla="*/ 127 h 1532"/>
                <a:gd name="T40" fmla="*/ 82 w 1259"/>
                <a:gd name="T41" fmla="*/ 158 h 1532"/>
                <a:gd name="T42" fmla="*/ 41 w 1259"/>
                <a:gd name="T43" fmla="*/ 197 h 1532"/>
                <a:gd name="T44" fmla="*/ 0 w 1259"/>
                <a:gd name="T45" fmla="*/ 243 h 1532"/>
                <a:gd name="T46" fmla="*/ 76 w 1259"/>
                <a:gd name="T47" fmla="*/ 215 h 1532"/>
                <a:gd name="T48" fmla="*/ 144 w 1259"/>
                <a:gd name="T49" fmla="*/ 194 h 1532"/>
                <a:gd name="T50" fmla="*/ 212 w 1259"/>
                <a:gd name="T51" fmla="*/ 179 h 1532"/>
                <a:gd name="T52" fmla="*/ 280 w 1259"/>
                <a:gd name="T53" fmla="*/ 164 h 1532"/>
                <a:gd name="T54" fmla="*/ 336 w 1259"/>
                <a:gd name="T55" fmla="*/ 149 h 1532"/>
                <a:gd name="T56" fmla="*/ 397 w 1259"/>
                <a:gd name="T57" fmla="*/ 149 h 1532"/>
                <a:gd name="T58" fmla="*/ 458 w 1259"/>
                <a:gd name="T59" fmla="*/ 141 h 1532"/>
                <a:gd name="T60" fmla="*/ 511 w 1259"/>
                <a:gd name="T61" fmla="*/ 146 h 1532"/>
                <a:gd name="T62" fmla="*/ 565 w 1259"/>
                <a:gd name="T63" fmla="*/ 152 h 1532"/>
                <a:gd name="T64" fmla="*/ 618 w 1259"/>
                <a:gd name="T65" fmla="*/ 166 h 1532"/>
                <a:gd name="T66" fmla="*/ 669 w 1259"/>
                <a:gd name="T67" fmla="*/ 186 h 1532"/>
                <a:gd name="T68" fmla="*/ 715 w 1259"/>
                <a:gd name="T69" fmla="*/ 205 h 1532"/>
                <a:gd name="T70" fmla="*/ 760 w 1259"/>
                <a:gd name="T71" fmla="*/ 239 h 1532"/>
                <a:gd name="T72" fmla="*/ 811 w 1259"/>
                <a:gd name="T73" fmla="*/ 267 h 1532"/>
                <a:gd name="T74" fmla="*/ 855 w 1259"/>
                <a:gd name="T75" fmla="*/ 307 h 1532"/>
                <a:gd name="T76" fmla="*/ 899 w 1259"/>
                <a:gd name="T77" fmla="*/ 348 h 1532"/>
                <a:gd name="T78" fmla="*/ 971 w 1259"/>
                <a:gd name="T79" fmla="*/ 464 h 1532"/>
                <a:gd name="T80" fmla="*/ 1016 w 1259"/>
                <a:gd name="T81" fmla="*/ 606 h 1532"/>
                <a:gd name="T82" fmla="*/ 1027 w 1259"/>
                <a:gd name="T83" fmla="*/ 774 h 1532"/>
                <a:gd name="T84" fmla="*/ 1022 w 1259"/>
                <a:gd name="T85" fmla="*/ 939 h 1532"/>
                <a:gd name="T86" fmla="*/ 1002 w 1259"/>
                <a:gd name="T87" fmla="*/ 1117 h 1532"/>
                <a:gd name="T88" fmla="*/ 966 w 1259"/>
                <a:gd name="T89" fmla="*/ 1279 h 1532"/>
                <a:gd name="T90" fmla="*/ 933 w 1259"/>
                <a:gd name="T91" fmla="*/ 1421 h 1532"/>
                <a:gd name="T92" fmla="*/ 891 w 1259"/>
                <a:gd name="T93" fmla="*/ 1532 h 1532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</a:gdLst>
              <a:ahLst/>
              <a:cxnLst>
                <a:cxn ang="T94">
                  <a:pos x="T0" y="T1"/>
                </a:cxn>
                <a:cxn ang="T95">
                  <a:pos x="T2" y="T3"/>
                </a:cxn>
                <a:cxn ang="T96">
                  <a:pos x="T4" y="T5"/>
                </a:cxn>
                <a:cxn ang="T97">
                  <a:pos x="T6" y="T7"/>
                </a:cxn>
                <a:cxn ang="T98">
                  <a:pos x="T8" y="T9"/>
                </a:cxn>
                <a:cxn ang="T99">
                  <a:pos x="T10" y="T11"/>
                </a:cxn>
                <a:cxn ang="T100">
                  <a:pos x="T12" y="T13"/>
                </a:cxn>
                <a:cxn ang="T101">
                  <a:pos x="T14" y="T15"/>
                </a:cxn>
                <a:cxn ang="T102">
                  <a:pos x="T16" y="T17"/>
                </a:cxn>
                <a:cxn ang="T103">
                  <a:pos x="T18" y="T19"/>
                </a:cxn>
                <a:cxn ang="T104">
                  <a:pos x="T20" y="T21"/>
                </a:cxn>
                <a:cxn ang="T105">
                  <a:pos x="T22" y="T23"/>
                </a:cxn>
                <a:cxn ang="T106">
                  <a:pos x="T24" y="T25"/>
                </a:cxn>
                <a:cxn ang="T107">
                  <a:pos x="T26" y="T27"/>
                </a:cxn>
                <a:cxn ang="T108">
                  <a:pos x="T28" y="T29"/>
                </a:cxn>
                <a:cxn ang="T109">
                  <a:pos x="T30" y="T31"/>
                </a:cxn>
                <a:cxn ang="T110">
                  <a:pos x="T32" y="T33"/>
                </a:cxn>
                <a:cxn ang="T111">
                  <a:pos x="T34" y="T35"/>
                </a:cxn>
                <a:cxn ang="T112">
                  <a:pos x="T36" y="T37"/>
                </a:cxn>
                <a:cxn ang="T113">
                  <a:pos x="T38" y="T39"/>
                </a:cxn>
                <a:cxn ang="T114">
                  <a:pos x="T40" y="T41"/>
                </a:cxn>
                <a:cxn ang="T115">
                  <a:pos x="T42" y="T43"/>
                </a:cxn>
                <a:cxn ang="T116">
                  <a:pos x="T44" y="T45"/>
                </a:cxn>
                <a:cxn ang="T117">
                  <a:pos x="T46" y="T47"/>
                </a:cxn>
                <a:cxn ang="T118">
                  <a:pos x="T48" y="T49"/>
                </a:cxn>
                <a:cxn ang="T119">
                  <a:pos x="T50" y="T51"/>
                </a:cxn>
                <a:cxn ang="T120">
                  <a:pos x="T52" y="T53"/>
                </a:cxn>
                <a:cxn ang="T121">
                  <a:pos x="T54" y="T55"/>
                </a:cxn>
                <a:cxn ang="T122">
                  <a:pos x="T56" y="T57"/>
                </a:cxn>
                <a:cxn ang="T123">
                  <a:pos x="T58" y="T59"/>
                </a:cxn>
                <a:cxn ang="T124">
                  <a:pos x="T60" y="T61"/>
                </a:cxn>
                <a:cxn ang="T125">
                  <a:pos x="T62" y="T63"/>
                </a:cxn>
                <a:cxn ang="T126">
                  <a:pos x="T64" y="T65"/>
                </a:cxn>
                <a:cxn ang="T127">
                  <a:pos x="T66" y="T67"/>
                </a:cxn>
                <a:cxn ang="T128">
                  <a:pos x="T68" y="T69"/>
                </a:cxn>
                <a:cxn ang="T129">
                  <a:pos x="T70" y="T71"/>
                </a:cxn>
                <a:cxn ang="T130">
                  <a:pos x="T72" y="T73"/>
                </a:cxn>
                <a:cxn ang="T131">
                  <a:pos x="T74" y="T75"/>
                </a:cxn>
                <a:cxn ang="T132">
                  <a:pos x="T76" y="T77"/>
                </a:cxn>
                <a:cxn ang="T133">
                  <a:pos x="T78" y="T79"/>
                </a:cxn>
                <a:cxn ang="T134">
                  <a:pos x="T80" y="T81"/>
                </a:cxn>
                <a:cxn ang="T135">
                  <a:pos x="T82" y="T83"/>
                </a:cxn>
                <a:cxn ang="T136">
                  <a:pos x="T84" y="T85"/>
                </a:cxn>
                <a:cxn ang="T137">
                  <a:pos x="T86" y="T87"/>
                </a:cxn>
                <a:cxn ang="T138">
                  <a:pos x="T88" y="T89"/>
                </a:cxn>
                <a:cxn ang="T139">
                  <a:pos x="T90" y="T91"/>
                </a:cxn>
                <a:cxn ang="T140">
                  <a:pos x="T92" y="T93"/>
                </a:cxn>
              </a:cxnLst>
              <a:rect l="0" t="0" r="r" b="b"/>
              <a:pathLst>
                <a:path w="1259" h="1532">
                  <a:moveTo>
                    <a:pt x="891" y="1532"/>
                  </a:moveTo>
                  <a:lnTo>
                    <a:pt x="954" y="1452"/>
                  </a:lnTo>
                  <a:lnTo>
                    <a:pt x="1032" y="1338"/>
                  </a:lnTo>
                  <a:lnTo>
                    <a:pt x="1115" y="1188"/>
                  </a:lnTo>
                  <a:lnTo>
                    <a:pt x="1194" y="1023"/>
                  </a:lnTo>
                  <a:lnTo>
                    <a:pt x="1244" y="841"/>
                  </a:lnTo>
                  <a:lnTo>
                    <a:pt x="1259" y="647"/>
                  </a:lnTo>
                  <a:lnTo>
                    <a:pt x="1230" y="463"/>
                  </a:lnTo>
                  <a:lnTo>
                    <a:pt x="1140" y="294"/>
                  </a:lnTo>
                  <a:lnTo>
                    <a:pt x="1043" y="190"/>
                  </a:lnTo>
                  <a:lnTo>
                    <a:pt x="961" y="109"/>
                  </a:lnTo>
                  <a:lnTo>
                    <a:pt x="894" y="65"/>
                  </a:lnTo>
                  <a:lnTo>
                    <a:pt x="786" y="18"/>
                  </a:lnTo>
                  <a:lnTo>
                    <a:pt x="642" y="0"/>
                  </a:lnTo>
                  <a:lnTo>
                    <a:pt x="440" y="23"/>
                  </a:lnTo>
                  <a:lnTo>
                    <a:pt x="366" y="44"/>
                  </a:lnTo>
                  <a:lnTo>
                    <a:pt x="292" y="58"/>
                  </a:lnTo>
                  <a:lnTo>
                    <a:pt x="229" y="79"/>
                  </a:lnTo>
                  <a:lnTo>
                    <a:pt x="178" y="103"/>
                  </a:lnTo>
                  <a:lnTo>
                    <a:pt x="127" y="127"/>
                  </a:lnTo>
                  <a:lnTo>
                    <a:pt x="82" y="158"/>
                  </a:lnTo>
                  <a:lnTo>
                    <a:pt x="41" y="197"/>
                  </a:lnTo>
                  <a:lnTo>
                    <a:pt x="0" y="243"/>
                  </a:lnTo>
                  <a:lnTo>
                    <a:pt x="76" y="215"/>
                  </a:lnTo>
                  <a:lnTo>
                    <a:pt x="144" y="194"/>
                  </a:lnTo>
                  <a:lnTo>
                    <a:pt x="212" y="179"/>
                  </a:lnTo>
                  <a:lnTo>
                    <a:pt x="280" y="164"/>
                  </a:lnTo>
                  <a:lnTo>
                    <a:pt x="336" y="149"/>
                  </a:lnTo>
                  <a:lnTo>
                    <a:pt x="397" y="149"/>
                  </a:lnTo>
                  <a:lnTo>
                    <a:pt x="458" y="141"/>
                  </a:lnTo>
                  <a:lnTo>
                    <a:pt x="511" y="146"/>
                  </a:lnTo>
                  <a:lnTo>
                    <a:pt x="565" y="152"/>
                  </a:lnTo>
                  <a:lnTo>
                    <a:pt x="618" y="166"/>
                  </a:lnTo>
                  <a:lnTo>
                    <a:pt x="669" y="186"/>
                  </a:lnTo>
                  <a:lnTo>
                    <a:pt x="715" y="205"/>
                  </a:lnTo>
                  <a:lnTo>
                    <a:pt x="760" y="239"/>
                  </a:lnTo>
                  <a:lnTo>
                    <a:pt x="811" y="267"/>
                  </a:lnTo>
                  <a:lnTo>
                    <a:pt x="855" y="307"/>
                  </a:lnTo>
                  <a:lnTo>
                    <a:pt x="899" y="348"/>
                  </a:lnTo>
                  <a:lnTo>
                    <a:pt x="971" y="464"/>
                  </a:lnTo>
                  <a:lnTo>
                    <a:pt x="1016" y="606"/>
                  </a:lnTo>
                  <a:lnTo>
                    <a:pt x="1027" y="774"/>
                  </a:lnTo>
                  <a:lnTo>
                    <a:pt x="1022" y="939"/>
                  </a:lnTo>
                  <a:lnTo>
                    <a:pt x="1002" y="1117"/>
                  </a:lnTo>
                  <a:lnTo>
                    <a:pt x="966" y="1279"/>
                  </a:lnTo>
                  <a:lnTo>
                    <a:pt x="933" y="1421"/>
                  </a:lnTo>
                  <a:lnTo>
                    <a:pt x="891" y="1532"/>
                  </a:lnTo>
                  <a:close/>
                </a:path>
              </a:pathLst>
            </a:cu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" name="Freeform 13">
              <a:extLst>
                <a:ext uri="{FF2B5EF4-FFF2-40B4-BE49-F238E27FC236}">
                  <a16:creationId xmlns:a16="http://schemas.microsoft.com/office/drawing/2014/main" id="{BBA14294-9017-4EBD-8BB1-9D61A5DFFD78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0" y="2610"/>
              <a:ext cx="801" cy="459"/>
            </a:xfrm>
            <a:custGeom>
              <a:avLst/>
              <a:gdLst>
                <a:gd name="T0" fmla="*/ 0 w 801"/>
                <a:gd name="T1" fmla="*/ 0 h 459"/>
                <a:gd name="T2" fmla="*/ 37 w 801"/>
                <a:gd name="T3" fmla="*/ 69 h 459"/>
                <a:gd name="T4" fmla="*/ 68 w 801"/>
                <a:gd name="T5" fmla="*/ 132 h 459"/>
                <a:gd name="T6" fmla="*/ 110 w 801"/>
                <a:gd name="T7" fmla="*/ 188 h 459"/>
                <a:gd name="T8" fmla="*/ 149 w 801"/>
                <a:gd name="T9" fmla="*/ 229 h 459"/>
                <a:gd name="T10" fmla="*/ 192 w 801"/>
                <a:gd name="T11" fmla="*/ 278 h 459"/>
                <a:gd name="T12" fmla="*/ 250 w 801"/>
                <a:gd name="T13" fmla="*/ 314 h 459"/>
                <a:gd name="T14" fmla="*/ 308 w 801"/>
                <a:gd name="T15" fmla="*/ 336 h 459"/>
                <a:gd name="T16" fmla="*/ 365 w 801"/>
                <a:gd name="T17" fmla="*/ 365 h 459"/>
                <a:gd name="T18" fmla="*/ 430 w 801"/>
                <a:gd name="T19" fmla="*/ 381 h 459"/>
                <a:gd name="T20" fmla="*/ 501 w 801"/>
                <a:gd name="T21" fmla="*/ 390 h 459"/>
                <a:gd name="T22" fmla="*/ 573 w 801"/>
                <a:gd name="T23" fmla="*/ 392 h 459"/>
                <a:gd name="T24" fmla="*/ 646 w 801"/>
                <a:gd name="T25" fmla="*/ 381 h 459"/>
                <a:gd name="T26" fmla="*/ 726 w 801"/>
                <a:gd name="T27" fmla="*/ 362 h 459"/>
                <a:gd name="T28" fmla="*/ 801 w 801"/>
                <a:gd name="T29" fmla="*/ 335 h 459"/>
                <a:gd name="T30" fmla="*/ 731 w 801"/>
                <a:gd name="T31" fmla="*/ 377 h 459"/>
                <a:gd name="T32" fmla="*/ 662 w 801"/>
                <a:gd name="T33" fmla="*/ 404 h 459"/>
                <a:gd name="T34" fmla="*/ 594 w 801"/>
                <a:gd name="T35" fmla="*/ 432 h 459"/>
                <a:gd name="T36" fmla="*/ 532 w 801"/>
                <a:gd name="T37" fmla="*/ 445 h 459"/>
                <a:gd name="T38" fmla="*/ 471 w 801"/>
                <a:gd name="T39" fmla="*/ 459 h 459"/>
                <a:gd name="T40" fmla="*/ 411 w 801"/>
                <a:gd name="T41" fmla="*/ 458 h 459"/>
                <a:gd name="T42" fmla="*/ 350 w 801"/>
                <a:gd name="T43" fmla="*/ 458 h 459"/>
                <a:gd name="T44" fmla="*/ 291 w 801"/>
                <a:gd name="T45" fmla="*/ 450 h 459"/>
                <a:gd name="T46" fmla="*/ 244 w 801"/>
                <a:gd name="T47" fmla="*/ 436 h 459"/>
                <a:gd name="T48" fmla="*/ 192 w 801"/>
                <a:gd name="T49" fmla="*/ 415 h 459"/>
                <a:gd name="T50" fmla="*/ 145 w 801"/>
                <a:gd name="T51" fmla="*/ 394 h 459"/>
                <a:gd name="T52" fmla="*/ 100 w 801"/>
                <a:gd name="T53" fmla="*/ 373 h 459"/>
                <a:gd name="T54" fmla="*/ 60 w 801"/>
                <a:gd name="T55" fmla="*/ 347 h 459"/>
                <a:gd name="T56" fmla="*/ 0 w 801"/>
                <a:gd name="T57" fmla="*/ 294 h 459"/>
                <a:gd name="T58" fmla="*/ 0 w 801"/>
                <a:gd name="T59" fmla="*/ 0 h 459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</a:gdLst>
              <a:ahLst/>
              <a:cxnLst>
                <a:cxn ang="T60">
                  <a:pos x="T0" y="T1"/>
                </a:cxn>
                <a:cxn ang="T61">
                  <a:pos x="T2" y="T3"/>
                </a:cxn>
                <a:cxn ang="T62">
                  <a:pos x="T4" y="T5"/>
                </a:cxn>
                <a:cxn ang="T63">
                  <a:pos x="T6" y="T7"/>
                </a:cxn>
                <a:cxn ang="T64">
                  <a:pos x="T8" y="T9"/>
                </a:cxn>
                <a:cxn ang="T65">
                  <a:pos x="T10" y="T11"/>
                </a:cxn>
                <a:cxn ang="T66">
                  <a:pos x="T12" y="T13"/>
                </a:cxn>
                <a:cxn ang="T67">
                  <a:pos x="T14" y="T15"/>
                </a:cxn>
                <a:cxn ang="T68">
                  <a:pos x="T16" y="T17"/>
                </a:cxn>
                <a:cxn ang="T69">
                  <a:pos x="T18" y="T19"/>
                </a:cxn>
                <a:cxn ang="T70">
                  <a:pos x="T20" y="T21"/>
                </a:cxn>
                <a:cxn ang="T71">
                  <a:pos x="T22" y="T23"/>
                </a:cxn>
                <a:cxn ang="T72">
                  <a:pos x="T24" y="T25"/>
                </a:cxn>
                <a:cxn ang="T73">
                  <a:pos x="T26" y="T27"/>
                </a:cxn>
                <a:cxn ang="T74">
                  <a:pos x="T28" y="T29"/>
                </a:cxn>
                <a:cxn ang="T75">
                  <a:pos x="T30" y="T31"/>
                </a:cxn>
                <a:cxn ang="T76">
                  <a:pos x="T32" y="T33"/>
                </a:cxn>
                <a:cxn ang="T77">
                  <a:pos x="T34" y="T35"/>
                </a:cxn>
                <a:cxn ang="T78">
                  <a:pos x="T36" y="T37"/>
                </a:cxn>
                <a:cxn ang="T79">
                  <a:pos x="T38" y="T39"/>
                </a:cxn>
                <a:cxn ang="T80">
                  <a:pos x="T40" y="T41"/>
                </a:cxn>
                <a:cxn ang="T81">
                  <a:pos x="T42" y="T43"/>
                </a:cxn>
                <a:cxn ang="T82">
                  <a:pos x="T44" y="T45"/>
                </a:cxn>
                <a:cxn ang="T83">
                  <a:pos x="T46" y="T47"/>
                </a:cxn>
                <a:cxn ang="T84">
                  <a:pos x="T48" y="T49"/>
                </a:cxn>
                <a:cxn ang="T85">
                  <a:pos x="T50" y="T51"/>
                </a:cxn>
                <a:cxn ang="T86">
                  <a:pos x="T52" y="T53"/>
                </a:cxn>
                <a:cxn ang="T87">
                  <a:pos x="T54" y="T55"/>
                </a:cxn>
                <a:cxn ang="T88">
                  <a:pos x="T56" y="T57"/>
                </a:cxn>
                <a:cxn ang="T89">
                  <a:pos x="T58" y="T59"/>
                </a:cxn>
              </a:cxnLst>
              <a:rect l="0" t="0" r="r" b="b"/>
              <a:pathLst>
                <a:path w="801" h="459">
                  <a:moveTo>
                    <a:pt x="0" y="0"/>
                  </a:moveTo>
                  <a:lnTo>
                    <a:pt x="37" y="69"/>
                  </a:lnTo>
                  <a:lnTo>
                    <a:pt x="68" y="132"/>
                  </a:lnTo>
                  <a:lnTo>
                    <a:pt x="110" y="188"/>
                  </a:lnTo>
                  <a:lnTo>
                    <a:pt x="149" y="229"/>
                  </a:lnTo>
                  <a:lnTo>
                    <a:pt x="192" y="278"/>
                  </a:lnTo>
                  <a:lnTo>
                    <a:pt x="250" y="314"/>
                  </a:lnTo>
                  <a:lnTo>
                    <a:pt x="308" y="336"/>
                  </a:lnTo>
                  <a:lnTo>
                    <a:pt x="365" y="365"/>
                  </a:lnTo>
                  <a:lnTo>
                    <a:pt x="430" y="381"/>
                  </a:lnTo>
                  <a:lnTo>
                    <a:pt x="501" y="390"/>
                  </a:lnTo>
                  <a:lnTo>
                    <a:pt x="573" y="392"/>
                  </a:lnTo>
                  <a:lnTo>
                    <a:pt x="646" y="381"/>
                  </a:lnTo>
                  <a:lnTo>
                    <a:pt x="726" y="362"/>
                  </a:lnTo>
                  <a:lnTo>
                    <a:pt x="801" y="335"/>
                  </a:lnTo>
                  <a:lnTo>
                    <a:pt x="731" y="377"/>
                  </a:lnTo>
                  <a:lnTo>
                    <a:pt x="662" y="404"/>
                  </a:lnTo>
                  <a:lnTo>
                    <a:pt x="594" y="432"/>
                  </a:lnTo>
                  <a:lnTo>
                    <a:pt x="532" y="445"/>
                  </a:lnTo>
                  <a:lnTo>
                    <a:pt x="471" y="459"/>
                  </a:lnTo>
                  <a:lnTo>
                    <a:pt x="411" y="458"/>
                  </a:lnTo>
                  <a:lnTo>
                    <a:pt x="350" y="458"/>
                  </a:lnTo>
                  <a:lnTo>
                    <a:pt x="291" y="450"/>
                  </a:lnTo>
                  <a:lnTo>
                    <a:pt x="244" y="436"/>
                  </a:lnTo>
                  <a:lnTo>
                    <a:pt x="192" y="415"/>
                  </a:lnTo>
                  <a:lnTo>
                    <a:pt x="145" y="394"/>
                  </a:lnTo>
                  <a:lnTo>
                    <a:pt x="100" y="373"/>
                  </a:lnTo>
                  <a:lnTo>
                    <a:pt x="60" y="347"/>
                  </a:lnTo>
                  <a:lnTo>
                    <a:pt x="0" y="29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" name="Freeform 14">
              <a:extLst>
                <a:ext uri="{FF2B5EF4-FFF2-40B4-BE49-F238E27FC236}">
                  <a16:creationId xmlns:a16="http://schemas.microsoft.com/office/drawing/2014/main" id="{416ADA71-DA55-421D-B92E-6F8457C0BE5F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 rot="373331" flipH="1">
              <a:off x="898" y="2855"/>
              <a:ext cx="354" cy="464"/>
            </a:xfrm>
            <a:custGeom>
              <a:avLst/>
              <a:gdLst>
                <a:gd name="T0" fmla="*/ 227 w 117"/>
                <a:gd name="T1" fmla="*/ 0 h 132"/>
                <a:gd name="T2" fmla="*/ 0 w 117"/>
                <a:gd name="T3" fmla="*/ 88 h 132"/>
                <a:gd name="T4" fmla="*/ 9 w 117"/>
                <a:gd name="T5" fmla="*/ 91 h 132"/>
                <a:gd name="T6" fmla="*/ 42 w 117"/>
                <a:gd name="T7" fmla="*/ 102 h 132"/>
                <a:gd name="T8" fmla="*/ 88 w 117"/>
                <a:gd name="T9" fmla="*/ 127 h 132"/>
                <a:gd name="T10" fmla="*/ 139 w 117"/>
                <a:gd name="T11" fmla="*/ 165 h 132"/>
                <a:gd name="T12" fmla="*/ 200 w 117"/>
                <a:gd name="T13" fmla="*/ 218 h 132"/>
                <a:gd name="T14" fmla="*/ 254 w 117"/>
                <a:gd name="T15" fmla="*/ 281 h 132"/>
                <a:gd name="T16" fmla="*/ 309 w 117"/>
                <a:gd name="T17" fmla="*/ 362 h 132"/>
                <a:gd name="T18" fmla="*/ 351 w 117"/>
                <a:gd name="T19" fmla="*/ 464 h 132"/>
                <a:gd name="T20" fmla="*/ 354 w 117"/>
                <a:gd name="T21" fmla="*/ 422 h 132"/>
                <a:gd name="T22" fmla="*/ 348 w 117"/>
                <a:gd name="T23" fmla="*/ 376 h 132"/>
                <a:gd name="T24" fmla="*/ 327 w 117"/>
                <a:gd name="T25" fmla="*/ 316 h 132"/>
                <a:gd name="T26" fmla="*/ 300 w 117"/>
                <a:gd name="T27" fmla="*/ 260 h 132"/>
                <a:gd name="T28" fmla="*/ 269 w 117"/>
                <a:gd name="T29" fmla="*/ 204 h 132"/>
                <a:gd name="T30" fmla="*/ 236 w 117"/>
                <a:gd name="T31" fmla="*/ 158 h 132"/>
                <a:gd name="T32" fmla="*/ 203 w 117"/>
                <a:gd name="T33" fmla="*/ 127 h 132"/>
                <a:gd name="T34" fmla="*/ 175 w 117"/>
                <a:gd name="T35" fmla="*/ 112 h 132"/>
                <a:gd name="T36" fmla="*/ 209 w 117"/>
                <a:gd name="T37" fmla="*/ 102 h 132"/>
                <a:gd name="T38" fmla="*/ 239 w 117"/>
                <a:gd name="T39" fmla="*/ 98 h 132"/>
                <a:gd name="T40" fmla="*/ 269 w 117"/>
                <a:gd name="T41" fmla="*/ 91 h 132"/>
                <a:gd name="T42" fmla="*/ 297 w 117"/>
                <a:gd name="T43" fmla="*/ 88 h 132"/>
                <a:gd name="T44" fmla="*/ 318 w 117"/>
                <a:gd name="T45" fmla="*/ 84 h 132"/>
                <a:gd name="T46" fmla="*/ 330 w 117"/>
                <a:gd name="T47" fmla="*/ 77 h 132"/>
                <a:gd name="T48" fmla="*/ 342 w 117"/>
                <a:gd name="T49" fmla="*/ 74 h 132"/>
                <a:gd name="T50" fmla="*/ 345 w 117"/>
                <a:gd name="T51" fmla="*/ 74 h 132"/>
                <a:gd name="T52" fmla="*/ 227 w 117"/>
                <a:gd name="T53" fmla="*/ 0 h 132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</a:gdLst>
              <a:ahLst/>
              <a:cxnLst>
                <a:cxn ang="T54">
                  <a:pos x="T0" y="T1"/>
                </a:cxn>
                <a:cxn ang="T55">
                  <a:pos x="T2" y="T3"/>
                </a:cxn>
                <a:cxn ang="T56">
                  <a:pos x="T4" y="T5"/>
                </a:cxn>
                <a:cxn ang="T57">
                  <a:pos x="T6" y="T7"/>
                </a:cxn>
                <a:cxn ang="T58">
                  <a:pos x="T8" y="T9"/>
                </a:cxn>
                <a:cxn ang="T59">
                  <a:pos x="T10" y="T11"/>
                </a:cxn>
                <a:cxn ang="T60">
                  <a:pos x="T12" y="T13"/>
                </a:cxn>
                <a:cxn ang="T61">
                  <a:pos x="T14" y="T15"/>
                </a:cxn>
                <a:cxn ang="T62">
                  <a:pos x="T16" y="T17"/>
                </a:cxn>
                <a:cxn ang="T63">
                  <a:pos x="T18" y="T19"/>
                </a:cxn>
                <a:cxn ang="T64">
                  <a:pos x="T20" y="T21"/>
                </a:cxn>
                <a:cxn ang="T65">
                  <a:pos x="T22" y="T23"/>
                </a:cxn>
                <a:cxn ang="T66">
                  <a:pos x="T24" y="T25"/>
                </a:cxn>
                <a:cxn ang="T67">
                  <a:pos x="T26" y="T27"/>
                </a:cxn>
                <a:cxn ang="T68">
                  <a:pos x="T28" y="T29"/>
                </a:cxn>
                <a:cxn ang="T69">
                  <a:pos x="T30" y="T31"/>
                </a:cxn>
                <a:cxn ang="T70">
                  <a:pos x="T32" y="T33"/>
                </a:cxn>
                <a:cxn ang="T71">
                  <a:pos x="T34" y="T35"/>
                </a:cxn>
                <a:cxn ang="T72">
                  <a:pos x="T36" y="T37"/>
                </a:cxn>
                <a:cxn ang="T73">
                  <a:pos x="T38" y="T39"/>
                </a:cxn>
                <a:cxn ang="T74">
                  <a:pos x="T40" y="T41"/>
                </a:cxn>
                <a:cxn ang="T75">
                  <a:pos x="T42" y="T43"/>
                </a:cxn>
                <a:cxn ang="T76">
                  <a:pos x="T44" y="T45"/>
                </a:cxn>
                <a:cxn ang="T77">
                  <a:pos x="T46" y="T47"/>
                </a:cxn>
                <a:cxn ang="T78">
                  <a:pos x="T48" y="T49"/>
                </a:cxn>
                <a:cxn ang="T79">
                  <a:pos x="T50" y="T51"/>
                </a:cxn>
                <a:cxn ang="T80">
                  <a:pos x="T52" y="T53"/>
                </a:cxn>
              </a:cxnLst>
              <a:rect l="0" t="0" r="r" b="b"/>
              <a:pathLst>
                <a:path w="117" h="132">
                  <a:moveTo>
                    <a:pt x="75" y="0"/>
                  </a:moveTo>
                  <a:lnTo>
                    <a:pt x="0" y="25"/>
                  </a:lnTo>
                  <a:lnTo>
                    <a:pt x="3" y="26"/>
                  </a:lnTo>
                  <a:lnTo>
                    <a:pt x="14" y="29"/>
                  </a:lnTo>
                  <a:lnTo>
                    <a:pt x="29" y="36"/>
                  </a:lnTo>
                  <a:lnTo>
                    <a:pt x="46" y="47"/>
                  </a:lnTo>
                  <a:lnTo>
                    <a:pt x="66" y="62"/>
                  </a:lnTo>
                  <a:lnTo>
                    <a:pt x="84" y="80"/>
                  </a:lnTo>
                  <a:lnTo>
                    <a:pt x="102" y="103"/>
                  </a:lnTo>
                  <a:lnTo>
                    <a:pt x="116" y="132"/>
                  </a:lnTo>
                  <a:lnTo>
                    <a:pt x="117" y="120"/>
                  </a:lnTo>
                  <a:lnTo>
                    <a:pt x="115" y="107"/>
                  </a:lnTo>
                  <a:lnTo>
                    <a:pt x="108" y="90"/>
                  </a:lnTo>
                  <a:lnTo>
                    <a:pt x="99" y="74"/>
                  </a:lnTo>
                  <a:lnTo>
                    <a:pt x="89" y="58"/>
                  </a:lnTo>
                  <a:lnTo>
                    <a:pt x="78" y="45"/>
                  </a:lnTo>
                  <a:lnTo>
                    <a:pt x="67" y="36"/>
                  </a:lnTo>
                  <a:lnTo>
                    <a:pt x="58" y="32"/>
                  </a:lnTo>
                  <a:lnTo>
                    <a:pt x="69" y="29"/>
                  </a:lnTo>
                  <a:lnTo>
                    <a:pt x="79" y="28"/>
                  </a:lnTo>
                  <a:lnTo>
                    <a:pt x="89" y="26"/>
                  </a:lnTo>
                  <a:lnTo>
                    <a:pt x="98" y="25"/>
                  </a:lnTo>
                  <a:lnTo>
                    <a:pt x="105" y="24"/>
                  </a:lnTo>
                  <a:lnTo>
                    <a:pt x="109" y="22"/>
                  </a:lnTo>
                  <a:lnTo>
                    <a:pt x="113" y="21"/>
                  </a:lnTo>
                  <a:lnTo>
                    <a:pt x="114" y="21"/>
                  </a:lnTo>
                  <a:lnTo>
                    <a:pt x="75" y="0"/>
                  </a:lnTo>
                  <a:close/>
                </a:path>
              </a:pathLst>
            </a:cu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" name="Freeform 15">
              <a:extLst>
                <a:ext uri="{FF2B5EF4-FFF2-40B4-BE49-F238E27FC236}">
                  <a16:creationId xmlns:a16="http://schemas.microsoft.com/office/drawing/2014/main" id="{75797973-E742-4671-A773-E7B7EEF267D8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 rot="373331" flipH="1">
              <a:off x="799" y="2979"/>
              <a:ext cx="87" cy="274"/>
            </a:xfrm>
            <a:custGeom>
              <a:avLst/>
              <a:gdLst>
                <a:gd name="T0" fmla="*/ 87 w 29"/>
                <a:gd name="T1" fmla="*/ 0 h 77"/>
                <a:gd name="T2" fmla="*/ 69 w 29"/>
                <a:gd name="T3" fmla="*/ 0 h 77"/>
                <a:gd name="T4" fmla="*/ 48 w 29"/>
                <a:gd name="T5" fmla="*/ 14 h 77"/>
                <a:gd name="T6" fmla="*/ 27 w 29"/>
                <a:gd name="T7" fmla="*/ 32 h 77"/>
                <a:gd name="T8" fmla="*/ 12 w 29"/>
                <a:gd name="T9" fmla="*/ 68 h 77"/>
                <a:gd name="T10" fmla="*/ 3 w 29"/>
                <a:gd name="T11" fmla="*/ 107 h 77"/>
                <a:gd name="T12" fmla="*/ 0 w 29"/>
                <a:gd name="T13" fmla="*/ 157 h 77"/>
                <a:gd name="T14" fmla="*/ 9 w 29"/>
                <a:gd name="T15" fmla="*/ 214 h 77"/>
                <a:gd name="T16" fmla="*/ 33 w 29"/>
                <a:gd name="T17" fmla="*/ 274 h 77"/>
                <a:gd name="T18" fmla="*/ 45 w 29"/>
                <a:gd name="T19" fmla="*/ 189 h 77"/>
                <a:gd name="T20" fmla="*/ 57 w 29"/>
                <a:gd name="T21" fmla="*/ 132 h 77"/>
                <a:gd name="T22" fmla="*/ 69 w 29"/>
                <a:gd name="T23" fmla="*/ 78 h 77"/>
                <a:gd name="T24" fmla="*/ 87 w 29"/>
                <a:gd name="T25" fmla="*/ 0 h 77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29" h="77">
                  <a:moveTo>
                    <a:pt x="29" y="0"/>
                  </a:moveTo>
                  <a:lnTo>
                    <a:pt x="23" y="0"/>
                  </a:lnTo>
                  <a:lnTo>
                    <a:pt x="16" y="4"/>
                  </a:lnTo>
                  <a:lnTo>
                    <a:pt x="9" y="9"/>
                  </a:lnTo>
                  <a:lnTo>
                    <a:pt x="4" y="19"/>
                  </a:lnTo>
                  <a:lnTo>
                    <a:pt x="1" y="30"/>
                  </a:lnTo>
                  <a:lnTo>
                    <a:pt x="0" y="44"/>
                  </a:lnTo>
                  <a:lnTo>
                    <a:pt x="3" y="60"/>
                  </a:lnTo>
                  <a:lnTo>
                    <a:pt x="11" y="77"/>
                  </a:lnTo>
                  <a:lnTo>
                    <a:pt x="15" y="53"/>
                  </a:lnTo>
                  <a:lnTo>
                    <a:pt x="19" y="37"/>
                  </a:lnTo>
                  <a:lnTo>
                    <a:pt x="23" y="22"/>
                  </a:lnTo>
                  <a:lnTo>
                    <a:pt x="29" y="0"/>
                  </a:lnTo>
                  <a:close/>
                </a:path>
              </a:pathLst>
            </a:cu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" name="Freeform 16">
              <a:extLst>
                <a:ext uri="{FF2B5EF4-FFF2-40B4-BE49-F238E27FC236}">
                  <a16:creationId xmlns:a16="http://schemas.microsoft.com/office/drawing/2014/main" id="{F44E759F-510C-4DFB-A21E-5759DFD0F440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1190" y="3273"/>
              <a:ext cx="1108" cy="1047"/>
            </a:xfrm>
            <a:custGeom>
              <a:avLst/>
              <a:gdLst>
                <a:gd name="T0" fmla="*/ 784 w 1108"/>
                <a:gd name="T1" fmla="*/ 1047 h 1047"/>
                <a:gd name="T2" fmla="*/ 692 w 1108"/>
                <a:gd name="T3" fmla="*/ 1011 h 1047"/>
                <a:gd name="T4" fmla="*/ 607 w 1108"/>
                <a:gd name="T5" fmla="*/ 945 h 1047"/>
                <a:gd name="T6" fmla="*/ 517 w 1108"/>
                <a:gd name="T7" fmla="*/ 861 h 1047"/>
                <a:gd name="T8" fmla="*/ 432 w 1108"/>
                <a:gd name="T9" fmla="*/ 776 h 1047"/>
                <a:gd name="T10" fmla="*/ 350 w 1108"/>
                <a:gd name="T11" fmla="*/ 677 h 1047"/>
                <a:gd name="T12" fmla="*/ 266 w 1108"/>
                <a:gd name="T13" fmla="*/ 563 h 1047"/>
                <a:gd name="T14" fmla="*/ 188 w 1108"/>
                <a:gd name="T15" fmla="*/ 447 h 1047"/>
                <a:gd name="T16" fmla="*/ 122 w 1108"/>
                <a:gd name="T17" fmla="*/ 325 h 1047"/>
                <a:gd name="T18" fmla="*/ 65 w 1108"/>
                <a:gd name="T19" fmla="*/ 211 h 1047"/>
                <a:gd name="T20" fmla="*/ 21 w 1108"/>
                <a:gd name="T21" fmla="*/ 101 h 1047"/>
                <a:gd name="T22" fmla="*/ 0 w 1108"/>
                <a:gd name="T23" fmla="*/ 0 h 1047"/>
                <a:gd name="T24" fmla="*/ 109 w 1108"/>
                <a:gd name="T25" fmla="*/ 217 h 1047"/>
                <a:gd name="T26" fmla="*/ 209 w 1108"/>
                <a:gd name="T27" fmla="*/ 378 h 1047"/>
                <a:gd name="T28" fmla="*/ 294 w 1108"/>
                <a:gd name="T29" fmla="*/ 500 h 1047"/>
                <a:gd name="T30" fmla="*/ 373 w 1108"/>
                <a:gd name="T31" fmla="*/ 590 h 1047"/>
                <a:gd name="T32" fmla="*/ 441 w 1108"/>
                <a:gd name="T33" fmla="*/ 661 h 1047"/>
                <a:gd name="T34" fmla="*/ 506 w 1108"/>
                <a:gd name="T35" fmla="*/ 713 h 1047"/>
                <a:gd name="T36" fmla="*/ 564 w 1108"/>
                <a:gd name="T37" fmla="*/ 754 h 1047"/>
                <a:gd name="T38" fmla="*/ 620 w 1108"/>
                <a:gd name="T39" fmla="*/ 801 h 1047"/>
                <a:gd name="T40" fmla="*/ 754 w 1108"/>
                <a:gd name="T41" fmla="*/ 899 h 1047"/>
                <a:gd name="T42" fmla="*/ 925 w 1108"/>
                <a:gd name="T43" fmla="*/ 977 h 1047"/>
                <a:gd name="T44" fmla="*/ 1108 w 1108"/>
                <a:gd name="T45" fmla="*/ 1047 h 1047"/>
                <a:gd name="T46" fmla="*/ 784 w 1108"/>
                <a:gd name="T47" fmla="*/ 1047 h 1047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</a:gdLst>
              <a:ahLst/>
              <a:cxnLst>
                <a:cxn ang="T48">
                  <a:pos x="T0" y="T1"/>
                </a:cxn>
                <a:cxn ang="T49">
                  <a:pos x="T2" y="T3"/>
                </a:cxn>
                <a:cxn ang="T50">
                  <a:pos x="T4" y="T5"/>
                </a:cxn>
                <a:cxn ang="T51">
                  <a:pos x="T6" y="T7"/>
                </a:cxn>
                <a:cxn ang="T52">
                  <a:pos x="T8" y="T9"/>
                </a:cxn>
                <a:cxn ang="T53">
                  <a:pos x="T10" y="T11"/>
                </a:cxn>
                <a:cxn ang="T54">
                  <a:pos x="T12" y="T13"/>
                </a:cxn>
                <a:cxn ang="T55">
                  <a:pos x="T14" y="T15"/>
                </a:cxn>
                <a:cxn ang="T56">
                  <a:pos x="T16" y="T17"/>
                </a:cxn>
                <a:cxn ang="T57">
                  <a:pos x="T18" y="T19"/>
                </a:cxn>
                <a:cxn ang="T58">
                  <a:pos x="T20" y="T21"/>
                </a:cxn>
                <a:cxn ang="T59">
                  <a:pos x="T22" y="T23"/>
                </a:cxn>
                <a:cxn ang="T60">
                  <a:pos x="T24" y="T25"/>
                </a:cxn>
                <a:cxn ang="T61">
                  <a:pos x="T26" y="T27"/>
                </a:cxn>
                <a:cxn ang="T62">
                  <a:pos x="T28" y="T29"/>
                </a:cxn>
                <a:cxn ang="T63">
                  <a:pos x="T30" y="T31"/>
                </a:cxn>
                <a:cxn ang="T64">
                  <a:pos x="T32" y="T33"/>
                </a:cxn>
                <a:cxn ang="T65">
                  <a:pos x="T34" y="T35"/>
                </a:cxn>
                <a:cxn ang="T66">
                  <a:pos x="T36" y="T37"/>
                </a:cxn>
                <a:cxn ang="T67">
                  <a:pos x="T38" y="T39"/>
                </a:cxn>
                <a:cxn ang="T68">
                  <a:pos x="T40" y="T41"/>
                </a:cxn>
                <a:cxn ang="T69">
                  <a:pos x="T42" y="T43"/>
                </a:cxn>
                <a:cxn ang="T70">
                  <a:pos x="T44" y="T45"/>
                </a:cxn>
                <a:cxn ang="T71">
                  <a:pos x="T46" y="T47"/>
                </a:cxn>
              </a:cxnLst>
              <a:rect l="0" t="0" r="r" b="b"/>
              <a:pathLst>
                <a:path w="1108" h="1047">
                  <a:moveTo>
                    <a:pt x="784" y="1047"/>
                  </a:moveTo>
                  <a:lnTo>
                    <a:pt x="692" y="1011"/>
                  </a:lnTo>
                  <a:lnTo>
                    <a:pt x="607" y="945"/>
                  </a:lnTo>
                  <a:lnTo>
                    <a:pt x="517" y="861"/>
                  </a:lnTo>
                  <a:lnTo>
                    <a:pt x="432" y="776"/>
                  </a:lnTo>
                  <a:lnTo>
                    <a:pt x="350" y="677"/>
                  </a:lnTo>
                  <a:lnTo>
                    <a:pt x="266" y="563"/>
                  </a:lnTo>
                  <a:lnTo>
                    <a:pt x="188" y="447"/>
                  </a:lnTo>
                  <a:lnTo>
                    <a:pt x="122" y="325"/>
                  </a:lnTo>
                  <a:lnTo>
                    <a:pt x="65" y="211"/>
                  </a:lnTo>
                  <a:lnTo>
                    <a:pt x="21" y="101"/>
                  </a:lnTo>
                  <a:lnTo>
                    <a:pt x="0" y="0"/>
                  </a:lnTo>
                  <a:lnTo>
                    <a:pt x="109" y="217"/>
                  </a:lnTo>
                  <a:lnTo>
                    <a:pt x="209" y="378"/>
                  </a:lnTo>
                  <a:lnTo>
                    <a:pt x="294" y="500"/>
                  </a:lnTo>
                  <a:lnTo>
                    <a:pt x="373" y="590"/>
                  </a:lnTo>
                  <a:lnTo>
                    <a:pt x="441" y="661"/>
                  </a:lnTo>
                  <a:lnTo>
                    <a:pt x="506" y="713"/>
                  </a:lnTo>
                  <a:lnTo>
                    <a:pt x="564" y="754"/>
                  </a:lnTo>
                  <a:lnTo>
                    <a:pt x="620" y="801"/>
                  </a:lnTo>
                  <a:lnTo>
                    <a:pt x="754" y="899"/>
                  </a:lnTo>
                  <a:lnTo>
                    <a:pt x="925" y="977"/>
                  </a:lnTo>
                  <a:lnTo>
                    <a:pt x="1108" y="1047"/>
                  </a:lnTo>
                  <a:lnTo>
                    <a:pt x="784" y="1047"/>
                  </a:lnTo>
                  <a:close/>
                </a:path>
              </a:pathLst>
            </a:cu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12" name="Group 17">
              <a:extLst>
                <a:ext uri="{FF2B5EF4-FFF2-40B4-BE49-F238E27FC236}">
                  <a16:creationId xmlns:a16="http://schemas.microsoft.com/office/drawing/2014/main" id="{C1612A89-0DB3-414E-ACEF-8BA5CCFEC16F}"/>
                </a:ext>
              </a:extLst>
            </p:cNvPr>
            <p:cNvGrpSpPr>
              <a:grpSpLocks/>
            </p:cNvGrpSpPr>
            <p:nvPr userDrawn="1"/>
          </p:nvGrpSpPr>
          <p:grpSpPr bwMode="auto">
            <a:xfrm rot="3220060">
              <a:off x="2630" y="745"/>
              <a:ext cx="569" cy="636"/>
              <a:chOff x="1727" y="866"/>
              <a:chExt cx="129" cy="157"/>
            </a:xfrm>
          </p:grpSpPr>
          <p:sp>
            <p:nvSpPr>
              <p:cNvPr id="36" name="Freeform 18">
                <a:extLst>
                  <a:ext uri="{FF2B5EF4-FFF2-40B4-BE49-F238E27FC236}">
                    <a16:creationId xmlns:a16="http://schemas.microsoft.com/office/drawing/2014/main" id="{8662EE13-2775-4067-BE1E-5E481930CB01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auto">
              <a:xfrm>
                <a:off x="1727" y="866"/>
                <a:ext cx="41" cy="59"/>
              </a:xfrm>
              <a:custGeom>
                <a:avLst/>
                <a:gdLst>
                  <a:gd name="T0" fmla="*/ 41 w 83"/>
                  <a:gd name="T1" fmla="*/ 14 h 117"/>
                  <a:gd name="T2" fmla="*/ 13 w 83"/>
                  <a:gd name="T3" fmla="*/ 0 h 117"/>
                  <a:gd name="T4" fmla="*/ 0 w 83"/>
                  <a:gd name="T5" fmla="*/ 59 h 117"/>
                  <a:gd name="T6" fmla="*/ 41 w 83"/>
                  <a:gd name="T7" fmla="*/ 14 h 117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83" h="117">
                    <a:moveTo>
                      <a:pt x="83" y="28"/>
                    </a:moveTo>
                    <a:lnTo>
                      <a:pt x="27" y="0"/>
                    </a:lnTo>
                    <a:lnTo>
                      <a:pt x="0" y="117"/>
                    </a:lnTo>
                    <a:lnTo>
                      <a:pt x="83" y="28"/>
                    </a:lnTo>
                    <a:close/>
                  </a:path>
                </a:pathLst>
              </a:cu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7" name="Freeform 19">
                <a:extLst>
                  <a:ext uri="{FF2B5EF4-FFF2-40B4-BE49-F238E27FC236}">
                    <a16:creationId xmlns:a16="http://schemas.microsoft.com/office/drawing/2014/main" id="{0E4BAE42-7DCF-447A-8028-482027E186C7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auto">
              <a:xfrm>
                <a:off x="1786" y="894"/>
                <a:ext cx="70" cy="49"/>
              </a:xfrm>
              <a:custGeom>
                <a:avLst/>
                <a:gdLst>
                  <a:gd name="T0" fmla="*/ 0 w 140"/>
                  <a:gd name="T1" fmla="*/ 49 h 98"/>
                  <a:gd name="T2" fmla="*/ 59 w 140"/>
                  <a:gd name="T3" fmla="*/ 0 h 98"/>
                  <a:gd name="T4" fmla="*/ 70 w 140"/>
                  <a:gd name="T5" fmla="*/ 25 h 98"/>
                  <a:gd name="T6" fmla="*/ 0 w 140"/>
                  <a:gd name="T7" fmla="*/ 49 h 98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140" h="98">
                    <a:moveTo>
                      <a:pt x="0" y="98"/>
                    </a:moveTo>
                    <a:lnTo>
                      <a:pt x="118" y="0"/>
                    </a:lnTo>
                    <a:lnTo>
                      <a:pt x="140" y="49"/>
                    </a:lnTo>
                    <a:lnTo>
                      <a:pt x="0" y="98"/>
                    </a:lnTo>
                    <a:close/>
                  </a:path>
                </a:pathLst>
              </a:cu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8" name="Freeform 20">
                <a:extLst>
                  <a:ext uri="{FF2B5EF4-FFF2-40B4-BE49-F238E27FC236}">
                    <a16:creationId xmlns:a16="http://schemas.microsoft.com/office/drawing/2014/main" id="{A0EFE0D8-BB70-4A25-8E91-849E69677EE9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auto">
              <a:xfrm>
                <a:off x="1772" y="998"/>
                <a:ext cx="73" cy="25"/>
              </a:xfrm>
              <a:custGeom>
                <a:avLst/>
                <a:gdLst>
                  <a:gd name="T0" fmla="*/ 0 w 145"/>
                  <a:gd name="T1" fmla="*/ 4 h 49"/>
                  <a:gd name="T2" fmla="*/ 73 w 145"/>
                  <a:gd name="T3" fmla="*/ 0 h 49"/>
                  <a:gd name="T4" fmla="*/ 66 w 145"/>
                  <a:gd name="T5" fmla="*/ 25 h 49"/>
                  <a:gd name="T6" fmla="*/ 0 w 145"/>
                  <a:gd name="T7" fmla="*/ 4 h 49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145" h="49">
                    <a:moveTo>
                      <a:pt x="0" y="7"/>
                    </a:moveTo>
                    <a:lnTo>
                      <a:pt x="145" y="0"/>
                    </a:lnTo>
                    <a:lnTo>
                      <a:pt x="131" y="49"/>
                    </a:lnTo>
                    <a:lnTo>
                      <a:pt x="0" y="7"/>
                    </a:lnTo>
                    <a:close/>
                  </a:path>
                </a:pathLst>
              </a:cu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13" name="Group 21">
              <a:extLst>
                <a:ext uri="{FF2B5EF4-FFF2-40B4-BE49-F238E27FC236}">
                  <a16:creationId xmlns:a16="http://schemas.microsoft.com/office/drawing/2014/main" id="{9646E59F-F2A8-47ED-84A3-C4DDC8D88C2F}"/>
                </a:ext>
              </a:extLst>
            </p:cNvPr>
            <p:cNvGrpSpPr>
              <a:grpSpLocks/>
            </p:cNvGrpSpPr>
            <p:nvPr userDrawn="1"/>
          </p:nvGrpSpPr>
          <p:grpSpPr bwMode="auto">
            <a:xfrm rot="-6691250">
              <a:off x="3643" y="129"/>
              <a:ext cx="356" cy="608"/>
              <a:chOff x="1727" y="866"/>
              <a:chExt cx="129" cy="157"/>
            </a:xfrm>
          </p:grpSpPr>
          <p:sp>
            <p:nvSpPr>
              <p:cNvPr id="33" name="Freeform 22">
                <a:extLst>
                  <a:ext uri="{FF2B5EF4-FFF2-40B4-BE49-F238E27FC236}">
                    <a16:creationId xmlns:a16="http://schemas.microsoft.com/office/drawing/2014/main" id="{E94DBF61-7B64-4F89-B5D2-491BDA5292F1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auto">
              <a:xfrm>
                <a:off x="1728" y="866"/>
                <a:ext cx="41" cy="59"/>
              </a:xfrm>
              <a:custGeom>
                <a:avLst/>
                <a:gdLst>
                  <a:gd name="T0" fmla="*/ 41 w 83"/>
                  <a:gd name="T1" fmla="*/ 14 h 117"/>
                  <a:gd name="T2" fmla="*/ 13 w 83"/>
                  <a:gd name="T3" fmla="*/ 0 h 117"/>
                  <a:gd name="T4" fmla="*/ 0 w 83"/>
                  <a:gd name="T5" fmla="*/ 59 h 117"/>
                  <a:gd name="T6" fmla="*/ 41 w 83"/>
                  <a:gd name="T7" fmla="*/ 14 h 117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83" h="117">
                    <a:moveTo>
                      <a:pt x="83" y="28"/>
                    </a:moveTo>
                    <a:lnTo>
                      <a:pt x="27" y="0"/>
                    </a:lnTo>
                    <a:lnTo>
                      <a:pt x="0" y="117"/>
                    </a:lnTo>
                    <a:lnTo>
                      <a:pt x="83" y="28"/>
                    </a:lnTo>
                    <a:close/>
                  </a:path>
                </a:pathLst>
              </a:cu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4" name="Freeform 23">
                <a:extLst>
                  <a:ext uri="{FF2B5EF4-FFF2-40B4-BE49-F238E27FC236}">
                    <a16:creationId xmlns:a16="http://schemas.microsoft.com/office/drawing/2014/main" id="{CA0AD225-F612-4CC9-9791-1F57F21C4855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auto">
              <a:xfrm>
                <a:off x="1787" y="894"/>
                <a:ext cx="70" cy="49"/>
              </a:xfrm>
              <a:custGeom>
                <a:avLst/>
                <a:gdLst>
                  <a:gd name="T0" fmla="*/ 0 w 140"/>
                  <a:gd name="T1" fmla="*/ 49 h 98"/>
                  <a:gd name="T2" fmla="*/ 59 w 140"/>
                  <a:gd name="T3" fmla="*/ 0 h 98"/>
                  <a:gd name="T4" fmla="*/ 70 w 140"/>
                  <a:gd name="T5" fmla="*/ 25 h 98"/>
                  <a:gd name="T6" fmla="*/ 0 w 140"/>
                  <a:gd name="T7" fmla="*/ 49 h 98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140" h="98">
                    <a:moveTo>
                      <a:pt x="0" y="98"/>
                    </a:moveTo>
                    <a:lnTo>
                      <a:pt x="118" y="0"/>
                    </a:lnTo>
                    <a:lnTo>
                      <a:pt x="140" y="49"/>
                    </a:lnTo>
                    <a:lnTo>
                      <a:pt x="0" y="98"/>
                    </a:lnTo>
                    <a:close/>
                  </a:path>
                </a:pathLst>
              </a:cu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5" name="Freeform 24">
                <a:extLst>
                  <a:ext uri="{FF2B5EF4-FFF2-40B4-BE49-F238E27FC236}">
                    <a16:creationId xmlns:a16="http://schemas.microsoft.com/office/drawing/2014/main" id="{E46523A4-9B16-4D4E-8352-41DBC4D51BCD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auto">
              <a:xfrm>
                <a:off x="1772" y="998"/>
                <a:ext cx="73" cy="25"/>
              </a:xfrm>
              <a:custGeom>
                <a:avLst/>
                <a:gdLst>
                  <a:gd name="T0" fmla="*/ 0 w 145"/>
                  <a:gd name="T1" fmla="*/ 4 h 49"/>
                  <a:gd name="T2" fmla="*/ 73 w 145"/>
                  <a:gd name="T3" fmla="*/ 0 h 49"/>
                  <a:gd name="T4" fmla="*/ 66 w 145"/>
                  <a:gd name="T5" fmla="*/ 25 h 49"/>
                  <a:gd name="T6" fmla="*/ 0 w 145"/>
                  <a:gd name="T7" fmla="*/ 4 h 49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145" h="49">
                    <a:moveTo>
                      <a:pt x="0" y="7"/>
                    </a:moveTo>
                    <a:lnTo>
                      <a:pt x="145" y="0"/>
                    </a:lnTo>
                    <a:lnTo>
                      <a:pt x="131" y="49"/>
                    </a:lnTo>
                    <a:lnTo>
                      <a:pt x="0" y="7"/>
                    </a:lnTo>
                    <a:close/>
                  </a:path>
                </a:pathLst>
              </a:cu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14" name="Group 25">
              <a:extLst>
                <a:ext uri="{FF2B5EF4-FFF2-40B4-BE49-F238E27FC236}">
                  <a16:creationId xmlns:a16="http://schemas.microsoft.com/office/drawing/2014/main" id="{099AA8F2-81D9-428A-927E-4144CE261DF4}"/>
                </a:ext>
              </a:extLst>
            </p:cNvPr>
            <p:cNvGrpSpPr>
              <a:grpSpLocks/>
            </p:cNvGrpSpPr>
            <p:nvPr userDrawn="1"/>
          </p:nvGrpSpPr>
          <p:grpSpPr bwMode="auto">
            <a:xfrm rot="8524840">
              <a:off x="673" y="3302"/>
              <a:ext cx="500" cy="504"/>
              <a:chOff x="1727" y="866"/>
              <a:chExt cx="129" cy="157"/>
            </a:xfrm>
          </p:grpSpPr>
          <p:sp>
            <p:nvSpPr>
              <p:cNvPr id="30" name="Freeform 26">
                <a:extLst>
                  <a:ext uri="{FF2B5EF4-FFF2-40B4-BE49-F238E27FC236}">
                    <a16:creationId xmlns:a16="http://schemas.microsoft.com/office/drawing/2014/main" id="{E201D366-23E1-4C7F-B0FC-54A4A748914E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auto">
              <a:xfrm>
                <a:off x="1727" y="867"/>
                <a:ext cx="41" cy="59"/>
              </a:xfrm>
              <a:custGeom>
                <a:avLst/>
                <a:gdLst>
                  <a:gd name="T0" fmla="*/ 41 w 83"/>
                  <a:gd name="T1" fmla="*/ 14 h 117"/>
                  <a:gd name="T2" fmla="*/ 13 w 83"/>
                  <a:gd name="T3" fmla="*/ 0 h 117"/>
                  <a:gd name="T4" fmla="*/ 0 w 83"/>
                  <a:gd name="T5" fmla="*/ 59 h 117"/>
                  <a:gd name="T6" fmla="*/ 41 w 83"/>
                  <a:gd name="T7" fmla="*/ 14 h 117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83" h="117">
                    <a:moveTo>
                      <a:pt x="83" y="28"/>
                    </a:moveTo>
                    <a:lnTo>
                      <a:pt x="27" y="0"/>
                    </a:lnTo>
                    <a:lnTo>
                      <a:pt x="0" y="117"/>
                    </a:lnTo>
                    <a:lnTo>
                      <a:pt x="83" y="28"/>
                    </a:lnTo>
                    <a:close/>
                  </a:path>
                </a:pathLst>
              </a:cu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1" name="Freeform 27">
                <a:extLst>
                  <a:ext uri="{FF2B5EF4-FFF2-40B4-BE49-F238E27FC236}">
                    <a16:creationId xmlns:a16="http://schemas.microsoft.com/office/drawing/2014/main" id="{8C12DC0C-B72B-4B71-B4B3-5DD34272297E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auto">
              <a:xfrm>
                <a:off x="1786" y="895"/>
                <a:ext cx="70" cy="49"/>
              </a:xfrm>
              <a:custGeom>
                <a:avLst/>
                <a:gdLst>
                  <a:gd name="T0" fmla="*/ 0 w 140"/>
                  <a:gd name="T1" fmla="*/ 49 h 98"/>
                  <a:gd name="T2" fmla="*/ 59 w 140"/>
                  <a:gd name="T3" fmla="*/ 0 h 98"/>
                  <a:gd name="T4" fmla="*/ 70 w 140"/>
                  <a:gd name="T5" fmla="*/ 25 h 98"/>
                  <a:gd name="T6" fmla="*/ 0 w 140"/>
                  <a:gd name="T7" fmla="*/ 49 h 98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140" h="98">
                    <a:moveTo>
                      <a:pt x="0" y="98"/>
                    </a:moveTo>
                    <a:lnTo>
                      <a:pt x="118" y="0"/>
                    </a:lnTo>
                    <a:lnTo>
                      <a:pt x="140" y="49"/>
                    </a:lnTo>
                    <a:lnTo>
                      <a:pt x="0" y="98"/>
                    </a:lnTo>
                    <a:close/>
                  </a:path>
                </a:pathLst>
              </a:cu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2" name="Freeform 28">
                <a:extLst>
                  <a:ext uri="{FF2B5EF4-FFF2-40B4-BE49-F238E27FC236}">
                    <a16:creationId xmlns:a16="http://schemas.microsoft.com/office/drawing/2014/main" id="{CC86395F-79CC-4596-B797-82302E064142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auto">
              <a:xfrm>
                <a:off x="1772" y="998"/>
                <a:ext cx="73" cy="25"/>
              </a:xfrm>
              <a:custGeom>
                <a:avLst/>
                <a:gdLst>
                  <a:gd name="T0" fmla="*/ 0 w 145"/>
                  <a:gd name="T1" fmla="*/ 4 h 49"/>
                  <a:gd name="T2" fmla="*/ 73 w 145"/>
                  <a:gd name="T3" fmla="*/ 0 h 49"/>
                  <a:gd name="T4" fmla="*/ 66 w 145"/>
                  <a:gd name="T5" fmla="*/ 25 h 49"/>
                  <a:gd name="T6" fmla="*/ 0 w 145"/>
                  <a:gd name="T7" fmla="*/ 4 h 49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145" h="49">
                    <a:moveTo>
                      <a:pt x="0" y="7"/>
                    </a:moveTo>
                    <a:lnTo>
                      <a:pt x="145" y="0"/>
                    </a:lnTo>
                    <a:lnTo>
                      <a:pt x="131" y="49"/>
                    </a:lnTo>
                    <a:lnTo>
                      <a:pt x="0" y="7"/>
                    </a:lnTo>
                    <a:close/>
                  </a:path>
                </a:pathLst>
              </a:cu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15" name="Group 29">
              <a:extLst>
                <a:ext uri="{FF2B5EF4-FFF2-40B4-BE49-F238E27FC236}">
                  <a16:creationId xmlns:a16="http://schemas.microsoft.com/office/drawing/2014/main" id="{45E751AC-2797-46B9-9625-C1E1619146DA}"/>
                </a:ext>
              </a:extLst>
            </p:cNvPr>
            <p:cNvGrpSpPr>
              <a:grpSpLocks/>
            </p:cNvGrpSpPr>
            <p:nvPr userDrawn="1"/>
          </p:nvGrpSpPr>
          <p:grpSpPr bwMode="auto">
            <a:xfrm rot="4106450" flipH="1">
              <a:off x="398" y="266"/>
              <a:ext cx="708" cy="891"/>
              <a:chOff x="1727" y="866"/>
              <a:chExt cx="129" cy="157"/>
            </a:xfrm>
          </p:grpSpPr>
          <p:sp>
            <p:nvSpPr>
              <p:cNvPr id="27" name="Freeform 30">
                <a:extLst>
                  <a:ext uri="{FF2B5EF4-FFF2-40B4-BE49-F238E27FC236}">
                    <a16:creationId xmlns:a16="http://schemas.microsoft.com/office/drawing/2014/main" id="{43615389-A9C8-4C28-93D5-D17F6AFB94F9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auto">
              <a:xfrm>
                <a:off x="1727" y="866"/>
                <a:ext cx="41" cy="59"/>
              </a:xfrm>
              <a:custGeom>
                <a:avLst/>
                <a:gdLst>
                  <a:gd name="T0" fmla="*/ 41 w 83"/>
                  <a:gd name="T1" fmla="*/ 14 h 117"/>
                  <a:gd name="T2" fmla="*/ 13 w 83"/>
                  <a:gd name="T3" fmla="*/ 0 h 117"/>
                  <a:gd name="T4" fmla="*/ 0 w 83"/>
                  <a:gd name="T5" fmla="*/ 59 h 117"/>
                  <a:gd name="T6" fmla="*/ 41 w 83"/>
                  <a:gd name="T7" fmla="*/ 14 h 117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83" h="117">
                    <a:moveTo>
                      <a:pt x="83" y="28"/>
                    </a:moveTo>
                    <a:lnTo>
                      <a:pt x="27" y="0"/>
                    </a:lnTo>
                    <a:lnTo>
                      <a:pt x="0" y="117"/>
                    </a:lnTo>
                    <a:lnTo>
                      <a:pt x="83" y="28"/>
                    </a:lnTo>
                    <a:close/>
                  </a:path>
                </a:pathLst>
              </a:cu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8" name="Freeform 31">
                <a:extLst>
                  <a:ext uri="{FF2B5EF4-FFF2-40B4-BE49-F238E27FC236}">
                    <a16:creationId xmlns:a16="http://schemas.microsoft.com/office/drawing/2014/main" id="{8AC58DF6-D78D-452C-8039-DE80E393B63B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auto">
              <a:xfrm>
                <a:off x="1786" y="894"/>
                <a:ext cx="70" cy="49"/>
              </a:xfrm>
              <a:custGeom>
                <a:avLst/>
                <a:gdLst>
                  <a:gd name="T0" fmla="*/ 0 w 140"/>
                  <a:gd name="T1" fmla="*/ 49 h 98"/>
                  <a:gd name="T2" fmla="*/ 59 w 140"/>
                  <a:gd name="T3" fmla="*/ 0 h 98"/>
                  <a:gd name="T4" fmla="*/ 70 w 140"/>
                  <a:gd name="T5" fmla="*/ 25 h 98"/>
                  <a:gd name="T6" fmla="*/ 0 w 140"/>
                  <a:gd name="T7" fmla="*/ 49 h 98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140" h="98">
                    <a:moveTo>
                      <a:pt x="0" y="98"/>
                    </a:moveTo>
                    <a:lnTo>
                      <a:pt x="118" y="0"/>
                    </a:lnTo>
                    <a:lnTo>
                      <a:pt x="140" y="49"/>
                    </a:lnTo>
                    <a:lnTo>
                      <a:pt x="0" y="98"/>
                    </a:lnTo>
                    <a:close/>
                  </a:path>
                </a:pathLst>
              </a:cu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9" name="Freeform 32">
                <a:extLst>
                  <a:ext uri="{FF2B5EF4-FFF2-40B4-BE49-F238E27FC236}">
                    <a16:creationId xmlns:a16="http://schemas.microsoft.com/office/drawing/2014/main" id="{9149F60A-7394-4418-8EB9-76F9B96DC8BF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auto">
              <a:xfrm>
                <a:off x="1772" y="998"/>
                <a:ext cx="73" cy="25"/>
              </a:xfrm>
              <a:custGeom>
                <a:avLst/>
                <a:gdLst>
                  <a:gd name="T0" fmla="*/ 0 w 145"/>
                  <a:gd name="T1" fmla="*/ 4 h 49"/>
                  <a:gd name="T2" fmla="*/ 73 w 145"/>
                  <a:gd name="T3" fmla="*/ 0 h 49"/>
                  <a:gd name="T4" fmla="*/ 66 w 145"/>
                  <a:gd name="T5" fmla="*/ 25 h 49"/>
                  <a:gd name="T6" fmla="*/ 0 w 145"/>
                  <a:gd name="T7" fmla="*/ 4 h 49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145" h="49">
                    <a:moveTo>
                      <a:pt x="0" y="7"/>
                    </a:moveTo>
                    <a:lnTo>
                      <a:pt x="145" y="0"/>
                    </a:lnTo>
                    <a:lnTo>
                      <a:pt x="131" y="49"/>
                    </a:lnTo>
                    <a:lnTo>
                      <a:pt x="0" y="7"/>
                    </a:lnTo>
                    <a:close/>
                  </a:path>
                </a:pathLst>
              </a:cu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16" name="Group 33">
              <a:extLst>
                <a:ext uri="{FF2B5EF4-FFF2-40B4-BE49-F238E27FC236}">
                  <a16:creationId xmlns:a16="http://schemas.microsoft.com/office/drawing/2014/main" id="{2CF59D6F-BC3A-4491-BCCC-2B63B21BFC17}"/>
                </a:ext>
              </a:extLst>
            </p:cNvPr>
            <p:cNvGrpSpPr>
              <a:grpSpLocks/>
            </p:cNvGrpSpPr>
            <p:nvPr userDrawn="1"/>
          </p:nvGrpSpPr>
          <p:grpSpPr bwMode="auto">
            <a:xfrm rot="10015322" flipH="1">
              <a:off x="4614" y="2392"/>
              <a:ext cx="708" cy="891"/>
              <a:chOff x="1727" y="866"/>
              <a:chExt cx="129" cy="157"/>
            </a:xfrm>
          </p:grpSpPr>
          <p:sp>
            <p:nvSpPr>
              <p:cNvPr id="24" name="Freeform 34">
                <a:extLst>
                  <a:ext uri="{FF2B5EF4-FFF2-40B4-BE49-F238E27FC236}">
                    <a16:creationId xmlns:a16="http://schemas.microsoft.com/office/drawing/2014/main" id="{FA24E52A-513F-47A0-92CA-8D991158F45E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auto">
              <a:xfrm>
                <a:off x="1727" y="866"/>
                <a:ext cx="41" cy="59"/>
              </a:xfrm>
              <a:custGeom>
                <a:avLst/>
                <a:gdLst>
                  <a:gd name="T0" fmla="*/ 41 w 83"/>
                  <a:gd name="T1" fmla="*/ 14 h 117"/>
                  <a:gd name="T2" fmla="*/ 13 w 83"/>
                  <a:gd name="T3" fmla="*/ 0 h 117"/>
                  <a:gd name="T4" fmla="*/ 0 w 83"/>
                  <a:gd name="T5" fmla="*/ 59 h 117"/>
                  <a:gd name="T6" fmla="*/ 41 w 83"/>
                  <a:gd name="T7" fmla="*/ 14 h 117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83" h="117">
                    <a:moveTo>
                      <a:pt x="83" y="28"/>
                    </a:moveTo>
                    <a:lnTo>
                      <a:pt x="27" y="0"/>
                    </a:lnTo>
                    <a:lnTo>
                      <a:pt x="0" y="117"/>
                    </a:lnTo>
                    <a:lnTo>
                      <a:pt x="83" y="28"/>
                    </a:lnTo>
                    <a:close/>
                  </a:path>
                </a:pathLst>
              </a:cu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5" name="Freeform 35">
                <a:extLst>
                  <a:ext uri="{FF2B5EF4-FFF2-40B4-BE49-F238E27FC236}">
                    <a16:creationId xmlns:a16="http://schemas.microsoft.com/office/drawing/2014/main" id="{9ACF2CA0-127C-429D-B063-7C0F38480335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auto">
              <a:xfrm>
                <a:off x="1786" y="894"/>
                <a:ext cx="70" cy="49"/>
              </a:xfrm>
              <a:custGeom>
                <a:avLst/>
                <a:gdLst>
                  <a:gd name="T0" fmla="*/ 0 w 140"/>
                  <a:gd name="T1" fmla="*/ 49 h 98"/>
                  <a:gd name="T2" fmla="*/ 59 w 140"/>
                  <a:gd name="T3" fmla="*/ 0 h 98"/>
                  <a:gd name="T4" fmla="*/ 70 w 140"/>
                  <a:gd name="T5" fmla="*/ 25 h 98"/>
                  <a:gd name="T6" fmla="*/ 0 w 140"/>
                  <a:gd name="T7" fmla="*/ 49 h 98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140" h="98">
                    <a:moveTo>
                      <a:pt x="0" y="98"/>
                    </a:moveTo>
                    <a:lnTo>
                      <a:pt x="118" y="0"/>
                    </a:lnTo>
                    <a:lnTo>
                      <a:pt x="140" y="49"/>
                    </a:lnTo>
                    <a:lnTo>
                      <a:pt x="0" y="98"/>
                    </a:lnTo>
                    <a:close/>
                  </a:path>
                </a:pathLst>
              </a:cu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6" name="Freeform 36">
                <a:extLst>
                  <a:ext uri="{FF2B5EF4-FFF2-40B4-BE49-F238E27FC236}">
                    <a16:creationId xmlns:a16="http://schemas.microsoft.com/office/drawing/2014/main" id="{E3CCF3CE-B115-47B6-BAA9-65A0AD92AA83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auto">
              <a:xfrm>
                <a:off x="1772" y="998"/>
                <a:ext cx="73" cy="25"/>
              </a:xfrm>
              <a:custGeom>
                <a:avLst/>
                <a:gdLst>
                  <a:gd name="T0" fmla="*/ 0 w 145"/>
                  <a:gd name="T1" fmla="*/ 4 h 49"/>
                  <a:gd name="T2" fmla="*/ 73 w 145"/>
                  <a:gd name="T3" fmla="*/ 0 h 49"/>
                  <a:gd name="T4" fmla="*/ 66 w 145"/>
                  <a:gd name="T5" fmla="*/ 25 h 49"/>
                  <a:gd name="T6" fmla="*/ 0 w 145"/>
                  <a:gd name="T7" fmla="*/ 4 h 49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145" h="49">
                    <a:moveTo>
                      <a:pt x="0" y="7"/>
                    </a:moveTo>
                    <a:lnTo>
                      <a:pt x="145" y="0"/>
                    </a:lnTo>
                    <a:lnTo>
                      <a:pt x="131" y="49"/>
                    </a:lnTo>
                    <a:lnTo>
                      <a:pt x="0" y="7"/>
                    </a:lnTo>
                    <a:close/>
                  </a:path>
                </a:pathLst>
              </a:cu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17" name="Freeform 37">
              <a:extLst>
                <a:ext uri="{FF2B5EF4-FFF2-40B4-BE49-F238E27FC236}">
                  <a16:creationId xmlns:a16="http://schemas.microsoft.com/office/drawing/2014/main" id="{134468FE-E09D-4839-B7EA-B50AB7FF6276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1217" y="2"/>
              <a:ext cx="862" cy="886"/>
            </a:xfrm>
            <a:custGeom>
              <a:avLst/>
              <a:gdLst>
                <a:gd name="T0" fmla="*/ 0 w 862"/>
                <a:gd name="T1" fmla="*/ 0 h 886"/>
                <a:gd name="T2" fmla="*/ 6 w 862"/>
                <a:gd name="T3" fmla="*/ 107 h 886"/>
                <a:gd name="T4" fmla="*/ 37 w 862"/>
                <a:gd name="T5" fmla="*/ 262 h 886"/>
                <a:gd name="T6" fmla="*/ 83 w 862"/>
                <a:gd name="T7" fmla="*/ 410 h 886"/>
                <a:gd name="T8" fmla="*/ 149 w 862"/>
                <a:gd name="T9" fmla="*/ 546 h 886"/>
                <a:gd name="T10" fmla="*/ 237 w 862"/>
                <a:gd name="T11" fmla="*/ 666 h 886"/>
                <a:gd name="T12" fmla="*/ 338 w 862"/>
                <a:gd name="T13" fmla="*/ 764 h 886"/>
                <a:gd name="T14" fmla="*/ 450 w 862"/>
                <a:gd name="T15" fmla="*/ 838 h 886"/>
                <a:gd name="T16" fmla="*/ 579 w 862"/>
                <a:gd name="T17" fmla="*/ 879 h 886"/>
                <a:gd name="T18" fmla="*/ 714 w 862"/>
                <a:gd name="T19" fmla="*/ 886 h 886"/>
                <a:gd name="T20" fmla="*/ 862 w 862"/>
                <a:gd name="T21" fmla="*/ 851 h 886"/>
                <a:gd name="T22" fmla="*/ 784 w 862"/>
                <a:gd name="T23" fmla="*/ 856 h 886"/>
                <a:gd name="T24" fmla="*/ 700 w 862"/>
                <a:gd name="T25" fmla="*/ 835 h 886"/>
                <a:gd name="T26" fmla="*/ 621 w 862"/>
                <a:gd name="T27" fmla="*/ 794 h 886"/>
                <a:gd name="T28" fmla="*/ 542 w 862"/>
                <a:gd name="T29" fmla="*/ 728 h 886"/>
                <a:gd name="T30" fmla="*/ 466 w 862"/>
                <a:gd name="T31" fmla="*/ 649 h 886"/>
                <a:gd name="T32" fmla="*/ 397 w 862"/>
                <a:gd name="T33" fmla="*/ 557 h 886"/>
                <a:gd name="T34" fmla="*/ 334 w 862"/>
                <a:gd name="T35" fmla="*/ 454 h 886"/>
                <a:gd name="T36" fmla="*/ 279 w 862"/>
                <a:gd name="T37" fmla="*/ 339 h 886"/>
                <a:gd name="T38" fmla="*/ 238 w 862"/>
                <a:gd name="T39" fmla="*/ 225 h 886"/>
                <a:gd name="T40" fmla="*/ 205 w 862"/>
                <a:gd name="T41" fmla="*/ 105 h 886"/>
                <a:gd name="T42" fmla="*/ 184 w 862"/>
                <a:gd name="T43" fmla="*/ 3 h 88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</a:gdLst>
              <a:ahLst/>
              <a:cxnLst>
                <a:cxn ang="T44">
                  <a:pos x="T0" y="T1"/>
                </a:cxn>
                <a:cxn ang="T45">
                  <a:pos x="T2" y="T3"/>
                </a:cxn>
                <a:cxn ang="T46">
                  <a:pos x="T4" y="T5"/>
                </a:cxn>
                <a:cxn ang="T47">
                  <a:pos x="T6" y="T7"/>
                </a:cxn>
                <a:cxn ang="T48">
                  <a:pos x="T8" y="T9"/>
                </a:cxn>
                <a:cxn ang="T49">
                  <a:pos x="T10" y="T11"/>
                </a:cxn>
                <a:cxn ang="T50">
                  <a:pos x="T12" y="T13"/>
                </a:cxn>
                <a:cxn ang="T51">
                  <a:pos x="T14" y="T15"/>
                </a:cxn>
                <a:cxn ang="T52">
                  <a:pos x="T16" y="T17"/>
                </a:cxn>
                <a:cxn ang="T53">
                  <a:pos x="T18" y="T19"/>
                </a:cxn>
                <a:cxn ang="T54">
                  <a:pos x="T20" y="T21"/>
                </a:cxn>
                <a:cxn ang="T55">
                  <a:pos x="T22" y="T23"/>
                </a:cxn>
                <a:cxn ang="T56">
                  <a:pos x="T24" y="T25"/>
                </a:cxn>
                <a:cxn ang="T57">
                  <a:pos x="T26" y="T27"/>
                </a:cxn>
                <a:cxn ang="T58">
                  <a:pos x="T28" y="T29"/>
                </a:cxn>
                <a:cxn ang="T59">
                  <a:pos x="T30" y="T31"/>
                </a:cxn>
                <a:cxn ang="T60">
                  <a:pos x="T32" y="T33"/>
                </a:cxn>
                <a:cxn ang="T61">
                  <a:pos x="T34" y="T35"/>
                </a:cxn>
                <a:cxn ang="T62">
                  <a:pos x="T36" y="T37"/>
                </a:cxn>
                <a:cxn ang="T63">
                  <a:pos x="T38" y="T39"/>
                </a:cxn>
                <a:cxn ang="T64">
                  <a:pos x="T40" y="T41"/>
                </a:cxn>
                <a:cxn ang="T65">
                  <a:pos x="T42" y="T43"/>
                </a:cxn>
              </a:cxnLst>
              <a:rect l="0" t="0" r="r" b="b"/>
              <a:pathLst>
                <a:path w="862" h="886">
                  <a:moveTo>
                    <a:pt x="0" y="0"/>
                  </a:moveTo>
                  <a:lnTo>
                    <a:pt x="6" y="107"/>
                  </a:lnTo>
                  <a:lnTo>
                    <a:pt x="37" y="262"/>
                  </a:lnTo>
                  <a:lnTo>
                    <a:pt x="83" y="410"/>
                  </a:lnTo>
                  <a:lnTo>
                    <a:pt x="149" y="546"/>
                  </a:lnTo>
                  <a:lnTo>
                    <a:pt x="237" y="666"/>
                  </a:lnTo>
                  <a:lnTo>
                    <a:pt x="338" y="764"/>
                  </a:lnTo>
                  <a:lnTo>
                    <a:pt x="450" y="838"/>
                  </a:lnTo>
                  <a:lnTo>
                    <a:pt x="579" y="879"/>
                  </a:lnTo>
                  <a:lnTo>
                    <a:pt x="714" y="886"/>
                  </a:lnTo>
                  <a:lnTo>
                    <a:pt x="862" y="851"/>
                  </a:lnTo>
                  <a:lnTo>
                    <a:pt x="784" y="856"/>
                  </a:lnTo>
                  <a:lnTo>
                    <a:pt x="700" y="835"/>
                  </a:lnTo>
                  <a:lnTo>
                    <a:pt x="621" y="794"/>
                  </a:lnTo>
                  <a:lnTo>
                    <a:pt x="542" y="728"/>
                  </a:lnTo>
                  <a:lnTo>
                    <a:pt x="466" y="649"/>
                  </a:lnTo>
                  <a:lnTo>
                    <a:pt x="397" y="557"/>
                  </a:lnTo>
                  <a:lnTo>
                    <a:pt x="334" y="454"/>
                  </a:lnTo>
                  <a:lnTo>
                    <a:pt x="279" y="339"/>
                  </a:lnTo>
                  <a:lnTo>
                    <a:pt x="238" y="225"/>
                  </a:lnTo>
                  <a:lnTo>
                    <a:pt x="205" y="105"/>
                  </a:lnTo>
                  <a:lnTo>
                    <a:pt x="184" y="3"/>
                  </a:lnTo>
                </a:path>
              </a:pathLst>
            </a:cu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" name="Freeform 38">
              <a:extLst>
                <a:ext uri="{FF2B5EF4-FFF2-40B4-BE49-F238E27FC236}">
                  <a16:creationId xmlns:a16="http://schemas.microsoft.com/office/drawing/2014/main" id="{35400560-CD32-48E7-A5A7-07D0049E9EAB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 rot="9832527" flipV="1">
              <a:off x="2158" y="102"/>
              <a:ext cx="681" cy="593"/>
            </a:xfrm>
            <a:custGeom>
              <a:avLst/>
              <a:gdLst>
                <a:gd name="T0" fmla="*/ 0 w 257"/>
                <a:gd name="T1" fmla="*/ 0 h 237"/>
                <a:gd name="T2" fmla="*/ 0 w 257"/>
                <a:gd name="T3" fmla="*/ 63 h 237"/>
                <a:gd name="T4" fmla="*/ 8 w 257"/>
                <a:gd name="T5" fmla="*/ 125 h 237"/>
                <a:gd name="T6" fmla="*/ 16 w 257"/>
                <a:gd name="T7" fmla="*/ 188 h 237"/>
                <a:gd name="T8" fmla="*/ 29 w 257"/>
                <a:gd name="T9" fmla="*/ 245 h 237"/>
                <a:gd name="T10" fmla="*/ 48 w 257"/>
                <a:gd name="T11" fmla="*/ 298 h 237"/>
                <a:gd name="T12" fmla="*/ 72 w 257"/>
                <a:gd name="T13" fmla="*/ 353 h 237"/>
                <a:gd name="T14" fmla="*/ 101 w 257"/>
                <a:gd name="T15" fmla="*/ 403 h 237"/>
                <a:gd name="T16" fmla="*/ 135 w 257"/>
                <a:gd name="T17" fmla="*/ 445 h 237"/>
                <a:gd name="T18" fmla="*/ 178 w 257"/>
                <a:gd name="T19" fmla="*/ 485 h 237"/>
                <a:gd name="T20" fmla="*/ 228 w 257"/>
                <a:gd name="T21" fmla="*/ 520 h 237"/>
                <a:gd name="T22" fmla="*/ 281 w 257"/>
                <a:gd name="T23" fmla="*/ 548 h 237"/>
                <a:gd name="T24" fmla="*/ 347 w 257"/>
                <a:gd name="T25" fmla="*/ 570 h 237"/>
                <a:gd name="T26" fmla="*/ 419 w 257"/>
                <a:gd name="T27" fmla="*/ 585 h 237"/>
                <a:gd name="T28" fmla="*/ 498 w 257"/>
                <a:gd name="T29" fmla="*/ 593 h 237"/>
                <a:gd name="T30" fmla="*/ 583 w 257"/>
                <a:gd name="T31" fmla="*/ 590 h 237"/>
                <a:gd name="T32" fmla="*/ 681 w 257"/>
                <a:gd name="T33" fmla="*/ 580 h 237"/>
                <a:gd name="T34" fmla="*/ 594 w 257"/>
                <a:gd name="T35" fmla="*/ 568 h 237"/>
                <a:gd name="T36" fmla="*/ 517 w 257"/>
                <a:gd name="T37" fmla="*/ 550 h 237"/>
                <a:gd name="T38" fmla="*/ 450 w 257"/>
                <a:gd name="T39" fmla="*/ 530 h 237"/>
                <a:gd name="T40" fmla="*/ 392 w 257"/>
                <a:gd name="T41" fmla="*/ 510 h 237"/>
                <a:gd name="T42" fmla="*/ 339 w 257"/>
                <a:gd name="T43" fmla="*/ 483 h 237"/>
                <a:gd name="T44" fmla="*/ 297 w 257"/>
                <a:gd name="T45" fmla="*/ 455 h 237"/>
                <a:gd name="T46" fmla="*/ 257 w 257"/>
                <a:gd name="T47" fmla="*/ 423 h 237"/>
                <a:gd name="T48" fmla="*/ 223 w 257"/>
                <a:gd name="T49" fmla="*/ 388 h 237"/>
                <a:gd name="T50" fmla="*/ 191 w 257"/>
                <a:gd name="T51" fmla="*/ 353 h 237"/>
                <a:gd name="T52" fmla="*/ 162 w 257"/>
                <a:gd name="T53" fmla="*/ 313 h 237"/>
                <a:gd name="T54" fmla="*/ 138 w 257"/>
                <a:gd name="T55" fmla="*/ 268 h 237"/>
                <a:gd name="T56" fmla="*/ 114 w 257"/>
                <a:gd name="T57" fmla="*/ 220 h 237"/>
                <a:gd name="T58" fmla="*/ 87 w 257"/>
                <a:gd name="T59" fmla="*/ 173 h 237"/>
                <a:gd name="T60" fmla="*/ 61 w 257"/>
                <a:gd name="T61" fmla="*/ 118 h 237"/>
                <a:gd name="T62" fmla="*/ 32 w 257"/>
                <a:gd name="T63" fmla="*/ 60 h 237"/>
                <a:gd name="T64" fmla="*/ 0 w 257"/>
                <a:gd name="T65" fmla="*/ 0 h 237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</a:gdLst>
              <a:ahLst/>
              <a:cxnLst>
                <a:cxn ang="T66">
                  <a:pos x="T0" y="T1"/>
                </a:cxn>
                <a:cxn ang="T67">
                  <a:pos x="T2" y="T3"/>
                </a:cxn>
                <a:cxn ang="T68">
                  <a:pos x="T4" y="T5"/>
                </a:cxn>
                <a:cxn ang="T69">
                  <a:pos x="T6" y="T7"/>
                </a:cxn>
                <a:cxn ang="T70">
                  <a:pos x="T8" y="T9"/>
                </a:cxn>
                <a:cxn ang="T71">
                  <a:pos x="T10" y="T11"/>
                </a:cxn>
                <a:cxn ang="T72">
                  <a:pos x="T12" y="T13"/>
                </a:cxn>
                <a:cxn ang="T73">
                  <a:pos x="T14" y="T15"/>
                </a:cxn>
                <a:cxn ang="T74">
                  <a:pos x="T16" y="T17"/>
                </a:cxn>
                <a:cxn ang="T75">
                  <a:pos x="T18" y="T19"/>
                </a:cxn>
                <a:cxn ang="T76">
                  <a:pos x="T20" y="T21"/>
                </a:cxn>
                <a:cxn ang="T77">
                  <a:pos x="T22" y="T23"/>
                </a:cxn>
                <a:cxn ang="T78">
                  <a:pos x="T24" y="T25"/>
                </a:cxn>
                <a:cxn ang="T79">
                  <a:pos x="T26" y="T27"/>
                </a:cxn>
                <a:cxn ang="T80">
                  <a:pos x="T28" y="T29"/>
                </a:cxn>
                <a:cxn ang="T81">
                  <a:pos x="T30" y="T31"/>
                </a:cxn>
                <a:cxn ang="T82">
                  <a:pos x="T32" y="T33"/>
                </a:cxn>
                <a:cxn ang="T83">
                  <a:pos x="T34" y="T35"/>
                </a:cxn>
                <a:cxn ang="T84">
                  <a:pos x="T36" y="T37"/>
                </a:cxn>
                <a:cxn ang="T85">
                  <a:pos x="T38" y="T39"/>
                </a:cxn>
                <a:cxn ang="T86">
                  <a:pos x="T40" y="T41"/>
                </a:cxn>
                <a:cxn ang="T87">
                  <a:pos x="T42" y="T43"/>
                </a:cxn>
                <a:cxn ang="T88">
                  <a:pos x="T44" y="T45"/>
                </a:cxn>
                <a:cxn ang="T89">
                  <a:pos x="T46" y="T47"/>
                </a:cxn>
                <a:cxn ang="T90">
                  <a:pos x="T48" y="T49"/>
                </a:cxn>
                <a:cxn ang="T91">
                  <a:pos x="T50" y="T51"/>
                </a:cxn>
                <a:cxn ang="T92">
                  <a:pos x="T52" y="T53"/>
                </a:cxn>
                <a:cxn ang="T93">
                  <a:pos x="T54" y="T55"/>
                </a:cxn>
                <a:cxn ang="T94">
                  <a:pos x="T56" y="T57"/>
                </a:cxn>
                <a:cxn ang="T95">
                  <a:pos x="T58" y="T59"/>
                </a:cxn>
                <a:cxn ang="T96">
                  <a:pos x="T60" y="T61"/>
                </a:cxn>
                <a:cxn ang="T97">
                  <a:pos x="T62" y="T63"/>
                </a:cxn>
                <a:cxn ang="T98">
                  <a:pos x="T64" y="T65"/>
                </a:cxn>
              </a:cxnLst>
              <a:rect l="0" t="0" r="r" b="b"/>
              <a:pathLst>
                <a:path w="257" h="237">
                  <a:moveTo>
                    <a:pt x="0" y="0"/>
                  </a:moveTo>
                  <a:lnTo>
                    <a:pt x="0" y="25"/>
                  </a:lnTo>
                  <a:lnTo>
                    <a:pt x="3" y="50"/>
                  </a:lnTo>
                  <a:lnTo>
                    <a:pt x="6" y="75"/>
                  </a:lnTo>
                  <a:lnTo>
                    <a:pt x="11" y="98"/>
                  </a:lnTo>
                  <a:lnTo>
                    <a:pt x="18" y="119"/>
                  </a:lnTo>
                  <a:lnTo>
                    <a:pt x="27" y="141"/>
                  </a:lnTo>
                  <a:lnTo>
                    <a:pt x="38" y="161"/>
                  </a:lnTo>
                  <a:lnTo>
                    <a:pt x="51" y="178"/>
                  </a:lnTo>
                  <a:lnTo>
                    <a:pt x="67" y="194"/>
                  </a:lnTo>
                  <a:lnTo>
                    <a:pt x="86" y="208"/>
                  </a:lnTo>
                  <a:lnTo>
                    <a:pt x="106" y="219"/>
                  </a:lnTo>
                  <a:lnTo>
                    <a:pt x="131" y="228"/>
                  </a:lnTo>
                  <a:lnTo>
                    <a:pt x="158" y="234"/>
                  </a:lnTo>
                  <a:lnTo>
                    <a:pt x="188" y="237"/>
                  </a:lnTo>
                  <a:lnTo>
                    <a:pt x="220" y="236"/>
                  </a:lnTo>
                  <a:lnTo>
                    <a:pt x="257" y="232"/>
                  </a:lnTo>
                  <a:lnTo>
                    <a:pt x="224" y="227"/>
                  </a:lnTo>
                  <a:lnTo>
                    <a:pt x="195" y="220"/>
                  </a:lnTo>
                  <a:lnTo>
                    <a:pt x="170" y="212"/>
                  </a:lnTo>
                  <a:lnTo>
                    <a:pt x="148" y="204"/>
                  </a:lnTo>
                  <a:lnTo>
                    <a:pt x="128" y="193"/>
                  </a:lnTo>
                  <a:lnTo>
                    <a:pt x="112" y="182"/>
                  </a:lnTo>
                  <a:lnTo>
                    <a:pt x="97" y="169"/>
                  </a:lnTo>
                  <a:lnTo>
                    <a:pt x="84" y="155"/>
                  </a:lnTo>
                  <a:lnTo>
                    <a:pt x="72" y="141"/>
                  </a:lnTo>
                  <a:lnTo>
                    <a:pt x="61" y="125"/>
                  </a:lnTo>
                  <a:lnTo>
                    <a:pt x="52" y="107"/>
                  </a:lnTo>
                  <a:lnTo>
                    <a:pt x="43" y="88"/>
                  </a:lnTo>
                  <a:lnTo>
                    <a:pt x="33" y="69"/>
                  </a:lnTo>
                  <a:lnTo>
                    <a:pt x="23" y="47"/>
                  </a:lnTo>
                  <a:lnTo>
                    <a:pt x="12" y="2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" name="Freeform 39">
              <a:extLst>
                <a:ext uri="{FF2B5EF4-FFF2-40B4-BE49-F238E27FC236}">
                  <a16:creationId xmlns:a16="http://schemas.microsoft.com/office/drawing/2014/main" id="{A05F7D35-E773-49D9-AD0C-13BD00A65D51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 rot="9832527" flipV="1">
              <a:off x="1997" y="858"/>
              <a:ext cx="330" cy="278"/>
            </a:xfrm>
            <a:custGeom>
              <a:avLst/>
              <a:gdLst>
                <a:gd name="T0" fmla="*/ 205 w 124"/>
                <a:gd name="T1" fmla="*/ 0 h 110"/>
                <a:gd name="T2" fmla="*/ 330 w 124"/>
                <a:gd name="T3" fmla="*/ 273 h 110"/>
                <a:gd name="T4" fmla="*/ 319 w 124"/>
                <a:gd name="T5" fmla="*/ 270 h 110"/>
                <a:gd name="T6" fmla="*/ 285 w 124"/>
                <a:gd name="T7" fmla="*/ 265 h 110"/>
                <a:gd name="T8" fmla="*/ 237 w 124"/>
                <a:gd name="T9" fmla="*/ 255 h 110"/>
                <a:gd name="T10" fmla="*/ 181 w 124"/>
                <a:gd name="T11" fmla="*/ 250 h 110"/>
                <a:gd name="T12" fmla="*/ 120 w 124"/>
                <a:gd name="T13" fmla="*/ 245 h 110"/>
                <a:gd name="T14" fmla="*/ 67 w 124"/>
                <a:gd name="T15" fmla="*/ 248 h 110"/>
                <a:gd name="T16" fmla="*/ 24 w 124"/>
                <a:gd name="T17" fmla="*/ 258 h 110"/>
                <a:gd name="T18" fmla="*/ 0 w 124"/>
                <a:gd name="T19" fmla="*/ 278 h 110"/>
                <a:gd name="T20" fmla="*/ 11 w 124"/>
                <a:gd name="T21" fmla="*/ 248 h 110"/>
                <a:gd name="T22" fmla="*/ 21 w 124"/>
                <a:gd name="T23" fmla="*/ 225 h 110"/>
                <a:gd name="T24" fmla="*/ 43 w 124"/>
                <a:gd name="T25" fmla="*/ 207 h 110"/>
                <a:gd name="T26" fmla="*/ 67 w 124"/>
                <a:gd name="T27" fmla="*/ 192 h 110"/>
                <a:gd name="T28" fmla="*/ 96 w 124"/>
                <a:gd name="T29" fmla="*/ 182 h 110"/>
                <a:gd name="T30" fmla="*/ 125 w 124"/>
                <a:gd name="T31" fmla="*/ 179 h 110"/>
                <a:gd name="T32" fmla="*/ 157 w 124"/>
                <a:gd name="T33" fmla="*/ 179 h 110"/>
                <a:gd name="T34" fmla="*/ 192 w 124"/>
                <a:gd name="T35" fmla="*/ 187 h 110"/>
                <a:gd name="T36" fmla="*/ 194 w 124"/>
                <a:gd name="T37" fmla="*/ 179 h 110"/>
                <a:gd name="T38" fmla="*/ 186 w 124"/>
                <a:gd name="T39" fmla="*/ 142 h 110"/>
                <a:gd name="T40" fmla="*/ 178 w 124"/>
                <a:gd name="T41" fmla="*/ 96 h 110"/>
                <a:gd name="T42" fmla="*/ 173 w 124"/>
                <a:gd name="T43" fmla="*/ 76 h 110"/>
                <a:gd name="T44" fmla="*/ 168 w 124"/>
                <a:gd name="T45" fmla="*/ 76 h 110"/>
                <a:gd name="T46" fmla="*/ 162 w 124"/>
                <a:gd name="T47" fmla="*/ 73 h 110"/>
                <a:gd name="T48" fmla="*/ 157 w 124"/>
                <a:gd name="T49" fmla="*/ 66 h 110"/>
                <a:gd name="T50" fmla="*/ 152 w 124"/>
                <a:gd name="T51" fmla="*/ 58 h 110"/>
                <a:gd name="T52" fmla="*/ 152 w 124"/>
                <a:gd name="T53" fmla="*/ 48 h 110"/>
                <a:gd name="T54" fmla="*/ 157 w 124"/>
                <a:gd name="T55" fmla="*/ 35 h 110"/>
                <a:gd name="T56" fmla="*/ 176 w 124"/>
                <a:gd name="T57" fmla="*/ 20 h 110"/>
                <a:gd name="T58" fmla="*/ 205 w 124"/>
                <a:gd name="T59" fmla="*/ 0 h 110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</a:gdLst>
              <a:ahLst/>
              <a:cxnLst>
                <a:cxn ang="T60">
                  <a:pos x="T0" y="T1"/>
                </a:cxn>
                <a:cxn ang="T61">
                  <a:pos x="T2" y="T3"/>
                </a:cxn>
                <a:cxn ang="T62">
                  <a:pos x="T4" y="T5"/>
                </a:cxn>
                <a:cxn ang="T63">
                  <a:pos x="T6" y="T7"/>
                </a:cxn>
                <a:cxn ang="T64">
                  <a:pos x="T8" y="T9"/>
                </a:cxn>
                <a:cxn ang="T65">
                  <a:pos x="T10" y="T11"/>
                </a:cxn>
                <a:cxn ang="T66">
                  <a:pos x="T12" y="T13"/>
                </a:cxn>
                <a:cxn ang="T67">
                  <a:pos x="T14" y="T15"/>
                </a:cxn>
                <a:cxn ang="T68">
                  <a:pos x="T16" y="T17"/>
                </a:cxn>
                <a:cxn ang="T69">
                  <a:pos x="T18" y="T19"/>
                </a:cxn>
                <a:cxn ang="T70">
                  <a:pos x="T20" y="T21"/>
                </a:cxn>
                <a:cxn ang="T71">
                  <a:pos x="T22" y="T23"/>
                </a:cxn>
                <a:cxn ang="T72">
                  <a:pos x="T24" y="T25"/>
                </a:cxn>
                <a:cxn ang="T73">
                  <a:pos x="T26" y="T27"/>
                </a:cxn>
                <a:cxn ang="T74">
                  <a:pos x="T28" y="T29"/>
                </a:cxn>
                <a:cxn ang="T75">
                  <a:pos x="T30" y="T31"/>
                </a:cxn>
                <a:cxn ang="T76">
                  <a:pos x="T32" y="T33"/>
                </a:cxn>
                <a:cxn ang="T77">
                  <a:pos x="T34" y="T35"/>
                </a:cxn>
                <a:cxn ang="T78">
                  <a:pos x="T36" y="T37"/>
                </a:cxn>
                <a:cxn ang="T79">
                  <a:pos x="T38" y="T39"/>
                </a:cxn>
                <a:cxn ang="T80">
                  <a:pos x="T40" y="T41"/>
                </a:cxn>
                <a:cxn ang="T81">
                  <a:pos x="T42" y="T43"/>
                </a:cxn>
                <a:cxn ang="T82">
                  <a:pos x="T44" y="T45"/>
                </a:cxn>
                <a:cxn ang="T83">
                  <a:pos x="T46" y="T47"/>
                </a:cxn>
                <a:cxn ang="T84">
                  <a:pos x="T48" y="T49"/>
                </a:cxn>
                <a:cxn ang="T85">
                  <a:pos x="T50" y="T51"/>
                </a:cxn>
                <a:cxn ang="T86">
                  <a:pos x="T52" y="T53"/>
                </a:cxn>
                <a:cxn ang="T87">
                  <a:pos x="T54" y="T55"/>
                </a:cxn>
                <a:cxn ang="T88">
                  <a:pos x="T56" y="T57"/>
                </a:cxn>
                <a:cxn ang="T89">
                  <a:pos x="T58" y="T59"/>
                </a:cxn>
              </a:cxnLst>
              <a:rect l="0" t="0" r="r" b="b"/>
              <a:pathLst>
                <a:path w="124" h="110">
                  <a:moveTo>
                    <a:pt x="77" y="0"/>
                  </a:moveTo>
                  <a:lnTo>
                    <a:pt x="124" y="108"/>
                  </a:lnTo>
                  <a:lnTo>
                    <a:pt x="120" y="107"/>
                  </a:lnTo>
                  <a:lnTo>
                    <a:pt x="107" y="105"/>
                  </a:lnTo>
                  <a:lnTo>
                    <a:pt x="89" y="101"/>
                  </a:lnTo>
                  <a:lnTo>
                    <a:pt x="68" y="99"/>
                  </a:lnTo>
                  <a:lnTo>
                    <a:pt x="45" y="97"/>
                  </a:lnTo>
                  <a:lnTo>
                    <a:pt x="25" y="98"/>
                  </a:lnTo>
                  <a:lnTo>
                    <a:pt x="9" y="102"/>
                  </a:lnTo>
                  <a:lnTo>
                    <a:pt x="0" y="110"/>
                  </a:lnTo>
                  <a:lnTo>
                    <a:pt x="4" y="98"/>
                  </a:lnTo>
                  <a:lnTo>
                    <a:pt x="8" y="89"/>
                  </a:lnTo>
                  <a:lnTo>
                    <a:pt x="16" y="82"/>
                  </a:lnTo>
                  <a:lnTo>
                    <a:pt x="25" y="76"/>
                  </a:lnTo>
                  <a:lnTo>
                    <a:pt x="36" y="72"/>
                  </a:lnTo>
                  <a:lnTo>
                    <a:pt x="47" y="71"/>
                  </a:lnTo>
                  <a:lnTo>
                    <a:pt x="59" y="71"/>
                  </a:lnTo>
                  <a:lnTo>
                    <a:pt x="72" y="74"/>
                  </a:lnTo>
                  <a:lnTo>
                    <a:pt x="73" y="71"/>
                  </a:lnTo>
                  <a:lnTo>
                    <a:pt x="70" y="56"/>
                  </a:lnTo>
                  <a:lnTo>
                    <a:pt x="67" y="38"/>
                  </a:lnTo>
                  <a:lnTo>
                    <a:pt x="65" y="30"/>
                  </a:lnTo>
                  <a:lnTo>
                    <a:pt x="63" y="30"/>
                  </a:lnTo>
                  <a:lnTo>
                    <a:pt x="61" y="29"/>
                  </a:lnTo>
                  <a:lnTo>
                    <a:pt x="59" y="26"/>
                  </a:lnTo>
                  <a:lnTo>
                    <a:pt x="57" y="23"/>
                  </a:lnTo>
                  <a:lnTo>
                    <a:pt x="57" y="19"/>
                  </a:lnTo>
                  <a:lnTo>
                    <a:pt x="59" y="14"/>
                  </a:lnTo>
                  <a:lnTo>
                    <a:pt x="66" y="8"/>
                  </a:lnTo>
                  <a:lnTo>
                    <a:pt x="77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" name="Freeform 40">
              <a:extLst>
                <a:ext uri="{FF2B5EF4-FFF2-40B4-BE49-F238E27FC236}">
                  <a16:creationId xmlns:a16="http://schemas.microsoft.com/office/drawing/2014/main" id="{48F9C7F6-21E8-47D1-937B-E46DF5B01729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 rot="9832527" flipV="1">
              <a:off x="2224" y="808"/>
              <a:ext cx="123" cy="233"/>
            </a:xfrm>
            <a:custGeom>
              <a:avLst/>
              <a:gdLst>
                <a:gd name="T0" fmla="*/ 83 w 46"/>
                <a:gd name="T1" fmla="*/ 0 h 94"/>
                <a:gd name="T2" fmla="*/ 53 w 46"/>
                <a:gd name="T3" fmla="*/ 94 h 94"/>
                <a:gd name="T4" fmla="*/ 40 w 46"/>
                <a:gd name="T5" fmla="*/ 154 h 94"/>
                <a:gd name="T6" fmla="*/ 29 w 46"/>
                <a:gd name="T7" fmla="*/ 196 h 94"/>
                <a:gd name="T8" fmla="*/ 0 w 46"/>
                <a:gd name="T9" fmla="*/ 233 h 94"/>
                <a:gd name="T10" fmla="*/ 32 w 46"/>
                <a:gd name="T11" fmla="*/ 218 h 94"/>
                <a:gd name="T12" fmla="*/ 62 w 46"/>
                <a:gd name="T13" fmla="*/ 198 h 94"/>
                <a:gd name="T14" fmla="*/ 86 w 46"/>
                <a:gd name="T15" fmla="*/ 171 h 94"/>
                <a:gd name="T16" fmla="*/ 107 w 46"/>
                <a:gd name="T17" fmla="*/ 141 h 94"/>
                <a:gd name="T18" fmla="*/ 120 w 46"/>
                <a:gd name="T19" fmla="*/ 109 h 94"/>
                <a:gd name="T20" fmla="*/ 123 w 46"/>
                <a:gd name="T21" fmla="*/ 74 h 94"/>
                <a:gd name="T22" fmla="*/ 112 w 46"/>
                <a:gd name="T23" fmla="*/ 37 h 94"/>
                <a:gd name="T24" fmla="*/ 83 w 46"/>
                <a:gd name="T25" fmla="*/ 0 h 94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46" h="94">
                  <a:moveTo>
                    <a:pt x="31" y="0"/>
                  </a:moveTo>
                  <a:lnTo>
                    <a:pt x="20" y="38"/>
                  </a:lnTo>
                  <a:lnTo>
                    <a:pt x="15" y="62"/>
                  </a:lnTo>
                  <a:lnTo>
                    <a:pt x="11" y="79"/>
                  </a:lnTo>
                  <a:lnTo>
                    <a:pt x="0" y="94"/>
                  </a:lnTo>
                  <a:lnTo>
                    <a:pt x="12" y="88"/>
                  </a:lnTo>
                  <a:lnTo>
                    <a:pt x="23" y="80"/>
                  </a:lnTo>
                  <a:lnTo>
                    <a:pt x="32" y="69"/>
                  </a:lnTo>
                  <a:lnTo>
                    <a:pt x="40" y="57"/>
                  </a:lnTo>
                  <a:lnTo>
                    <a:pt x="45" y="44"/>
                  </a:lnTo>
                  <a:lnTo>
                    <a:pt x="46" y="30"/>
                  </a:lnTo>
                  <a:lnTo>
                    <a:pt x="42" y="15"/>
                  </a:lnTo>
                  <a:lnTo>
                    <a:pt x="3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1" name="Freeform 41">
              <a:extLst>
                <a:ext uri="{FF2B5EF4-FFF2-40B4-BE49-F238E27FC236}">
                  <a16:creationId xmlns:a16="http://schemas.microsoft.com/office/drawing/2014/main" id="{4111C1E3-0E71-43D8-ACEC-4D8E3572F805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1603" y="0"/>
              <a:ext cx="124" cy="121"/>
            </a:xfrm>
            <a:custGeom>
              <a:avLst/>
              <a:gdLst>
                <a:gd name="T0" fmla="*/ 124 w 124"/>
                <a:gd name="T1" fmla="*/ 0 h 121"/>
                <a:gd name="T2" fmla="*/ 113 w 124"/>
                <a:gd name="T3" fmla="*/ 9 h 121"/>
                <a:gd name="T4" fmla="*/ 99 w 124"/>
                <a:gd name="T5" fmla="*/ 25 h 121"/>
                <a:gd name="T6" fmla="*/ 81 w 124"/>
                <a:gd name="T7" fmla="*/ 41 h 121"/>
                <a:gd name="T8" fmla="*/ 63 w 124"/>
                <a:gd name="T9" fmla="*/ 54 h 121"/>
                <a:gd name="T10" fmla="*/ 41 w 124"/>
                <a:gd name="T11" fmla="*/ 66 h 121"/>
                <a:gd name="T12" fmla="*/ 22 w 124"/>
                <a:gd name="T13" fmla="*/ 74 h 121"/>
                <a:gd name="T14" fmla="*/ 0 w 124"/>
                <a:gd name="T15" fmla="*/ 75 h 121"/>
                <a:gd name="T16" fmla="*/ 10 w 124"/>
                <a:gd name="T17" fmla="*/ 96 h 121"/>
                <a:gd name="T18" fmla="*/ 23 w 124"/>
                <a:gd name="T19" fmla="*/ 113 h 121"/>
                <a:gd name="T20" fmla="*/ 41 w 124"/>
                <a:gd name="T21" fmla="*/ 121 h 121"/>
                <a:gd name="T22" fmla="*/ 60 w 124"/>
                <a:gd name="T23" fmla="*/ 121 h 121"/>
                <a:gd name="T24" fmla="*/ 83 w 124"/>
                <a:gd name="T25" fmla="*/ 111 h 121"/>
                <a:gd name="T26" fmla="*/ 101 w 124"/>
                <a:gd name="T27" fmla="*/ 88 h 121"/>
                <a:gd name="T28" fmla="*/ 116 w 124"/>
                <a:gd name="T29" fmla="*/ 53 h 121"/>
                <a:gd name="T30" fmla="*/ 124 w 124"/>
                <a:gd name="T31" fmla="*/ 0 h 121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</a:gdLst>
              <a:ahLst/>
              <a:cxnLst>
                <a:cxn ang="T32">
                  <a:pos x="T0" y="T1"/>
                </a:cxn>
                <a:cxn ang="T33">
                  <a:pos x="T2" y="T3"/>
                </a:cxn>
                <a:cxn ang="T34">
                  <a:pos x="T4" y="T5"/>
                </a:cxn>
                <a:cxn ang="T35">
                  <a:pos x="T6" y="T7"/>
                </a:cxn>
                <a:cxn ang="T36">
                  <a:pos x="T8" y="T9"/>
                </a:cxn>
                <a:cxn ang="T37">
                  <a:pos x="T10" y="T11"/>
                </a:cxn>
                <a:cxn ang="T38">
                  <a:pos x="T12" y="T13"/>
                </a:cxn>
                <a:cxn ang="T39">
                  <a:pos x="T14" y="T15"/>
                </a:cxn>
                <a:cxn ang="T40">
                  <a:pos x="T16" y="T17"/>
                </a:cxn>
                <a:cxn ang="T41">
                  <a:pos x="T18" y="T19"/>
                </a:cxn>
                <a:cxn ang="T42">
                  <a:pos x="T20" y="T21"/>
                </a:cxn>
                <a:cxn ang="T43">
                  <a:pos x="T22" y="T23"/>
                </a:cxn>
                <a:cxn ang="T44">
                  <a:pos x="T24" y="T25"/>
                </a:cxn>
                <a:cxn ang="T45">
                  <a:pos x="T26" y="T27"/>
                </a:cxn>
                <a:cxn ang="T46">
                  <a:pos x="T28" y="T29"/>
                </a:cxn>
                <a:cxn ang="T47">
                  <a:pos x="T30" y="T31"/>
                </a:cxn>
              </a:cxnLst>
              <a:rect l="0" t="0" r="r" b="b"/>
              <a:pathLst>
                <a:path w="124" h="121">
                  <a:moveTo>
                    <a:pt x="124" y="0"/>
                  </a:moveTo>
                  <a:lnTo>
                    <a:pt x="113" y="9"/>
                  </a:lnTo>
                  <a:lnTo>
                    <a:pt x="99" y="25"/>
                  </a:lnTo>
                  <a:lnTo>
                    <a:pt x="81" y="41"/>
                  </a:lnTo>
                  <a:lnTo>
                    <a:pt x="63" y="54"/>
                  </a:lnTo>
                  <a:lnTo>
                    <a:pt x="41" y="66"/>
                  </a:lnTo>
                  <a:lnTo>
                    <a:pt x="22" y="74"/>
                  </a:lnTo>
                  <a:lnTo>
                    <a:pt x="0" y="75"/>
                  </a:lnTo>
                  <a:lnTo>
                    <a:pt x="10" y="96"/>
                  </a:lnTo>
                  <a:lnTo>
                    <a:pt x="23" y="113"/>
                  </a:lnTo>
                  <a:lnTo>
                    <a:pt x="41" y="121"/>
                  </a:lnTo>
                  <a:lnTo>
                    <a:pt x="60" y="121"/>
                  </a:lnTo>
                  <a:lnTo>
                    <a:pt x="83" y="111"/>
                  </a:lnTo>
                  <a:lnTo>
                    <a:pt x="101" y="88"/>
                  </a:lnTo>
                  <a:lnTo>
                    <a:pt x="116" y="53"/>
                  </a:lnTo>
                  <a:lnTo>
                    <a:pt x="124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2" name="Freeform 42">
              <a:extLst>
                <a:ext uri="{FF2B5EF4-FFF2-40B4-BE49-F238E27FC236}">
                  <a16:creationId xmlns:a16="http://schemas.microsoft.com/office/drawing/2014/main" id="{98E45A92-497A-4BBA-917E-BB993498FC3D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 rot="9832527" flipV="1">
              <a:off x="2173" y="1238"/>
              <a:ext cx="393" cy="2300"/>
            </a:xfrm>
            <a:custGeom>
              <a:avLst/>
              <a:gdLst>
                <a:gd name="T0" fmla="*/ 0 w 149"/>
                <a:gd name="T1" fmla="*/ 0 h 704"/>
                <a:gd name="T2" fmla="*/ 16 w 149"/>
                <a:gd name="T3" fmla="*/ 20 h 704"/>
                <a:gd name="T4" fmla="*/ 42 w 149"/>
                <a:gd name="T5" fmla="*/ 46 h 704"/>
                <a:gd name="T6" fmla="*/ 74 w 149"/>
                <a:gd name="T7" fmla="*/ 78 h 704"/>
                <a:gd name="T8" fmla="*/ 108 w 149"/>
                <a:gd name="T9" fmla="*/ 121 h 704"/>
                <a:gd name="T10" fmla="*/ 153 w 149"/>
                <a:gd name="T11" fmla="*/ 173 h 704"/>
                <a:gd name="T12" fmla="*/ 193 w 149"/>
                <a:gd name="T13" fmla="*/ 229 h 704"/>
                <a:gd name="T14" fmla="*/ 232 w 149"/>
                <a:gd name="T15" fmla="*/ 294 h 704"/>
                <a:gd name="T16" fmla="*/ 264 w 149"/>
                <a:gd name="T17" fmla="*/ 369 h 704"/>
                <a:gd name="T18" fmla="*/ 295 w 149"/>
                <a:gd name="T19" fmla="*/ 448 h 704"/>
                <a:gd name="T20" fmla="*/ 317 w 149"/>
                <a:gd name="T21" fmla="*/ 539 h 704"/>
                <a:gd name="T22" fmla="*/ 327 w 149"/>
                <a:gd name="T23" fmla="*/ 640 h 704"/>
                <a:gd name="T24" fmla="*/ 332 w 149"/>
                <a:gd name="T25" fmla="*/ 745 h 704"/>
                <a:gd name="T26" fmla="*/ 317 w 149"/>
                <a:gd name="T27" fmla="*/ 863 h 704"/>
                <a:gd name="T28" fmla="*/ 287 w 149"/>
                <a:gd name="T29" fmla="*/ 987 h 704"/>
                <a:gd name="T30" fmla="*/ 243 w 149"/>
                <a:gd name="T31" fmla="*/ 1117 h 704"/>
                <a:gd name="T32" fmla="*/ 177 w 149"/>
                <a:gd name="T33" fmla="*/ 1261 h 704"/>
                <a:gd name="T34" fmla="*/ 103 w 149"/>
                <a:gd name="T35" fmla="*/ 1424 h 704"/>
                <a:gd name="T36" fmla="*/ 55 w 149"/>
                <a:gd name="T37" fmla="*/ 1575 h 704"/>
                <a:gd name="T38" fmla="*/ 26 w 149"/>
                <a:gd name="T39" fmla="*/ 1715 h 704"/>
                <a:gd name="T40" fmla="*/ 16 w 149"/>
                <a:gd name="T41" fmla="*/ 1849 h 704"/>
                <a:gd name="T42" fmla="*/ 16 w 149"/>
                <a:gd name="T43" fmla="*/ 1977 h 704"/>
                <a:gd name="T44" fmla="*/ 21 w 149"/>
                <a:gd name="T45" fmla="*/ 2094 h 704"/>
                <a:gd name="T46" fmla="*/ 32 w 149"/>
                <a:gd name="T47" fmla="*/ 2199 h 704"/>
                <a:gd name="T48" fmla="*/ 37 w 149"/>
                <a:gd name="T49" fmla="*/ 2300 h 704"/>
                <a:gd name="T50" fmla="*/ 108 w 149"/>
                <a:gd name="T51" fmla="*/ 2248 h 704"/>
                <a:gd name="T52" fmla="*/ 103 w 149"/>
                <a:gd name="T53" fmla="*/ 2222 h 704"/>
                <a:gd name="T54" fmla="*/ 95 w 149"/>
                <a:gd name="T55" fmla="*/ 2146 h 704"/>
                <a:gd name="T56" fmla="*/ 87 w 149"/>
                <a:gd name="T57" fmla="*/ 2032 h 704"/>
                <a:gd name="T58" fmla="*/ 92 w 149"/>
                <a:gd name="T59" fmla="*/ 1879 h 704"/>
                <a:gd name="T60" fmla="*/ 108 w 149"/>
                <a:gd name="T61" fmla="*/ 1696 h 704"/>
                <a:gd name="T62" fmla="*/ 153 w 149"/>
                <a:gd name="T63" fmla="*/ 1487 h 704"/>
                <a:gd name="T64" fmla="*/ 227 w 149"/>
                <a:gd name="T65" fmla="*/ 1261 h 704"/>
                <a:gd name="T66" fmla="*/ 340 w 149"/>
                <a:gd name="T67" fmla="*/ 1023 h 704"/>
                <a:gd name="T68" fmla="*/ 377 w 149"/>
                <a:gd name="T69" fmla="*/ 912 h 704"/>
                <a:gd name="T70" fmla="*/ 393 w 149"/>
                <a:gd name="T71" fmla="*/ 768 h 704"/>
                <a:gd name="T72" fmla="*/ 380 w 149"/>
                <a:gd name="T73" fmla="*/ 601 h 704"/>
                <a:gd name="T74" fmla="*/ 346 w 149"/>
                <a:gd name="T75" fmla="*/ 438 h 704"/>
                <a:gd name="T76" fmla="*/ 287 w 149"/>
                <a:gd name="T77" fmla="*/ 278 h 704"/>
                <a:gd name="T78" fmla="*/ 214 w 149"/>
                <a:gd name="T79" fmla="*/ 144 h 704"/>
                <a:gd name="T80" fmla="*/ 116 w 149"/>
                <a:gd name="T81" fmla="*/ 46 h 704"/>
                <a:gd name="T82" fmla="*/ 0 w 149"/>
                <a:gd name="T83" fmla="*/ 0 h 704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</a:gdLst>
              <a:ahLst/>
              <a:cxnLst>
                <a:cxn ang="T84">
                  <a:pos x="T0" y="T1"/>
                </a:cxn>
                <a:cxn ang="T85">
                  <a:pos x="T2" y="T3"/>
                </a:cxn>
                <a:cxn ang="T86">
                  <a:pos x="T4" y="T5"/>
                </a:cxn>
                <a:cxn ang="T87">
                  <a:pos x="T6" y="T7"/>
                </a:cxn>
                <a:cxn ang="T88">
                  <a:pos x="T8" y="T9"/>
                </a:cxn>
                <a:cxn ang="T89">
                  <a:pos x="T10" y="T11"/>
                </a:cxn>
                <a:cxn ang="T90">
                  <a:pos x="T12" y="T13"/>
                </a:cxn>
                <a:cxn ang="T91">
                  <a:pos x="T14" y="T15"/>
                </a:cxn>
                <a:cxn ang="T92">
                  <a:pos x="T16" y="T17"/>
                </a:cxn>
                <a:cxn ang="T93">
                  <a:pos x="T18" y="T19"/>
                </a:cxn>
                <a:cxn ang="T94">
                  <a:pos x="T20" y="T21"/>
                </a:cxn>
                <a:cxn ang="T95">
                  <a:pos x="T22" y="T23"/>
                </a:cxn>
                <a:cxn ang="T96">
                  <a:pos x="T24" y="T25"/>
                </a:cxn>
                <a:cxn ang="T97">
                  <a:pos x="T26" y="T27"/>
                </a:cxn>
                <a:cxn ang="T98">
                  <a:pos x="T28" y="T29"/>
                </a:cxn>
                <a:cxn ang="T99">
                  <a:pos x="T30" y="T31"/>
                </a:cxn>
                <a:cxn ang="T100">
                  <a:pos x="T32" y="T33"/>
                </a:cxn>
                <a:cxn ang="T101">
                  <a:pos x="T34" y="T35"/>
                </a:cxn>
                <a:cxn ang="T102">
                  <a:pos x="T36" y="T37"/>
                </a:cxn>
                <a:cxn ang="T103">
                  <a:pos x="T38" y="T39"/>
                </a:cxn>
                <a:cxn ang="T104">
                  <a:pos x="T40" y="T41"/>
                </a:cxn>
                <a:cxn ang="T105">
                  <a:pos x="T42" y="T43"/>
                </a:cxn>
                <a:cxn ang="T106">
                  <a:pos x="T44" y="T45"/>
                </a:cxn>
                <a:cxn ang="T107">
                  <a:pos x="T46" y="T47"/>
                </a:cxn>
                <a:cxn ang="T108">
                  <a:pos x="T48" y="T49"/>
                </a:cxn>
                <a:cxn ang="T109">
                  <a:pos x="T50" y="T51"/>
                </a:cxn>
                <a:cxn ang="T110">
                  <a:pos x="T52" y="T53"/>
                </a:cxn>
                <a:cxn ang="T111">
                  <a:pos x="T54" y="T55"/>
                </a:cxn>
                <a:cxn ang="T112">
                  <a:pos x="T56" y="T57"/>
                </a:cxn>
                <a:cxn ang="T113">
                  <a:pos x="T58" y="T59"/>
                </a:cxn>
                <a:cxn ang="T114">
                  <a:pos x="T60" y="T61"/>
                </a:cxn>
                <a:cxn ang="T115">
                  <a:pos x="T62" y="T63"/>
                </a:cxn>
                <a:cxn ang="T116">
                  <a:pos x="T64" y="T65"/>
                </a:cxn>
                <a:cxn ang="T117">
                  <a:pos x="T66" y="T67"/>
                </a:cxn>
                <a:cxn ang="T118">
                  <a:pos x="T68" y="T69"/>
                </a:cxn>
                <a:cxn ang="T119">
                  <a:pos x="T70" y="T71"/>
                </a:cxn>
                <a:cxn ang="T120">
                  <a:pos x="T72" y="T73"/>
                </a:cxn>
                <a:cxn ang="T121">
                  <a:pos x="T74" y="T75"/>
                </a:cxn>
                <a:cxn ang="T122">
                  <a:pos x="T76" y="T77"/>
                </a:cxn>
                <a:cxn ang="T123">
                  <a:pos x="T78" y="T79"/>
                </a:cxn>
                <a:cxn ang="T124">
                  <a:pos x="T80" y="T81"/>
                </a:cxn>
                <a:cxn ang="T125">
                  <a:pos x="T82" y="T83"/>
                </a:cxn>
              </a:cxnLst>
              <a:rect l="0" t="0" r="r" b="b"/>
              <a:pathLst>
                <a:path w="149" h="704">
                  <a:moveTo>
                    <a:pt x="0" y="0"/>
                  </a:moveTo>
                  <a:lnTo>
                    <a:pt x="6" y="6"/>
                  </a:lnTo>
                  <a:lnTo>
                    <a:pt x="16" y="14"/>
                  </a:lnTo>
                  <a:lnTo>
                    <a:pt x="28" y="24"/>
                  </a:lnTo>
                  <a:lnTo>
                    <a:pt x="41" y="37"/>
                  </a:lnTo>
                  <a:lnTo>
                    <a:pt x="58" y="53"/>
                  </a:lnTo>
                  <a:lnTo>
                    <a:pt x="73" y="70"/>
                  </a:lnTo>
                  <a:lnTo>
                    <a:pt x="88" y="90"/>
                  </a:lnTo>
                  <a:lnTo>
                    <a:pt x="100" y="113"/>
                  </a:lnTo>
                  <a:lnTo>
                    <a:pt x="112" y="137"/>
                  </a:lnTo>
                  <a:lnTo>
                    <a:pt x="120" y="165"/>
                  </a:lnTo>
                  <a:lnTo>
                    <a:pt x="124" y="196"/>
                  </a:lnTo>
                  <a:lnTo>
                    <a:pt x="126" y="228"/>
                  </a:lnTo>
                  <a:lnTo>
                    <a:pt x="120" y="264"/>
                  </a:lnTo>
                  <a:lnTo>
                    <a:pt x="109" y="302"/>
                  </a:lnTo>
                  <a:lnTo>
                    <a:pt x="92" y="342"/>
                  </a:lnTo>
                  <a:lnTo>
                    <a:pt x="67" y="386"/>
                  </a:lnTo>
                  <a:lnTo>
                    <a:pt x="39" y="436"/>
                  </a:lnTo>
                  <a:lnTo>
                    <a:pt x="21" y="482"/>
                  </a:lnTo>
                  <a:lnTo>
                    <a:pt x="10" y="525"/>
                  </a:lnTo>
                  <a:lnTo>
                    <a:pt x="6" y="566"/>
                  </a:lnTo>
                  <a:lnTo>
                    <a:pt x="6" y="605"/>
                  </a:lnTo>
                  <a:lnTo>
                    <a:pt x="8" y="641"/>
                  </a:lnTo>
                  <a:lnTo>
                    <a:pt x="12" y="673"/>
                  </a:lnTo>
                  <a:lnTo>
                    <a:pt x="14" y="704"/>
                  </a:lnTo>
                  <a:lnTo>
                    <a:pt x="41" y="688"/>
                  </a:lnTo>
                  <a:lnTo>
                    <a:pt x="39" y="680"/>
                  </a:lnTo>
                  <a:lnTo>
                    <a:pt x="36" y="657"/>
                  </a:lnTo>
                  <a:lnTo>
                    <a:pt x="33" y="622"/>
                  </a:lnTo>
                  <a:lnTo>
                    <a:pt x="35" y="575"/>
                  </a:lnTo>
                  <a:lnTo>
                    <a:pt x="41" y="519"/>
                  </a:lnTo>
                  <a:lnTo>
                    <a:pt x="58" y="455"/>
                  </a:lnTo>
                  <a:lnTo>
                    <a:pt x="86" y="386"/>
                  </a:lnTo>
                  <a:lnTo>
                    <a:pt x="129" y="313"/>
                  </a:lnTo>
                  <a:lnTo>
                    <a:pt x="143" y="279"/>
                  </a:lnTo>
                  <a:lnTo>
                    <a:pt x="149" y="235"/>
                  </a:lnTo>
                  <a:lnTo>
                    <a:pt x="144" y="184"/>
                  </a:lnTo>
                  <a:lnTo>
                    <a:pt x="131" y="134"/>
                  </a:lnTo>
                  <a:lnTo>
                    <a:pt x="109" y="85"/>
                  </a:lnTo>
                  <a:lnTo>
                    <a:pt x="81" y="44"/>
                  </a:lnTo>
                  <a:lnTo>
                    <a:pt x="44" y="1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" name="Freeform 43">
              <a:extLst>
                <a:ext uri="{FF2B5EF4-FFF2-40B4-BE49-F238E27FC236}">
                  <a16:creationId xmlns:a16="http://schemas.microsoft.com/office/drawing/2014/main" id="{D640B17C-3DD7-45FC-A017-C01104A2492B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0" y="1848"/>
              <a:ext cx="36" cy="132"/>
            </a:xfrm>
            <a:custGeom>
              <a:avLst/>
              <a:gdLst>
                <a:gd name="T0" fmla="*/ 0 w 36"/>
                <a:gd name="T1" fmla="*/ 0 h 132"/>
                <a:gd name="T2" fmla="*/ 36 w 36"/>
                <a:gd name="T3" fmla="*/ 12 h 132"/>
                <a:gd name="T4" fmla="*/ 0 w 36"/>
                <a:gd name="T5" fmla="*/ 132 h 132"/>
                <a:gd name="T6" fmla="*/ 0 w 36"/>
                <a:gd name="T7" fmla="*/ 0 h 132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36" h="132">
                  <a:moveTo>
                    <a:pt x="0" y="0"/>
                  </a:moveTo>
                  <a:lnTo>
                    <a:pt x="36" y="12"/>
                  </a:lnTo>
                  <a:lnTo>
                    <a:pt x="0" y="13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13359" name="Rectangle 47"/>
          <p:cNvSpPr>
            <a:spLocks noGrp="1" noChangeArrowheads="1"/>
          </p:cNvSpPr>
          <p:nvPr>
            <p:ph type="ctrTitle"/>
          </p:nvPr>
        </p:nvSpPr>
        <p:spPr>
          <a:xfrm>
            <a:off x="2455863" y="596900"/>
            <a:ext cx="6192837" cy="3581400"/>
          </a:xfrm>
        </p:spPr>
        <p:txBody>
          <a:bodyPr/>
          <a:lstStyle>
            <a:lvl1pPr>
              <a:defRPr sz="5200" b="1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13360" name="Rectangle 48"/>
          <p:cNvSpPr>
            <a:spLocks noGrp="1" noChangeArrowheads="1"/>
          </p:cNvSpPr>
          <p:nvPr>
            <p:ph type="subTitle" idx="1"/>
          </p:nvPr>
        </p:nvSpPr>
        <p:spPr>
          <a:xfrm>
            <a:off x="2489200" y="4279900"/>
            <a:ext cx="6146800" cy="1485900"/>
          </a:xfrm>
        </p:spPr>
        <p:txBody>
          <a:bodyPr/>
          <a:lstStyle>
            <a:lvl1pPr marL="0" indent="0" algn="ctr">
              <a:buFontTx/>
              <a:buNone/>
              <a:defRPr b="1">
                <a:effectLst>
                  <a:outerShdw blurRad="38100" dist="38100" dir="2700000" algn="tl">
                    <a:srgbClr val="C0C0C0"/>
                  </a:outerShdw>
                </a:effectLst>
              </a:defRPr>
            </a:lvl1pPr>
          </a:lstStyle>
          <a:p>
            <a:r>
              <a:rPr lang="zh-CN" altLang="en-US" noProof="1"/>
              <a:t>单击此处编辑母版副标题样式</a:t>
            </a:r>
          </a:p>
        </p:txBody>
      </p:sp>
      <p:sp>
        <p:nvSpPr>
          <p:cNvPr id="46" name="Rectangle 44">
            <a:extLst>
              <a:ext uri="{FF2B5EF4-FFF2-40B4-BE49-F238E27FC236}">
                <a16:creationId xmlns:a16="http://schemas.microsoft.com/office/drawing/2014/main" id="{D90C196C-FC84-4273-A648-A899B13276F2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xfrm>
            <a:off x="457200" y="6248400"/>
            <a:ext cx="21336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7" name="Rectangle 45">
            <a:extLst>
              <a:ext uri="{FF2B5EF4-FFF2-40B4-BE49-F238E27FC236}">
                <a16:creationId xmlns:a16="http://schemas.microsoft.com/office/drawing/2014/main" id="{9EC2B5FC-EE53-49BE-B113-68B4A1E12AD4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8" name="Rectangle 46">
            <a:extLst>
              <a:ext uri="{FF2B5EF4-FFF2-40B4-BE49-F238E27FC236}">
                <a16:creationId xmlns:a16="http://schemas.microsoft.com/office/drawing/2014/main" id="{5BE294E9-34B0-4027-A2E5-0EBBB2202D6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551E3642-0916-4DF1-BD02-BF2F0A656677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3668076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Rectangle 47">
            <a:extLst>
              <a:ext uri="{FF2B5EF4-FFF2-40B4-BE49-F238E27FC236}">
                <a16:creationId xmlns:a16="http://schemas.microsoft.com/office/drawing/2014/main" id="{A7755867-DA96-4573-BD11-43C09947EE40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48">
            <a:extLst>
              <a:ext uri="{FF2B5EF4-FFF2-40B4-BE49-F238E27FC236}">
                <a16:creationId xmlns:a16="http://schemas.microsoft.com/office/drawing/2014/main" id="{6D687AE2-2321-41BF-B0AF-BC1708245FA5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49">
            <a:extLst>
              <a:ext uri="{FF2B5EF4-FFF2-40B4-BE49-F238E27FC236}">
                <a16:creationId xmlns:a16="http://schemas.microsoft.com/office/drawing/2014/main" id="{8BD5DAFC-8B59-489E-AC31-9A2BEAFD6CE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1D5B241-7EA9-4A39-B15D-EE4EF10DB71C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6199757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4" name="Rectangle 47">
            <a:extLst>
              <a:ext uri="{FF2B5EF4-FFF2-40B4-BE49-F238E27FC236}">
                <a16:creationId xmlns:a16="http://schemas.microsoft.com/office/drawing/2014/main" id="{1A89D0E0-4752-49B0-91B8-2143C591778B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48">
            <a:extLst>
              <a:ext uri="{FF2B5EF4-FFF2-40B4-BE49-F238E27FC236}">
                <a16:creationId xmlns:a16="http://schemas.microsoft.com/office/drawing/2014/main" id="{24EB1A02-BA21-4FCF-A17D-9CF956D766BD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49">
            <a:extLst>
              <a:ext uri="{FF2B5EF4-FFF2-40B4-BE49-F238E27FC236}">
                <a16:creationId xmlns:a16="http://schemas.microsoft.com/office/drawing/2014/main" id="{9F8C196E-A5D4-4A90-9E06-490833487CB7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4610DA8-6D4B-4174-A1A7-442EE383F63B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4844374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45611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45611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5" name="Rectangle 47">
            <a:extLst>
              <a:ext uri="{FF2B5EF4-FFF2-40B4-BE49-F238E27FC236}">
                <a16:creationId xmlns:a16="http://schemas.microsoft.com/office/drawing/2014/main" id="{131C63A1-1BAB-4E25-AE06-9653128AFECB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48">
            <a:extLst>
              <a:ext uri="{FF2B5EF4-FFF2-40B4-BE49-F238E27FC236}">
                <a16:creationId xmlns:a16="http://schemas.microsoft.com/office/drawing/2014/main" id="{E309A5CB-FE1E-4FF6-B19A-33BE7AC193D8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49">
            <a:extLst>
              <a:ext uri="{FF2B5EF4-FFF2-40B4-BE49-F238E27FC236}">
                <a16:creationId xmlns:a16="http://schemas.microsoft.com/office/drawing/2014/main" id="{421FD321-4085-424B-BC05-607E50279E77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2AC7DE6-4A6E-4D5B-BC9E-1872CA9A8A5D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3978156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7" name="Rectangle 47">
            <a:extLst>
              <a:ext uri="{FF2B5EF4-FFF2-40B4-BE49-F238E27FC236}">
                <a16:creationId xmlns:a16="http://schemas.microsoft.com/office/drawing/2014/main" id="{51D3DBB3-D3AA-452D-8F0B-5019E756864C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48">
            <a:extLst>
              <a:ext uri="{FF2B5EF4-FFF2-40B4-BE49-F238E27FC236}">
                <a16:creationId xmlns:a16="http://schemas.microsoft.com/office/drawing/2014/main" id="{73F9B37D-4DBE-4BFD-80FA-3229324EAE51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" name="Rectangle 49">
            <a:extLst>
              <a:ext uri="{FF2B5EF4-FFF2-40B4-BE49-F238E27FC236}">
                <a16:creationId xmlns:a16="http://schemas.microsoft.com/office/drawing/2014/main" id="{9C824495-BB29-449D-8E9B-822A7B08ABB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3A32643-78DB-4296-8CF1-E53C75165AF8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0748208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Rectangle 47">
            <a:extLst>
              <a:ext uri="{FF2B5EF4-FFF2-40B4-BE49-F238E27FC236}">
                <a16:creationId xmlns:a16="http://schemas.microsoft.com/office/drawing/2014/main" id="{9B2D5F4E-961F-4FE5-AEDF-B5F269903D56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48">
            <a:extLst>
              <a:ext uri="{FF2B5EF4-FFF2-40B4-BE49-F238E27FC236}">
                <a16:creationId xmlns:a16="http://schemas.microsoft.com/office/drawing/2014/main" id="{DA3180F8-448C-47F5-885B-269E3970DC08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49">
            <a:extLst>
              <a:ext uri="{FF2B5EF4-FFF2-40B4-BE49-F238E27FC236}">
                <a16:creationId xmlns:a16="http://schemas.microsoft.com/office/drawing/2014/main" id="{B5416623-1C40-4084-89F3-DA767E00BDF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0D3E726-D2B2-4289-BF27-DD8334E78402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2587187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7">
            <a:extLst>
              <a:ext uri="{FF2B5EF4-FFF2-40B4-BE49-F238E27FC236}">
                <a16:creationId xmlns:a16="http://schemas.microsoft.com/office/drawing/2014/main" id="{E0589B11-7A79-4419-AFBE-F29EF9ED1971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Rectangle 48">
            <a:extLst>
              <a:ext uri="{FF2B5EF4-FFF2-40B4-BE49-F238E27FC236}">
                <a16:creationId xmlns:a16="http://schemas.microsoft.com/office/drawing/2014/main" id="{4787FC66-341B-4E0D-99B2-83DFDDA338F2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49">
            <a:extLst>
              <a:ext uri="{FF2B5EF4-FFF2-40B4-BE49-F238E27FC236}">
                <a16:creationId xmlns:a16="http://schemas.microsoft.com/office/drawing/2014/main" id="{4098C81D-2E23-4594-90AB-80F0CD33D28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A4696F5-2AE3-43F8-AF39-49AB5D4D6346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1073812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5" name="Rectangle 47">
            <a:extLst>
              <a:ext uri="{FF2B5EF4-FFF2-40B4-BE49-F238E27FC236}">
                <a16:creationId xmlns:a16="http://schemas.microsoft.com/office/drawing/2014/main" id="{A9FDB5EF-51F5-46F9-A98D-88D1E5515E60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48">
            <a:extLst>
              <a:ext uri="{FF2B5EF4-FFF2-40B4-BE49-F238E27FC236}">
                <a16:creationId xmlns:a16="http://schemas.microsoft.com/office/drawing/2014/main" id="{4543A960-D1D1-405D-8148-83AFE6D03C98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49">
            <a:extLst>
              <a:ext uri="{FF2B5EF4-FFF2-40B4-BE49-F238E27FC236}">
                <a16:creationId xmlns:a16="http://schemas.microsoft.com/office/drawing/2014/main" id="{0D2F6C25-BE9B-486E-9AF7-8AACE59B9AA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5DB944A-8FF8-4421-A1F5-21CE3D49327F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6759349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5" name="Rectangle 47">
            <a:extLst>
              <a:ext uri="{FF2B5EF4-FFF2-40B4-BE49-F238E27FC236}">
                <a16:creationId xmlns:a16="http://schemas.microsoft.com/office/drawing/2014/main" id="{BB37C90C-E338-41B6-9F92-5308D2EAA527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48">
            <a:extLst>
              <a:ext uri="{FF2B5EF4-FFF2-40B4-BE49-F238E27FC236}">
                <a16:creationId xmlns:a16="http://schemas.microsoft.com/office/drawing/2014/main" id="{161F60BF-60CF-49D6-A059-0899E77F8B93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49">
            <a:extLst>
              <a:ext uri="{FF2B5EF4-FFF2-40B4-BE49-F238E27FC236}">
                <a16:creationId xmlns:a16="http://schemas.microsoft.com/office/drawing/2014/main" id="{C37818C1-16C5-4235-9F0F-E07151D577F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F3D6664-15C2-4FEE-9C3E-B43BBDA71920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6763580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Rectangle 47">
            <a:extLst>
              <a:ext uri="{FF2B5EF4-FFF2-40B4-BE49-F238E27FC236}">
                <a16:creationId xmlns:a16="http://schemas.microsoft.com/office/drawing/2014/main" id="{AC93BDD2-87E9-48C9-BCC2-C4B5002CB6F7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48">
            <a:extLst>
              <a:ext uri="{FF2B5EF4-FFF2-40B4-BE49-F238E27FC236}">
                <a16:creationId xmlns:a16="http://schemas.microsoft.com/office/drawing/2014/main" id="{6B3487D7-E3E4-457E-87A1-5B9F909A07C1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49">
            <a:extLst>
              <a:ext uri="{FF2B5EF4-FFF2-40B4-BE49-F238E27FC236}">
                <a16:creationId xmlns:a16="http://schemas.microsoft.com/office/drawing/2014/main" id="{199BB191-ECCE-4368-ADDC-2EBF8F19CAE4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2752CF7-2D48-458C-AC63-8CBBFA6FAC16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697517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6225" y="103188"/>
            <a:ext cx="2060575" cy="5953125"/>
          </a:xfrm>
        </p:spPr>
        <p:txBody>
          <a:bodyPr vert="eaVert"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42913" y="103188"/>
            <a:ext cx="6030912" cy="5953125"/>
          </a:xfrm>
        </p:spPr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Rectangle 47">
            <a:extLst>
              <a:ext uri="{FF2B5EF4-FFF2-40B4-BE49-F238E27FC236}">
                <a16:creationId xmlns:a16="http://schemas.microsoft.com/office/drawing/2014/main" id="{908E0D3C-5B58-4890-BBCD-479288402B47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48">
            <a:extLst>
              <a:ext uri="{FF2B5EF4-FFF2-40B4-BE49-F238E27FC236}">
                <a16:creationId xmlns:a16="http://schemas.microsoft.com/office/drawing/2014/main" id="{5F3C8582-993A-44A8-A1CC-E47D346941D0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49">
            <a:extLst>
              <a:ext uri="{FF2B5EF4-FFF2-40B4-BE49-F238E27FC236}">
                <a16:creationId xmlns:a16="http://schemas.microsoft.com/office/drawing/2014/main" id="{64293230-C3D4-4552-9C1E-5AC6E191B128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D3DE633-5CC3-42D9-95C2-6272091D1092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16962029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2963" t="44271"/>
          <a:stretch>
            <a:fillRect/>
          </a:stretch>
        </p:blipFill>
        <p:spPr>
          <a:xfrm rot="16200000">
            <a:off x="6145212" y="-2097087"/>
            <a:ext cx="901702" cy="5095875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522" r="62778" b="20521"/>
          <a:stretch>
            <a:fillRect/>
          </a:stretch>
        </p:blipFill>
        <p:spPr>
          <a:xfrm rot="16200000">
            <a:off x="3182938" y="2773363"/>
            <a:ext cx="901700" cy="72675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66686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 advTm="3000">
        <p14:switch dir="r"/>
      </p:transition>
    </mc:Choice>
    <mc:Fallback xmlns="">
      <p:transition spd="slow" advTm="3000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26" name="Group 2">
            <a:extLst>
              <a:ext uri="{FF2B5EF4-FFF2-40B4-BE49-F238E27FC236}">
                <a16:creationId xmlns:a16="http://schemas.microsoft.com/office/drawing/2014/main" id="{73F38953-8B4A-49B1-A399-39FEB80910A9}"/>
              </a:ext>
            </a:extLst>
          </p:cNvPr>
          <p:cNvGrpSpPr>
            <a:grpSpLocks/>
          </p:cNvGrpSpPr>
          <p:nvPr/>
        </p:nvGrpSpPr>
        <p:grpSpPr bwMode="auto">
          <a:xfrm>
            <a:off x="-7938" y="0"/>
            <a:ext cx="2833688" cy="6856413"/>
            <a:chOff x="-5" y="0"/>
            <a:chExt cx="1785" cy="4319"/>
          </a:xfrm>
        </p:grpSpPr>
        <p:sp>
          <p:nvSpPr>
            <p:cNvPr id="1032" name="Freeform 3">
              <a:extLst>
                <a:ext uri="{FF2B5EF4-FFF2-40B4-BE49-F238E27FC236}">
                  <a16:creationId xmlns:a16="http://schemas.microsoft.com/office/drawing/2014/main" id="{B855C11D-2A42-4478-9FEA-F7CE5214B8F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-5" y="3262"/>
              <a:ext cx="472" cy="802"/>
            </a:xfrm>
            <a:custGeom>
              <a:avLst/>
              <a:gdLst>
                <a:gd name="T0" fmla="*/ 5 w 472"/>
                <a:gd name="T1" fmla="*/ 32 h 802"/>
                <a:gd name="T2" fmla="*/ 189 w 472"/>
                <a:gd name="T3" fmla="*/ 26 h 802"/>
                <a:gd name="T4" fmla="*/ 309 w 472"/>
                <a:gd name="T5" fmla="*/ 66 h 802"/>
                <a:gd name="T6" fmla="*/ 357 w 472"/>
                <a:gd name="T7" fmla="*/ 98 h 802"/>
                <a:gd name="T8" fmla="*/ 413 w 472"/>
                <a:gd name="T9" fmla="*/ 162 h 802"/>
                <a:gd name="T10" fmla="*/ 437 w 472"/>
                <a:gd name="T11" fmla="*/ 250 h 802"/>
                <a:gd name="T12" fmla="*/ 397 w 472"/>
                <a:gd name="T13" fmla="*/ 530 h 802"/>
                <a:gd name="T14" fmla="*/ 341 w 472"/>
                <a:gd name="T15" fmla="*/ 634 h 802"/>
                <a:gd name="T16" fmla="*/ 173 w 472"/>
                <a:gd name="T17" fmla="*/ 714 h 802"/>
                <a:gd name="T18" fmla="*/ 77 w 472"/>
                <a:gd name="T19" fmla="*/ 730 h 802"/>
                <a:gd name="T20" fmla="*/ 69 w 472"/>
                <a:gd name="T21" fmla="*/ 802 h 802"/>
                <a:gd name="T22" fmla="*/ 7 w 472"/>
                <a:gd name="T23" fmla="*/ 788 h 802"/>
                <a:gd name="T24" fmla="*/ 5 w 472"/>
                <a:gd name="T25" fmla="*/ 751 h 802"/>
                <a:gd name="T26" fmla="*/ 37 w 472"/>
                <a:gd name="T27" fmla="*/ 722 h 802"/>
                <a:gd name="T28" fmla="*/ 5 w 472"/>
                <a:gd name="T29" fmla="*/ 670 h 802"/>
                <a:gd name="T30" fmla="*/ 5 w 472"/>
                <a:gd name="T31" fmla="*/ 32 h 802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</a:gdLst>
              <a:ahLst/>
              <a:cxnLst>
                <a:cxn ang="T32">
                  <a:pos x="T0" y="T1"/>
                </a:cxn>
                <a:cxn ang="T33">
                  <a:pos x="T2" y="T3"/>
                </a:cxn>
                <a:cxn ang="T34">
                  <a:pos x="T4" y="T5"/>
                </a:cxn>
                <a:cxn ang="T35">
                  <a:pos x="T6" y="T7"/>
                </a:cxn>
                <a:cxn ang="T36">
                  <a:pos x="T8" y="T9"/>
                </a:cxn>
                <a:cxn ang="T37">
                  <a:pos x="T10" y="T11"/>
                </a:cxn>
                <a:cxn ang="T38">
                  <a:pos x="T12" y="T13"/>
                </a:cxn>
                <a:cxn ang="T39">
                  <a:pos x="T14" y="T15"/>
                </a:cxn>
                <a:cxn ang="T40">
                  <a:pos x="T16" y="T17"/>
                </a:cxn>
                <a:cxn ang="T41">
                  <a:pos x="T18" y="T19"/>
                </a:cxn>
                <a:cxn ang="T42">
                  <a:pos x="T20" y="T21"/>
                </a:cxn>
                <a:cxn ang="T43">
                  <a:pos x="T22" y="T23"/>
                </a:cxn>
                <a:cxn ang="T44">
                  <a:pos x="T24" y="T25"/>
                </a:cxn>
                <a:cxn ang="T45">
                  <a:pos x="T26" y="T27"/>
                </a:cxn>
                <a:cxn ang="T46">
                  <a:pos x="T28" y="T29"/>
                </a:cxn>
                <a:cxn ang="T47">
                  <a:pos x="T30" y="T31"/>
                </a:cxn>
              </a:cxnLst>
              <a:rect l="0" t="0" r="r" b="b"/>
              <a:pathLst>
                <a:path w="472" h="802">
                  <a:moveTo>
                    <a:pt x="5" y="32"/>
                  </a:moveTo>
                  <a:cubicBezTo>
                    <a:pt x="101" y="0"/>
                    <a:pt x="20" y="17"/>
                    <a:pt x="189" y="26"/>
                  </a:cubicBezTo>
                  <a:cubicBezTo>
                    <a:pt x="221" y="37"/>
                    <a:pt x="280" y="47"/>
                    <a:pt x="309" y="66"/>
                  </a:cubicBezTo>
                  <a:cubicBezTo>
                    <a:pt x="325" y="77"/>
                    <a:pt x="357" y="98"/>
                    <a:pt x="357" y="98"/>
                  </a:cubicBezTo>
                  <a:cubicBezTo>
                    <a:pt x="394" y="154"/>
                    <a:pt x="373" y="135"/>
                    <a:pt x="413" y="162"/>
                  </a:cubicBezTo>
                  <a:cubicBezTo>
                    <a:pt x="433" y="223"/>
                    <a:pt x="426" y="193"/>
                    <a:pt x="437" y="250"/>
                  </a:cubicBezTo>
                  <a:cubicBezTo>
                    <a:pt x="433" y="370"/>
                    <a:pt x="472" y="455"/>
                    <a:pt x="397" y="530"/>
                  </a:cubicBezTo>
                  <a:cubicBezTo>
                    <a:pt x="385" y="567"/>
                    <a:pt x="368" y="607"/>
                    <a:pt x="341" y="634"/>
                  </a:cubicBezTo>
                  <a:cubicBezTo>
                    <a:pt x="319" y="701"/>
                    <a:pt x="233" y="707"/>
                    <a:pt x="173" y="714"/>
                  </a:cubicBezTo>
                  <a:cubicBezTo>
                    <a:pt x="142" y="724"/>
                    <a:pt x="100" y="707"/>
                    <a:pt x="77" y="730"/>
                  </a:cubicBezTo>
                  <a:cubicBezTo>
                    <a:pt x="60" y="747"/>
                    <a:pt x="72" y="778"/>
                    <a:pt x="69" y="802"/>
                  </a:cubicBezTo>
                  <a:cubicBezTo>
                    <a:pt x="53" y="799"/>
                    <a:pt x="23" y="792"/>
                    <a:pt x="7" y="788"/>
                  </a:cubicBezTo>
                  <a:cubicBezTo>
                    <a:pt x="5" y="788"/>
                    <a:pt x="0" y="762"/>
                    <a:pt x="5" y="751"/>
                  </a:cubicBezTo>
                  <a:cubicBezTo>
                    <a:pt x="10" y="740"/>
                    <a:pt x="37" y="735"/>
                    <a:pt x="37" y="722"/>
                  </a:cubicBezTo>
                  <a:cubicBezTo>
                    <a:pt x="26" y="682"/>
                    <a:pt x="22" y="685"/>
                    <a:pt x="5" y="670"/>
                  </a:cubicBezTo>
                  <a:cubicBezTo>
                    <a:pt x="5" y="541"/>
                    <a:pt x="5" y="233"/>
                    <a:pt x="5" y="32"/>
                  </a:cubicBezTo>
                  <a:close/>
                </a:path>
              </a:pathLst>
            </a:custGeom>
            <a:solidFill>
              <a:schemeClr val="folHlink">
                <a:alpha val="50195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1033" name="Group 4">
              <a:extLst>
                <a:ext uri="{FF2B5EF4-FFF2-40B4-BE49-F238E27FC236}">
                  <a16:creationId xmlns:a16="http://schemas.microsoft.com/office/drawing/2014/main" id="{505822B8-64BA-4E47-87D7-29071CA8FE7C}"/>
                </a:ext>
              </a:extLst>
            </p:cNvPr>
            <p:cNvGrpSpPr>
              <a:grpSpLocks/>
            </p:cNvGrpSpPr>
            <p:nvPr/>
          </p:nvGrpSpPr>
          <p:grpSpPr bwMode="auto">
            <a:xfrm rot="14964908" flipH="1">
              <a:off x="104" y="2441"/>
              <a:ext cx="452" cy="444"/>
              <a:chOff x="1727" y="866"/>
              <a:chExt cx="129" cy="157"/>
            </a:xfrm>
          </p:grpSpPr>
          <p:sp>
            <p:nvSpPr>
              <p:cNvPr id="1071" name="Freeform 5">
                <a:extLst>
                  <a:ext uri="{FF2B5EF4-FFF2-40B4-BE49-F238E27FC236}">
                    <a16:creationId xmlns:a16="http://schemas.microsoft.com/office/drawing/2014/main" id="{B6696859-C959-4703-A77E-F702AE6B166F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auto">
              <a:xfrm>
                <a:off x="1727" y="866"/>
                <a:ext cx="41" cy="59"/>
              </a:xfrm>
              <a:custGeom>
                <a:avLst/>
                <a:gdLst>
                  <a:gd name="T0" fmla="*/ 41 w 83"/>
                  <a:gd name="T1" fmla="*/ 14 h 117"/>
                  <a:gd name="T2" fmla="*/ 13 w 83"/>
                  <a:gd name="T3" fmla="*/ 0 h 117"/>
                  <a:gd name="T4" fmla="*/ 0 w 83"/>
                  <a:gd name="T5" fmla="*/ 59 h 117"/>
                  <a:gd name="T6" fmla="*/ 41 w 83"/>
                  <a:gd name="T7" fmla="*/ 14 h 117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83" h="117">
                    <a:moveTo>
                      <a:pt x="83" y="28"/>
                    </a:moveTo>
                    <a:lnTo>
                      <a:pt x="27" y="0"/>
                    </a:lnTo>
                    <a:lnTo>
                      <a:pt x="0" y="117"/>
                    </a:lnTo>
                    <a:lnTo>
                      <a:pt x="83" y="28"/>
                    </a:lnTo>
                    <a:close/>
                  </a:path>
                </a:pathLst>
              </a:cu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72" name="Freeform 6">
                <a:extLst>
                  <a:ext uri="{FF2B5EF4-FFF2-40B4-BE49-F238E27FC236}">
                    <a16:creationId xmlns:a16="http://schemas.microsoft.com/office/drawing/2014/main" id="{36F904FC-7C89-4D0D-84C3-60F93023C9DF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auto">
              <a:xfrm>
                <a:off x="1786" y="894"/>
                <a:ext cx="70" cy="49"/>
              </a:xfrm>
              <a:custGeom>
                <a:avLst/>
                <a:gdLst>
                  <a:gd name="T0" fmla="*/ 0 w 140"/>
                  <a:gd name="T1" fmla="*/ 49 h 98"/>
                  <a:gd name="T2" fmla="*/ 59 w 140"/>
                  <a:gd name="T3" fmla="*/ 0 h 98"/>
                  <a:gd name="T4" fmla="*/ 70 w 140"/>
                  <a:gd name="T5" fmla="*/ 25 h 98"/>
                  <a:gd name="T6" fmla="*/ 0 w 140"/>
                  <a:gd name="T7" fmla="*/ 49 h 98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140" h="98">
                    <a:moveTo>
                      <a:pt x="0" y="98"/>
                    </a:moveTo>
                    <a:lnTo>
                      <a:pt x="118" y="0"/>
                    </a:lnTo>
                    <a:lnTo>
                      <a:pt x="140" y="49"/>
                    </a:lnTo>
                    <a:lnTo>
                      <a:pt x="0" y="98"/>
                    </a:lnTo>
                    <a:close/>
                  </a:path>
                </a:pathLst>
              </a:cu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73" name="Freeform 7">
                <a:extLst>
                  <a:ext uri="{FF2B5EF4-FFF2-40B4-BE49-F238E27FC236}">
                    <a16:creationId xmlns:a16="http://schemas.microsoft.com/office/drawing/2014/main" id="{3593F90F-4742-4461-899D-F9E8F06951CB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auto">
              <a:xfrm>
                <a:off x="1772" y="998"/>
                <a:ext cx="73" cy="25"/>
              </a:xfrm>
              <a:custGeom>
                <a:avLst/>
                <a:gdLst>
                  <a:gd name="T0" fmla="*/ 0 w 145"/>
                  <a:gd name="T1" fmla="*/ 4 h 49"/>
                  <a:gd name="T2" fmla="*/ 73 w 145"/>
                  <a:gd name="T3" fmla="*/ 0 h 49"/>
                  <a:gd name="T4" fmla="*/ 66 w 145"/>
                  <a:gd name="T5" fmla="*/ 25 h 49"/>
                  <a:gd name="T6" fmla="*/ 0 w 145"/>
                  <a:gd name="T7" fmla="*/ 4 h 49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145" h="49">
                    <a:moveTo>
                      <a:pt x="0" y="7"/>
                    </a:moveTo>
                    <a:lnTo>
                      <a:pt x="145" y="0"/>
                    </a:lnTo>
                    <a:lnTo>
                      <a:pt x="131" y="49"/>
                    </a:lnTo>
                    <a:lnTo>
                      <a:pt x="0" y="7"/>
                    </a:lnTo>
                    <a:close/>
                  </a:path>
                </a:pathLst>
              </a:cu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1034" name="Freeform 8">
              <a:extLst>
                <a:ext uri="{FF2B5EF4-FFF2-40B4-BE49-F238E27FC236}">
                  <a16:creationId xmlns:a16="http://schemas.microsoft.com/office/drawing/2014/main" id="{4E0A97F2-79DB-46B8-AE4B-263924187C8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0" y="1736"/>
              <a:ext cx="710" cy="768"/>
            </a:xfrm>
            <a:custGeom>
              <a:avLst/>
              <a:gdLst>
                <a:gd name="T0" fmla="*/ 14 w 710"/>
                <a:gd name="T1" fmla="*/ 416 h 768"/>
                <a:gd name="T2" fmla="*/ 14 w 710"/>
                <a:gd name="T3" fmla="*/ 272 h 768"/>
                <a:gd name="T4" fmla="*/ 102 w 710"/>
                <a:gd name="T5" fmla="*/ 144 h 768"/>
                <a:gd name="T6" fmla="*/ 150 w 710"/>
                <a:gd name="T7" fmla="*/ 96 h 768"/>
                <a:gd name="T8" fmla="*/ 198 w 710"/>
                <a:gd name="T9" fmla="*/ 64 h 768"/>
                <a:gd name="T10" fmla="*/ 350 w 710"/>
                <a:gd name="T11" fmla="*/ 0 h 768"/>
                <a:gd name="T12" fmla="*/ 534 w 710"/>
                <a:gd name="T13" fmla="*/ 8 h 768"/>
                <a:gd name="T14" fmla="*/ 662 w 710"/>
                <a:gd name="T15" fmla="*/ 96 h 768"/>
                <a:gd name="T16" fmla="*/ 710 w 710"/>
                <a:gd name="T17" fmla="*/ 200 h 768"/>
                <a:gd name="T18" fmla="*/ 702 w 710"/>
                <a:gd name="T19" fmla="*/ 400 h 768"/>
                <a:gd name="T20" fmla="*/ 678 w 710"/>
                <a:gd name="T21" fmla="*/ 448 h 768"/>
                <a:gd name="T22" fmla="*/ 550 w 710"/>
                <a:gd name="T23" fmla="*/ 632 h 768"/>
                <a:gd name="T24" fmla="*/ 518 w 710"/>
                <a:gd name="T25" fmla="*/ 656 h 768"/>
                <a:gd name="T26" fmla="*/ 470 w 710"/>
                <a:gd name="T27" fmla="*/ 664 h 768"/>
                <a:gd name="T28" fmla="*/ 518 w 710"/>
                <a:gd name="T29" fmla="*/ 680 h 768"/>
                <a:gd name="T30" fmla="*/ 566 w 710"/>
                <a:gd name="T31" fmla="*/ 696 h 768"/>
                <a:gd name="T32" fmla="*/ 574 w 710"/>
                <a:gd name="T33" fmla="*/ 720 h 768"/>
                <a:gd name="T34" fmla="*/ 526 w 710"/>
                <a:gd name="T35" fmla="*/ 736 h 768"/>
                <a:gd name="T36" fmla="*/ 502 w 710"/>
                <a:gd name="T37" fmla="*/ 752 h 768"/>
                <a:gd name="T38" fmla="*/ 454 w 710"/>
                <a:gd name="T39" fmla="*/ 768 h 768"/>
                <a:gd name="T40" fmla="*/ 438 w 710"/>
                <a:gd name="T41" fmla="*/ 712 h 768"/>
                <a:gd name="T42" fmla="*/ 246 w 710"/>
                <a:gd name="T43" fmla="*/ 688 h 768"/>
                <a:gd name="T44" fmla="*/ 134 w 710"/>
                <a:gd name="T45" fmla="*/ 648 h 768"/>
                <a:gd name="T46" fmla="*/ 110 w 710"/>
                <a:gd name="T47" fmla="*/ 624 h 768"/>
                <a:gd name="T48" fmla="*/ 78 w 710"/>
                <a:gd name="T49" fmla="*/ 576 h 768"/>
                <a:gd name="T50" fmla="*/ 54 w 710"/>
                <a:gd name="T51" fmla="*/ 464 h 768"/>
                <a:gd name="T52" fmla="*/ 30 w 710"/>
                <a:gd name="T53" fmla="*/ 408 h 768"/>
                <a:gd name="T54" fmla="*/ 22 w 710"/>
                <a:gd name="T55" fmla="*/ 384 h 768"/>
                <a:gd name="T56" fmla="*/ 14 w 710"/>
                <a:gd name="T57" fmla="*/ 416 h 768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</a:gdLst>
              <a:ahLst/>
              <a:cxnLst>
                <a:cxn ang="T58">
                  <a:pos x="T0" y="T1"/>
                </a:cxn>
                <a:cxn ang="T59">
                  <a:pos x="T2" y="T3"/>
                </a:cxn>
                <a:cxn ang="T60">
                  <a:pos x="T4" y="T5"/>
                </a:cxn>
                <a:cxn ang="T61">
                  <a:pos x="T6" y="T7"/>
                </a:cxn>
                <a:cxn ang="T62">
                  <a:pos x="T8" y="T9"/>
                </a:cxn>
                <a:cxn ang="T63">
                  <a:pos x="T10" y="T11"/>
                </a:cxn>
                <a:cxn ang="T64">
                  <a:pos x="T12" y="T13"/>
                </a:cxn>
                <a:cxn ang="T65">
                  <a:pos x="T14" y="T15"/>
                </a:cxn>
                <a:cxn ang="T66">
                  <a:pos x="T16" y="T17"/>
                </a:cxn>
                <a:cxn ang="T67">
                  <a:pos x="T18" y="T19"/>
                </a:cxn>
                <a:cxn ang="T68">
                  <a:pos x="T20" y="T21"/>
                </a:cxn>
                <a:cxn ang="T69">
                  <a:pos x="T22" y="T23"/>
                </a:cxn>
                <a:cxn ang="T70">
                  <a:pos x="T24" y="T25"/>
                </a:cxn>
                <a:cxn ang="T71">
                  <a:pos x="T26" y="T27"/>
                </a:cxn>
                <a:cxn ang="T72">
                  <a:pos x="T28" y="T29"/>
                </a:cxn>
                <a:cxn ang="T73">
                  <a:pos x="T30" y="T31"/>
                </a:cxn>
                <a:cxn ang="T74">
                  <a:pos x="T32" y="T33"/>
                </a:cxn>
                <a:cxn ang="T75">
                  <a:pos x="T34" y="T35"/>
                </a:cxn>
                <a:cxn ang="T76">
                  <a:pos x="T36" y="T37"/>
                </a:cxn>
                <a:cxn ang="T77">
                  <a:pos x="T38" y="T39"/>
                </a:cxn>
                <a:cxn ang="T78">
                  <a:pos x="T40" y="T41"/>
                </a:cxn>
                <a:cxn ang="T79">
                  <a:pos x="T42" y="T43"/>
                </a:cxn>
                <a:cxn ang="T80">
                  <a:pos x="T44" y="T45"/>
                </a:cxn>
                <a:cxn ang="T81">
                  <a:pos x="T46" y="T47"/>
                </a:cxn>
                <a:cxn ang="T82">
                  <a:pos x="T48" y="T49"/>
                </a:cxn>
                <a:cxn ang="T83">
                  <a:pos x="T50" y="T51"/>
                </a:cxn>
                <a:cxn ang="T84">
                  <a:pos x="T52" y="T53"/>
                </a:cxn>
                <a:cxn ang="T85">
                  <a:pos x="T54" y="T55"/>
                </a:cxn>
                <a:cxn ang="T86">
                  <a:pos x="T56" y="T57"/>
                </a:cxn>
              </a:cxnLst>
              <a:rect l="0" t="0" r="r" b="b"/>
              <a:pathLst>
                <a:path w="710" h="768">
                  <a:moveTo>
                    <a:pt x="14" y="416"/>
                  </a:moveTo>
                  <a:cubicBezTo>
                    <a:pt x="6" y="353"/>
                    <a:pt x="0" y="339"/>
                    <a:pt x="14" y="272"/>
                  </a:cubicBezTo>
                  <a:cubicBezTo>
                    <a:pt x="24" y="227"/>
                    <a:pt x="72" y="178"/>
                    <a:pt x="102" y="144"/>
                  </a:cubicBezTo>
                  <a:cubicBezTo>
                    <a:pt x="117" y="127"/>
                    <a:pt x="134" y="112"/>
                    <a:pt x="150" y="96"/>
                  </a:cubicBezTo>
                  <a:cubicBezTo>
                    <a:pt x="164" y="82"/>
                    <a:pt x="198" y="64"/>
                    <a:pt x="198" y="64"/>
                  </a:cubicBezTo>
                  <a:cubicBezTo>
                    <a:pt x="231" y="14"/>
                    <a:pt x="294" y="7"/>
                    <a:pt x="350" y="0"/>
                  </a:cubicBezTo>
                  <a:cubicBezTo>
                    <a:pt x="411" y="3"/>
                    <a:pt x="473" y="1"/>
                    <a:pt x="534" y="8"/>
                  </a:cubicBezTo>
                  <a:cubicBezTo>
                    <a:pt x="582" y="13"/>
                    <a:pt x="624" y="71"/>
                    <a:pt x="662" y="96"/>
                  </a:cubicBezTo>
                  <a:cubicBezTo>
                    <a:pt x="691" y="140"/>
                    <a:pt x="698" y="151"/>
                    <a:pt x="710" y="200"/>
                  </a:cubicBezTo>
                  <a:cubicBezTo>
                    <a:pt x="707" y="267"/>
                    <a:pt x="707" y="333"/>
                    <a:pt x="702" y="400"/>
                  </a:cubicBezTo>
                  <a:cubicBezTo>
                    <a:pt x="700" y="423"/>
                    <a:pt x="688" y="428"/>
                    <a:pt x="678" y="448"/>
                  </a:cubicBezTo>
                  <a:cubicBezTo>
                    <a:pt x="646" y="512"/>
                    <a:pt x="626" y="607"/>
                    <a:pt x="550" y="632"/>
                  </a:cubicBezTo>
                  <a:cubicBezTo>
                    <a:pt x="539" y="640"/>
                    <a:pt x="530" y="651"/>
                    <a:pt x="518" y="656"/>
                  </a:cubicBezTo>
                  <a:cubicBezTo>
                    <a:pt x="503" y="662"/>
                    <a:pt x="470" y="648"/>
                    <a:pt x="470" y="664"/>
                  </a:cubicBezTo>
                  <a:cubicBezTo>
                    <a:pt x="470" y="681"/>
                    <a:pt x="502" y="675"/>
                    <a:pt x="518" y="680"/>
                  </a:cubicBezTo>
                  <a:cubicBezTo>
                    <a:pt x="534" y="685"/>
                    <a:pt x="566" y="696"/>
                    <a:pt x="566" y="696"/>
                  </a:cubicBezTo>
                  <a:cubicBezTo>
                    <a:pt x="569" y="704"/>
                    <a:pt x="580" y="714"/>
                    <a:pt x="574" y="720"/>
                  </a:cubicBezTo>
                  <a:cubicBezTo>
                    <a:pt x="562" y="732"/>
                    <a:pt x="542" y="731"/>
                    <a:pt x="526" y="736"/>
                  </a:cubicBezTo>
                  <a:cubicBezTo>
                    <a:pt x="517" y="739"/>
                    <a:pt x="511" y="748"/>
                    <a:pt x="502" y="752"/>
                  </a:cubicBezTo>
                  <a:cubicBezTo>
                    <a:pt x="487" y="759"/>
                    <a:pt x="454" y="768"/>
                    <a:pt x="454" y="768"/>
                  </a:cubicBezTo>
                  <a:cubicBezTo>
                    <a:pt x="448" y="750"/>
                    <a:pt x="453" y="725"/>
                    <a:pt x="438" y="712"/>
                  </a:cubicBezTo>
                  <a:cubicBezTo>
                    <a:pt x="407" y="685"/>
                    <a:pt x="256" y="689"/>
                    <a:pt x="246" y="688"/>
                  </a:cubicBezTo>
                  <a:cubicBezTo>
                    <a:pt x="207" y="680"/>
                    <a:pt x="166" y="674"/>
                    <a:pt x="134" y="648"/>
                  </a:cubicBezTo>
                  <a:cubicBezTo>
                    <a:pt x="125" y="641"/>
                    <a:pt x="117" y="633"/>
                    <a:pt x="110" y="624"/>
                  </a:cubicBezTo>
                  <a:cubicBezTo>
                    <a:pt x="98" y="609"/>
                    <a:pt x="78" y="576"/>
                    <a:pt x="78" y="576"/>
                  </a:cubicBezTo>
                  <a:cubicBezTo>
                    <a:pt x="66" y="506"/>
                    <a:pt x="74" y="544"/>
                    <a:pt x="54" y="464"/>
                  </a:cubicBezTo>
                  <a:cubicBezTo>
                    <a:pt x="37" y="397"/>
                    <a:pt x="58" y="463"/>
                    <a:pt x="30" y="408"/>
                  </a:cubicBezTo>
                  <a:cubicBezTo>
                    <a:pt x="26" y="400"/>
                    <a:pt x="30" y="380"/>
                    <a:pt x="22" y="384"/>
                  </a:cubicBezTo>
                  <a:cubicBezTo>
                    <a:pt x="12" y="389"/>
                    <a:pt x="17" y="405"/>
                    <a:pt x="14" y="416"/>
                  </a:cubicBezTo>
                  <a:close/>
                </a:path>
              </a:pathLst>
            </a:custGeom>
            <a:solidFill>
              <a:schemeClr val="accent2">
                <a:alpha val="50195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1035" name="Group 9">
              <a:extLst>
                <a:ext uri="{FF2B5EF4-FFF2-40B4-BE49-F238E27FC236}">
                  <a16:creationId xmlns:a16="http://schemas.microsoft.com/office/drawing/2014/main" id="{BA47FA84-14F6-4D4E-90AE-423A4ACB37B3}"/>
                </a:ext>
              </a:extLst>
            </p:cNvPr>
            <p:cNvGrpSpPr>
              <a:grpSpLocks/>
            </p:cNvGrpSpPr>
            <p:nvPr/>
          </p:nvGrpSpPr>
          <p:grpSpPr bwMode="auto">
            <a:xfrm rot="416244">
              <a:off x="9" y="1746"/>
              <a:ext cx="1771" cy="1741"/>
              <a:chOff x="41" y="2787"/>
              <a:chExt cx="902" cy="833"/>
            </a:xfrm>
          </p:grpSpPr>
          <p:sp>
            <p:nvSpPr>
              <p:cNvPr id="1062" name="Freeform 10">
                <a:extLst>
                  <a:ext uri="{FF2B5EF4-FFF2-40B4-BE49-F238E27FC236}">
                    <a16:creationId xmlns:a16="http://schemas.microsoft.com/office/drawing/2014/main" id="{26F1A477-073C-43BB-B518-18DB60C95DAB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auto">
              <a:xfrm rot="373331" flipH="1">
                <a:off x="125" y="2787"/>
                <a:ext cx="313" cy="303"/>
              </a:xfrm>
              <a:custGeom>
                <a:avLst/>
                <a:gdLst>
                  <a:gd name="T0" fmla="*/ 66 w 217"/>
                  <a:gd name="T1" fmla="*/ 303 h 210"/>
                  <a:gd name="T2" fmla="*/ 53 w 217"/>
                  <a:gd name="T3" fmla="*/ 286 h 210"/>
                  <a:gd name="T4" fmla="*/ 38 w 217"/>
                  <a:gd name="T5" fmla="*/ 261 h 210"/>
                  <a:gd name="T6" fmla="*/ 22 w 217"/>
                  <a:gd name="T7" fmla="*/ 229 h 210"/>
                  <a:gd name="T8" fmla="*/ 7 w 217"/>
                  <a:gd name="T9" fmla="*/ 195 h 210"/>
                  <a:gd name="T10" fmla="*/ 0 w 217"/>
                  <a:gd name="T11" fmla="*/ 157 h 210"/>
                  <a:gd name="T12" fmla="*/ 1 w 217"/>
                  <a:gd name="T13" fmla="*/ 118 h 210"/>
                  <a:gd name="T14" fmla="*/ 13 w 217"/>
                  <a:gd name="T15" fmla="*/ 82 h 210"/>
                  <a:gd name="T16" fmla="*/ 39 w 217"/>
                  <a:gd name="T17" fmla="*/ 51 h 210"/>
                  <a:gd name="T18" fmla="*/ 65 w 217"/>
                  <a:gd name="T19" fmla="*/ 32 h 210"/>
                  <a:gd name="T20" fmla="*/ 87 w 217"/>
                  <a:gd name="T21" fmla="*/ 17 h 210"/>
                  <a:gd name="T22" fmla="*/ 104 w 217"/>
                  <a:gd name="T23" fmla="*/ 10 h 210"/>
                  <a:gd name="T24" fmla="*/ 117 w 217"/>
                  <a:gd name="T25" fmla="*/ 7 h 210"/>
                  <a:gd name="T26" fmla="*/ 127 w 217"/>
                  <a:gd name="T27" fmla="*/ 7 h 210"/>
                  <a:gd name="T28" fmla="*/ 150 w 217"/>
                  <a:gd name="T29" fmla="*/ 0 h 210"/>
                  <a:gd name="T30" fmla="*/ 213 w 217"/>
                  <a:gd name="T31" fmla="*/ 12 h 210"/>
                  <a:gd name="T32" fmla="*/ 231 w 217"/>
                  <a:gd name="T33" fmla="*/ 17 h 210"/>
                  <a:gd name="T34" fmla="*/ 248 w 217"/>
                  <a:gd name="T35" fmla="*/ 22 h 210"/>
                  <a:gd name="T36" fmla="*/ 263 w 217"/>
                  <a:gd name="T37" fmla="*/ 27 h 210"/>
                  <a:gd name="T38" fmla="*/ 274 w 217"/>
                  <a:gd name="T39" fmla="*/ 33 h 210"/>
                  <a:gd name="T40" fmla="*/ 286 w 217"/>
                  <a:gd name="T41" fmla="*/ 39 h 210"/>
                  <a:gd name="T42" fmla="*/ 296 w 217"/>
                  <a:gd name="T43" fmla="*/ 46 h 210"/>
                  <a:gd name="T44" fmla="*/ 304 w 217"/>
                  <a:gd name="T45" fmla="*/ 55 h 210"/>
                  <a:gd name="T46" fmla="*/ 313 w 217"/>
                  <a:gd name="T47" fmla="*/ 65 h 210"/>
                  <a:gd name="T48" fmla="*/ 296 w 217"/>
                  <a:gd name="T49" fmla="*/ 58 h 210"/>
                  <a:gd name="T50" fmla="*/ 280 w 217"/>
                  <a:gd name="T51" fmla="*/ 52 h 210"/>
                  <a:gd name="T52" fmla="*/ 264 w 217"/>
                  <a:gd name="T53" fmla="*/ 48 h 210"/>
                  <a:gd name="T54" fmla="*/ 248 w 217"/>
                  <a:gd name="T55" fmla="*/ 43 h 210"/>
                  <a:gd name="T56" fmla="*/ 235 w 217"/>
                  <a:gd name="T57" fmla="*/ 39 h 210"/>
                  <a:gd name="T58" fmla="*/ 221 w 217"/>
                  <a:gd name="T59" fmla="*/ 38 h 210"/>
                  <a:gd name="T60" fmla="*/ 206 w 217"/>
                  <a:gd name="T61" fmla="*/ 35 h 210"/>
                  <a:gd name="T62" fmla="*/ 193 w 217"/>
                  <a:gd name="T63" fmla="*/ 35 h 210"/>
                  <a:gd name="T64" fmla="*/ 180 w 217"/>
                  <a:gd name="T65" fmla="*/ 35 h 210"/>
                  <a:gd name="T66" fmla="*/ 167 w 217"/>
                  <a:gd name="T67" fmla="*/ 36 h 210"/>
                  <a:gd name="T68" fmla="*/ 154 w 217"/>
                  <a:gd name="T69" fmla="*/ 39 h 210"/>
                  <a:gd name="T70" fmla="*/ 143 w 217"/>
                  <a:gd name="T71" fmla="*/ 42 h 210"/>
                  <a:gd name="T72" fmla="*/ 131 w 217"/>
                  <a:gd name="T73" fmla="*/ 48 h 210"/>
                  <a:gd name="T74" fmla="*/ 118 w 217"/>
                  <a:gd name="T75" fmla="*/ 52 h 210"/>
                  <a:gd name="T76" fmla="*/ 107 w 217"/>
                  <a:gd name="T77" fmla="*/ 59 h 210"/>
                  <a:gd name="T78" fmla="*/ 95 w 217"/>
                  <a:gd name="T79" fmla="*/ 66 h 210"/>
                  <a:gd name="T80" fmla="*/ 75 w 217"/>
                  <a:gd name="T81" fmla="*/ 88 h 210"/>
                  <a:gd name="T82" fmla="*/ 61 w 217"/>
                  <a:gd name="T83" fmla="*/ 115 h 210"/>
                  <a:gd name="T84" fmla="*/ 53 w 217"/>
                  <a:gd name="T85" fmla="*/ 149 h 210"/>
                  <a:gd name="T86" fmla="*/ 50 w 217"/>
                  <a:gd name="T87" fmla="*/ 182 h 210"/>
                  <a:gd name="T88" fmla="*/ 50 w 217"/>
                  <a:gd name="T89" fmla="*/ 218 h 210"/>
                  <a:gd name="T90" fmla="*/ 55 w 217"/>
                  <a:gd name="T91" fmla="*/ 251 h 210"/>
                  <a:gd name="T92" fmla="*/ 59 w 217"/>
                  <a:gd name="T93" fmla="*/ 280 h 210"/>
                  <a:gd name="T94" fmla="*/ 66 w 217"/>
                  <a:gd name="T95" fmla="*/ 303 h 210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</a:gdLst>
                <a:ahLst/>
                <a:cxnLst>
                  <a:cxn ang="T96">
                    <a:pos x="T0" y="T1"/>
                  </a:cxn>
                  <a:cxn ang="T97">
                    <a:pos x="T2" y="T3"/>
                  </a:cxn>
                  <a:cxn ang="T98">
                    <a:pos x="T4" y="T5"/>
                  </a:cxn>
                  <a:cxn ang="T99">
                    <a:pos x="T6" y="T7"/>
                  </a:cxn>
                  <a:cxn ang="T100">
                    <a:pos x="T8" y="T9"/>
                  </a:cxn>
                  <a:cxn ang="T101">
                    <a:pos x="T10" y="T11"/>
                  </a:cxn>
                  <a:cxn ang="T102">
                    <a:pos x="T12" y="T13"/>
                  </a:cxn>
                  <a:cxn ang="T103">
                    <a:pos x="T14" y="T15"/>
                  </a:cxn>
                  <a:cxn ang="T104">
                    <a:pos x="T16" y="T17"/>
                  </a:cxn>
                  <a:cxn ang="T105">
                    <a:pos x="T18" y="T19"/>
                  </a:cxn>
                  <a:cxn ang="T106">
                    <a:pos x="T20" y="T21"/>
                  </a:cxn>
                  <a:cxn ang="T107">
                    <a:pos x="T22" y="T23"/>
                  </a:cxn>
                  <a:cxn ang="T108">
                    <a:pos x="T24" y="T25"/>
                  </a:cxn>
                  <a:cxn ang="T109">
                    <a:pos x="T26" y="T27"/>
                  </a:cxn>
                  <a:cxn ang="T110">
                    <a:pos x="T28" y="T29"/>
                  </a:cxn>
                  <a:cxn ang="T111">
                    <a:pos x="T30" y="T31"/>
                  </a:cxn>
                  <a:cxn ang="T112">
                    <a:pos x="T32" y="T33"/>
                  </a:cxn>
                  <a:cxn ang="T113">
                    <a:pos x="T34" y="T35"/>
                  </a:cxn>
                  <a:cxn ang="T114">
                    <a:pos x="T36" y="T37"/>
                  </a:cxn>
                  <a:cxn ang="T115">
                    <a:pos x="T38" y="T39"/>
                  </a:cxn>
                  <a:cxn ang="T116">
                    <a:pos x="T40" y="T41"/>
                  </a:cxn>
                  <a:cxn ang="T117">
                    <a:pos x="T42" y="T43"/>
                  </a:cxn>
                  <a:cxn ang="T118">
                    <a:pos x="T44" y="T45"/>
                  </a:cxn>
                  <a:cxn ang="T119">
                    <a:pos x="T46" y="T47"/>
                  </a:cxn>
                  <a:cxn ang="T120">
                    <a:pos x="T48" y="T49"/>
                  </a:cxn>
                  <a:cxn ang="T121">
                    <a:pos x="T50" y="T51"/>
                  </a:cxn>
                  <a:cxn ang="T122">
                    <a:pos x="T52" y="T53"/>
                  </a:cxn>
                  <a:cxn ang="T123">
                    <a:pos x="T54" y="T55"/>
                  </a:cxn>
                  <a:cxn ang="T124">
                    <a:pos x="T56" y="T57"/>
                  </a:cxn>
                  <a:cxn ang="T125">
                    <a:pos x="T58" y="T59"/>
                  </a:cxn>
                  <a:cxn ang="T126">
                    <a:pos x="T60" y="T61"/>
                  </a:cxn>
                  <a:cxn ang="T127">
                    <a:pos x="T62" y="T63"/>
                  </a:cxn>
                  <a:cxn ang="T128">
                    <a:pos x="T64" y="T65"/>
                  </a:cxn>
                  <a:cxn ang="T129">
                    <a:pos x="T66" y="T67"/>
                  </a:cxn>
                  <a:cxn ang="T130">
                    <a:pos x="T68" y="T69"/>
                  </a:cxn>
                  <a:cxn ang="T131">
                    <a:pos x="T70" y="T71"/>
                  </a:cxn>
                  <a:cxn ang="T132">
                    <a:pos x="T72" y="T73"/>
                  </a:cxn>
                  <a:cxn ang="T133">
                    <a:pos x="T74" y="T75"/>
                  </a:cxn>
                  <a:cxn ang="T134">
                    <a:pos x="T76" y="T77"/>
                  </a:cxn>
                  <a:cxn ang="T135">
                    <a:pos x="T78" y="T79"/>
                  </a:cxn>
                  <a:cxn ang="T136">
                    <a:pos x="T80" y="T81"/>
                  </a:cxn>
                  <a:cxn ang="T137">
                    <a:pos x="T82" y="T83"/>
                  </a:cxn>
                  <a:cxn ang="T138">
                    <a:pos x="T84" y="T85"/>
                  </a:cxn>
                  <a:cxn ang="T139">
                    <a:pos x="T86" y="T87"/>
                  </a:cxn>
                  <a:cxn ang="T140">
                    <a:pos x="T88" y="T89"/>
                  </a:cxn>
                  <a:cxn ang="T141">
                    <a:pos x="T90" y="T91"/>
                  </a:cxn>
                  <a:cxn ang="T142">
                    <a:pos x="T92" y="T93"/>
                  </a:cxn>
                  <a:cxn ang="T143">
                    <a:pos x="T94" y="T95"/>
                  </a:cxn>
                </a:cxnLst>
                <a:rect l="0" t="0" r="r" b="b"/>
                <a:pathLst>
                  <a:path w="217" h="210">
                    <a:moveTo>
                      <a:pt x="46" y="210"/>
                    </a:moveTo>
                    <a:lnTo>
                      <a:pt x="37" y="198"/>
                    </a:lnTo>
                    <a:lnTo>
                      <a:pt x="26" y="181"/>
                    </a:lnTo>
                    <a:lnTo>
                      <a:pt x="15" y="159"/>
                    </a:lnTo>
                    <a:lnTo>
                      <a:pt x="5" y="135"/>
                    </a:lnTo>
                    <a:lnTo>
                      <a:pt x="0" y="109"/>
                    </a:lnTo>
                    <a:lnTo>
                      <a:pt x="1" y="82"/>
                    </a:lnTo>
                    <a:lnTo>
                      <a:pt x="9" y="57"/>
                    </a:lnTo>
                    <a:lnTo>
                      <a:pt x="27" y="35"/>
                    </a:lnTo>
                    <a:lnTo>
                      <a:pt x="45" y="22"/>
                    </a:lnTo>
                    <a:lnTo>
                      <a:pt x="60" y="12"/>
                    </a:lnTo>
                    <a:lnTo>
                      <a:pt x="72" y="7"/>
                    </a:lnTo>
                    <a:lnTo>
                      <a:pt x="81" y="5"/>
                    </a:lnTo>
                    <a:lnTo>
                      <a:pt x="88" y="5"/>
                    </a:lnTo>
                    <a:lnTo>
                      <a:pt x="104" y="0"/>
                    </a:lnTo>
                    <a:lnTo>
                      <a:pt x="148" y="8"/>
                    </a:lnTo>
                    <a:lnTo>
                      <a:pt x="160" y="12"/>
                    </a:lnTo>
                    <a:lnTo>
                      <a:pt x="172" y="15"/>
                    </a:lnTo>
                    <a:lnTo>
                      <a:pt x="182" y="19"/>
                    </a:lnTo>
                    <a:lnTo>
                      <a:pt x="190" y="23"/>
                    </a:lnTo>
                    <a:lnTo>
                      <a:pt x="198" y="27"/>
                    </a:lnTo>
                    <a:lnTo>
                      <a:pt x="205" y="32"/>
                    </a:lnTo>
                    <a:lnTo>
                      <a:pt x="211" y="38"/>
                    </a:lnTo>
                    <a:lnTo>
                      <a:pt x="217" y="45"/>
                    </a:lnTo>
                    <a:lnTo>
                      <a:pt x="205" y="40"/>
                    </a:lnTo>
                    <a:lnTo>
                      <a:pt x="194" y="36"/>
                    </a:lnTo>
                    <a:lnTo>
                      <a:pt x="183" y="33"/>
                    </a:lnTo>
                    <a:lnTo>
                      <a:pt x="172" y="30"/>
                    </a:lnTo>
                    <a:lnTo>
                      <a:pt x="163" y="27"/>
                    </a:lnTo>
                    <a:lnTo>
                      <a:pt x="153" y="26"/>
                    </a:lnTo>
                    <a:lnTo>
                      <a:pt x="143" y="24"/>
                    </a:lnTo>
                    <a:lnTo>
                      <a:pt x="134" y="24"/>
                    </a:lnTo>
                    <a:lnTo>
                      <a:pt x="125" y="24"/>
                    </a:lnTo>
                    <a:lnTo>
                      <a:pt x="116" y="25"/>
                    </a:lnTo>
                    <a:lnTo>
                      <a:pt x="107" y="27"/>
                    </a:lnTo>
                    <a:lnTo>
                      <a:pt x="99" y="29"/>
                    </a:lnTo>
                    <a:lnTo>
                      <a:pt x="91" y="33"/>
                    </a:lnTo>
                    <a:lnTo>
                      <a:pt x="82" y="36"/>
                    </a:lnTo>
                    <a:lnTo>
                      <a:pt x="74" y="41"/>
                    </a:lnTo>
                    <a:lnTo>
                      <a:pt x="66" y="46"/>
                    </a:lnTo>
                    <a:lnTo>
                      <a:pt x="52" y="61"/>
                    </a:lnTo>
                    <a:lnTo>
                      <a:pt x="42" y="80"/>
                    </a:lnTo>
                    <a:lnTo>
                      <a:pt x="37" y="103"/>
                    </a:lnTo>
                    <a:lnTo>
                      <a:pt x="35" y="126"/>
                    </a:lnTo>
                    <a:lnTo>
                      <a:pt x="35" y="151"/>
                    </a:lnTo>
                    <a:lnTo>
                      <a:pt x="38" y="174"/>
                    </a:lnTo>
                    <a:lnTo>
                      <a:pt x="41" y="194"/>
                    </a:lnTo>
                    <a:lnTo>
                      <a:pt x="46" y="21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63" name="Freeform 11">
                <a:extLst>
                  <a:ext uri="{FF2B5EF4-FFF2-40B4-BE49-F238E27FC236}">
                    <a16:creationId xmlns:a16="http://schemas.microsoft.com/office/drawing/2014/main" id="{20581B8C-6E4F-490B-AFEB-BBC944F50A7D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auto">
              <a:xfrm rot="373331" flipH="1">
                <a:off x="41" y="2843"/>
                <a:ext cx="262" cy="308"/>
              </a:xfrm>
              <a:custGeom>
                <a:avLst/>
                <a:gdLst>
                  <a:gd name="T0" fmla="*/ 157 w 182"/>
                  <a:gd name="T1" fmla="*/ 0 h 213"/>
                  <a:gd name="T2" fmla="*/ 161 w 182"/>
                  <a:gd name="T3" fmla="*/ 3 h 213"/>
                  <a:gd name="T4" fmla="*/ 170 w 182"/>
                  <a:gd name="T5" fmla="*/ 12 h 213"/>
                  <a:gd name="T6" fmla="*/ 183 w 182"/>
                  <a:gd name="T7" fmla="*/ 26 h 213"/>
                  <a:gd name="T8" fmla="*/ 197 w 182"/>
                  <a:gd name="T9" fmla="*/ 48 h 213"/>
                  <a:gd name="T10" fmla="*/ 209 w 182"/>
                  <a:gd name="T11" fmla="*/ 75 h 213"/>
                  <a:gd name="T12" fmla="*/ 216 w 182"/>
                  <a:gd name="T13" fmla="*/ 110 h 213"/>
                  <a:gd name="T14" fmla="*/ 216 w 182"/>
                  <a:gd name="T15" fmla="*/ 152 h 213"/>
                  <a:gd name="T16" fmla="*/ 207 w 182"/>
                  <a:gd name="T17" fmla="*/ 201 h 213"/>
                  <a:gd name="T18" fmla="*/ 202 w 182"/>
                  <a:gd name="T19" fmla="*/ 215 h 213"/>
                  <a:gd name="T20" fmla="*/ 196 w 182"/>
                  <a:gd name="T21" fmla="*/ 227 h 213"/>
                  <a:gd name="T22" fmla="*/ 189 w 182"/>
                  <a:gd name="T23" fmla="*/ 239 h 213"/>
                  <a:gd name="T24" fmla="*/ 180 w 182"/>
                  <a:gd name="T25" fmla="*/ 250 h 213"/>
                  <a:gd name="T26" fmla="*/ 168 w 182"/>
                  <a:gd name="T27" fmla="*/ 260 h 213"/>
                  <a:gd name="T28" fmla="*/ 158 w 182"/>
                  <a:gd name="T29" fmla="*/ 268 h 213"/>
                  <a:gd name="T30" fmla="*/ 147 w 182"/>
                  <a:gd name="T31" fmla="*/ 276 h 213"/>
                  <a:gd name="T32" fmla="*/ 132 w 182"/>
                  <a:gd name="T33" fmla="*/ 282 h 213"/>
                  <a:gd name="T34" fmla="*/ 118 w 182"/>
                  <a:gd name="T35" fmla="*/ 285 h 213"/>
                  <a:gd name="T36" fmla="*/ 104 w 182"/>
                  <a:gd name="T37" fmla="*/ 289 h 213"/>
                  <a:gd name="T38" fmla="*/ 88 w 182"/>
                  <a:gd name="T39" fmla="*/ 291 h 213"/>
                  <a:gd name="T40" fmla="*/ 71 w 182"/>
                  <a:gd name="T41" fmla="*/ 291 h 213"/>
                  <a:gd name="T42" fmla="*/ 53 w 182"/>
                  <a:gd name="T43" fmla="*/ 289 h 213"/>
                  <a:gd name="T44" fmla="*/ 36 w 182"/>
                  <a:gd name="T45" fmla="*/ 285 h 213"/>
                  <a:gd name="T46" fmla="*/ 17 w 182"/>
                  <a:gd name="T47" fmla="*/ 279 h 213"/>
                  <a:gd name="T48" fmla="*/ 0 w 182"/>
                  <a:gd name="T49" fmla="*/ 272 h 213"/>
                  <a:gd name="T50" fmla="*/ 16 w 182"/>
                  <a:gd name="T51" fmla="*/ 282 h 213"/>
                  <a:gd name="T52" fmla="*/ 32 w 182"/>
                  <a:gd name="T53" fmla="*/ 289 h 213"/>
                  <a:gd name="T54" fmla="*/ 48 w 182"/>
                  <a:gd name="T55" fmla="*/ 296 h 213"/>
                  <a:gd name="T56" fmla="*/ 62 w 182"/>
                  <a:gd name="T57" fmla="*/ 301 h 213"/>
                  <a:gd name="T58" fmla="*/ 76 w 182"/>
                  <a:gd name="T59" fmla="*/ 305 h 213"/>
                  <a:gd name="T60" fmla="*/ 91 w 182"/>
                  <a:gd name="T61" fmla="*/ 307 h 213"/>
                  <a:gd name="T62" fmla="*/ 105 w 182"/>
                  <a:gd name="T63" fmla="*/ 308 h 213"/>
                  <a:gd name="T64" fmla="*/ 119 w 182"/>
                  <a:gd name="T65" fmla="*/ 308 h 213"/>
                  <a:gd name="T66" fmla="*/ 131 w 182"/>
                  <a:gd name="T67" fmla="*/ 307 h 213"/>
                  <a:gd name="T68" fmla="*/ 144 w 182"/>
                  <a:gd name="T69" fmla="*/ 304 h 213"/>
                  <a:gd name="T70" fmla="*/ 155 w 182"/>
                  <a:gd name="T71" fmla="*/ 301 h 213"/>
                  <a:gd name="T72" fmla="*/ 167 w 182"/>
                  <a:gd name="T73" fmla="*/ 298 h 213"/>
                  <a:gd name="T74" fmla="*/ 177 w 182"/>
                  <a:gd name="T75" fmla="*/ 294 h 213"/>
                  <a:gd name="T76" fmla="*/ 187 w 182"/>
                  <a:gd name="T77" fmla="*/ 288 h 213"/>
                  <a:gd name="T78" fmla="*/ 196 w 182"/>
                  <a:gd name="T79" fmla="*/ 282 h 213"/>
                  <a:gd name="T80" fmla="*/ 204 w 182"/>
                  <a:gd name="T81" fmla="*/ 276 h 213"/>
                  <a:gd name="T82" fmla="*/ 227 w 182"/>
                  <a:gd name="T83" fmla="*/ 254 h 213"/>
                  <a:gd name="T84" fmla="*/ 243 w 182"/>
                  <a:gd name="T85" fmla="*/ 233 h 213"/>
                  <a:gd name="T86" fmla="*/ 253 w 182"/>
                  <a:gd name="T87" fmla="*/ 208 h 213"/>
                  <a:gd name="T88" fmla="*/ 258 w 182"/>
                  <a:gd name="T89" fmla="*/ 185 h 213"/>
                  <a:gd name="T90" fmla="*/ 261 w 182"/>
                  <a:gd name="T91" fmla="*/ 161 h 213"/>
                  <a:gd name="T92" fmla="*/ 261 w 182"/>
                  <a:gd name="T93" fmla="*/ 137 h 213"/>
                  <a:gd name="T94" fmla="*/ 262 w 182"/>
                  <a:gd name="T95" fmla="*/ 114 h 213"/>
                  <a:gd name="T96" fmla="*/ 249 w 182"/>
                  <a:gd name="T97" fmla="*/ 67 h 213"/>
                  <a:gd name="T98" fmla="*/ 225 w 182"/>
                  <a:gd name="T99" fmla="*/ 30 h 213"/>
                  <a:gd name="T100" fmla="*/ 217 w 182"/>
                  <a:gd name="T101" fmla="*/ 26 h 213"/>
                  <a:gd name="T102" fmla="*/ 212 w 182"/>
                  <a:gd name="T103" fmla="*/ 22 h 213"/>
                  <a:gd name="T104" fmla="*/ 204 w 182"/>
                  <a:gd name="T105" fmla="*/ 19 h 213"/>
                  <a:gd name="T106" fmla="*/ 199 w 182"/>
                  <a:gd name="T107" fmla="*/ 16 h 213"/>
                  <a:gd name="T108" fmla="*/ 190 w 182"/>
                  <a:gd name="T109" fmla="*/ 13 h 213"/>
                  <a:gd name="T110" fmla="*/ 181 w 182"/>
                  <a:gd name="T111" fmla="*/ 9 h 213"/>
                  <a:gd name="T112" fmla="*/ 171 w 182"/>
                  <a:gd name="T113" fmla="*/ 4 h 213"/>
                  <a:gd name="T114" fmla="*/ 157 w 182"/>
                  <a:gd name="T115" fmla="*/ 0 h 213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60000 65536"/>
                  <a:gd name="T160" fmla="*/ 0 60000 65536"/>
                  <a:gd name="T161" fmla="*/ 0 60000 65536"/>
                  <a:gd name="T162" fmla="*/ 0 60000 65536"/>
                  <a:gd name="T163" fmla="*/ 0 60000 65536"/>
                  <a:gd name="T164" fmla="*/ 0 60000 65536"/>
                  <a:gd name="T165" fmla="*/ 0 60000 65536"/>
                  <a:gd name="T166" fmla="*/ 0 60000 65536"/>
                  <a:gd name="T167" fmla="*/ 0 60000 65536"/>
                  <a:gd name="T168" fmla="*/ 0 60000 65536"/>
                  <a:gd name="T169" fmla="*/ 0 60000 65536"/>
                  <a:gd name="T170" fmla="*/ 0 60000 65536"/>
                  <a:gd name="T171" fmla="*/ 0 60000 65536"/>
                  <a:gd name="T172" fmla="*/ 0 60000 65536"/>
                  <a:gd name="T173" fmla="*/ 0 60000 65536"/>
                </a:gdLst>
                <a:ahLst/>
                <a:cxnLst>
                  <a:cxn ang="T116">
                    <a:pos x="T0" y="T1"/>
                  </a:cxn>
                  <a:cxn ang="T117">
                    <a:pos x="T2" y="T3"/>
                  </a:cxn>
                  <a:cxn ang="T118">
                    <a:pos x="T4" y="T5"/>
                  </a:cxn>
                  <a:cxn ang="T119">
                    <a:pos x="T6" y="T7"/>
                  </a:cxn>
                  <a:cxn ang="T120">
                    <a:pos x="T8" y="T9"/>
                  </a:cxn>
                  <a:cxn ang="T121">
                    <a:pos x="T10" y="T11"/>
                  </a:cxn>
                  <a:cxn ang="T122">
                    <a:pos x="T12" y="T13"/>
                  </a:cxn>
                  <a:cxn ang="T123">
                    <a:pos x="T14" y="T15"/>
                  </a:cxn>
                  <a:cxn ang="T124">
                    <a:pos x="T16" y="T17"/>
                  </a:cxn>
                  <a:cxn ang="T125">
                    <a:pos x="T18" y="T19"/>
                  </a:cxn>
                  <a:cxn ang="T126">
                    <a:pos x="T20" y="T21"/>
                  </a:cxn>
                  <a:cxn ang="T127">
                    <a:pos x="T22" y="T23"/>
                  </a:cxn>
                  <a:cxn ang="T128">
                    <a:pos x="T24" y="T25"/>
                  </a:cxn>
                  <a:cxn ang="T129">
                    <a:pos x="T26" y="T27"/>
                  </a:cxn>
                  <a:cxn ang="T130">
                    <a:pos x="T28" y="T29"/>
                  </a:cxn>
                  <a:cxn ang="T131">
                    <a:pos x="T30" y="T31"/>
                  </a:cxn>
                  <a:cxn ang="T132">
                    <a:pos x="T32" y="T33"/>
                  </a:cxn>
                  <a:cxn ang="T133">
                    <a:pos x="T34" y="T35"/>
                  </a:cxn>
                  <a:cxn ang="T134">
                    <a:pos x="T36" y="T37"/>
                  </a:cxn>
                  <a:cxn ang="T135">
                    <a:pos x="T38" y="T39"/>
                  </a:cxn>
                  <a:cxn ang="T136">
                    <a:pos x="T40" y="T41"/>
                  </a:cxn>
                  <a:cxn ang="T137">
                    <a:pos x="T42" y="T43"/>
                  </a:cxn>
                  <a:cxn ang="T138">
                    <a:pos x="T44" y="T45"/>
                  </a:cxn>
                  <a:cxn ang="T139">
                    <a:pos x="T46" y="T47"/>
                  </a:cxn>
                  <a:cxn ang="T140">
                    <a:pos x="T48" y="T49"/>
                  </a:cxn>
                  <a:cxn ang="T141">
                    <a:pos x="T50" y="T51"/>
                  </a:cxn>
                  <a:cxn ang="T142">
                    <a:pos x="T52" y="T53"/>
                  </a:cxn>
                  <a:cxn ang="T143">
                    <a:pos x="T54" y="T55"/>
                  </a:cxn>
                  <a:cxn ang="T144">
                    <a:pos x="T56" y="T57"/>
                  </a:cxn>
                  <a:cxn ang="T145">
                    <a:pos x="T58" y="T59"/>
                  </a:cxn>
                  <a:cxn ang="T146">
                    <a:pos x="T60" y="T61"/>
                  </a:cxn>
                  <a:cxn ang="T147">
                    <a:pos x="T62" y="T63"/>
                  </a:cxn>
                  <a:cxn ang="T148">
                    <a:pos x="T64" y="T65"/>
                  </a:cxn>
                  <a:cxn ang="T149">
                    <a:pos x="T66" y="T67"/>
                  </a:cxn>
                  <a:cxn ang="T150">
                    <a:pos x="T68" y="T69"/>
                  </a:cxn>
                  <a:cxn ang="T151">
                    <a:pos x="T70" y="T71"/>
                  </a:cxn>
                  <a:cxn ang="T152">
                    <a:pos x="T72" y="T73"/>
                  </a:cxn>
                  <a:cxn ang="T153">
                    <a:pos x="T74" y="T75"/>
                  </a:cxn>
                  <a:cxn ang="T154">
                    <a:pos x="T76" y="T77"/>
                  </a:cxn>
                  <a:cxn ang="T155">
                    <a:pos x="T78" y="T79"/>
                  </a:cxn>
                  <a:cxn ang="T156">
                    <a:pos x="T80" y="T81"/>
                  </a:cxn>
                  <a:cxn ang="T157">
                    <a:pos x="T82" y="T83"/>
                  </a:cxn>
                  <a:cxn ang="T158">
                    <a:pos x="T84" y="T85"/>
                  </a:cxn>
                  <a:cxn ang="T159">
                    <a:pos x="T86" y="T87"/>
                  </a:cxn>
                  <a:cxn ang="T160">
                    <a:pos x="T88" y="T89"/>
                  </a:cxn>
                  <a:cxn ang="T161">
                    <a:pos x="T90" y="T91"/>
                  </a:cxn>
                  <a:cxn ang="T162">
                    <a:pos x="T92" y="T93"/>
                  </a:cxn>
                  <a:cxn ang="T163">
                    <a:pos x="T94" y="T95"/>
                  </a:cxn>
                  <a:cxn ang="T164">
                    <a:pos x="T96" y="T97"/>
                  </a:cxn>
                  <a:cxn ang="T165">
                    <a:pos x="T98" y="T99"/>
                  </a:cxn>
                  <a:cxn ang="T166">
                    <a:pos x="T100" y="T101"/>
                  </a:cxn>
                  <a:cxn ang="T167">
                    <a:pos x="T102" y="T103"/>
                  </a:cxn>
                  <a:cxn ang="T168">
                    <a:pos x="T104" y="T105"/>
                  </a:cxn>
                  <a:cxn ang="T169">
                    <a:pos x="T106" y="T107"/>
                  </a:cxn>
                  <a:cxn ang="T170">
                    <a:pos x="T108" y="T109"/>
                  </a:cxn>
                  <a:cxn ang="T171">
                    <a:pos x="T110" y="T111"/>
                  </a:cxn>
                  <a:cxn ang="T172">
                    <a:pos x="T112" y="T113"/>
                  </a:cxn>
                  <a:cxn ang="T173">
                    <a:pos x="T114" y="T115"/>
                  </a:cxn>
                </a:cxnLst>
                <a:rect l="0" t="0" r="r" b="b"/>
                <a:pathLst>
                  <a:path w="182" h="213">
                    <a:moveTo>
                      <a:pt x="109" y="0"/>
                    </a:moveTo>
                    <a:lnTo>
                      <a:pt x="112" y="2"/>
                    </a:lnTo>
                    <a:lnTo>
                      <a:pt x="118" y="8"/>
                    </a:lnTo>
                    <a:lnTo>
                      <a:pt x="127" y="18"/>
                    </a:lnTo>
                    <a:lnTo>
                      <a:pt x="137" y="33"/>
                    </a:lnTo>
                    <a:lnTo>
                      <a:pt x="145" y="52"/>
                    </a:lnTo>
                    <a:lnTo>
                      <a:pt x="150" y="76"/>
                    </a:lnTo>
                    <a:lnTo>
                      <a:pt x="150" y="105"/>
                    </a:lnTo>
                    <a:lnTo>
                      <a:pt x="144" y="139"/>
                    </a:lnTo>
                    <a:lnTo>
                      <a:pt x="140" y="149"/>
                    </a:lnTo>
                    <a:lnTo>
                      <a:pt x="136" y="157"/>
                    </a:lnTo>
                    <a:lnTo>
                      <a:pt x="131" y="165"/>
                    </a:lnTo>
                    <a:lnTo>
                      <a:pt x="125" y="173"/>
                    </a:lnTo>
                    <a:lnTo>
                      <a:pt x="117" y="180"/>
                    </a:lnTo>
                    <a:lnTo>
                      <a:pt x="110" y="185"/>
                    </a:lnTo>
                    <a:lnTo>
                      <a:pt x="102" y="191"/>
                    </a:lnTo>
                    <a:lnTo>
                      <a:pt x="92" y="195"/>
                    </a:lnTo>
                    <a:lnTo>
                      <a:pt x="82" y="197"/>
                    </a:lnTo>
                    <a:lnTo>
                      <a:pt x="72" y="200"/>
                    </a:lnTo>
                    <a:lnTo>
                      <a:pt x="61" y="201"/>
                    </a:lnTo>
                    <a:lnTo>
                      <a:pt x="49" y="201"/>
                    </a:lnTo>
                    <a:lnTo>
                      <a:pt x="37" y="200"/>
                    </a:lnTo>
                    <a:lnTo>
                      <a:pt x="25" y="197"/>
                    </a:lnTo>
                    <a:lnTo>
                      <a:pt x="12" y="193"/>
                    </a:lnTo>
                    <a:lnTo>
                      <a:pt x="0" y="188"/>
                    </a:lnTo>
                    <a:lnTo>
                      <a:pt x="11" y="195"/>
                    </a:lnTo>
                    <a:lnTo>
                      <a:pt x="22" y="200"/>
                    </a:lnTo>
                    <a:lnTo>
                      <a:pt x="33" y="205"/>
                    </a:lnTo>
                    <a:lnTo>
                      <a:pt x="43" y="208"/>
                    </a:lnTo>
                    <a:lnTo>
                      <a:pt x="53" y="211"/>
                    </a:lnTo>
                    <a:lnTo>
                      <a:pt x="63" y="212"/>
                    </a:lnTo>
                    <a:lnTo>
                      <a:pt x="73" y="213"/>
                    </a:lnTo>
                    <a:lnTo>
                      <a:pt x="83" y="213"/>
                    </a:lnTo>
                    <a:lnTo>
                      <a:pt x="91" y="212"/>
                    </a:lnTo>
                    <a:lnTo>
                      <a:pt x="100" y="210"/>
                    </a:lnTo>
                    <a:lnTo>
                      <a:pt x="108" y="208"/>
                    </a:lnTo>
                    <a:lnTo>
                      <a:pt x="116" y="206"/>
                    </a:lnTo>
                    <a:lnTo>
                      <a:pt x="123" y="203"/>
                    </a:lnTo>
                    <a:lnTo>
                      <a:pt x="130" y="199"/>
                    </a:lnTo>
                    <a:lnTo>
                      <a:pt x="136" y="195"/>
                    </a:lnTo>
                    <a:lnTo>
                      <a:pt x="142" y="191"/>
                    </a:lnTo>
                    <a:lnTo>
                      <a:pt x="158" y="176"/>
                    </a:lnTo>
                    <a:lnTo>
                      <a:pt x="169" y="161"/>
                    </a:lnTo>
                    <a:lnTo>
                      <a:pt x="176" y="144"/>
                    </a:lnTo>
                    <a:lnTo>
                      <a:pt x="179" y="128"/>
                    </a:lnTo>
                    <a:lnTo>
                      <a:pt x="181" y="111"/>
                    </a:lnTo>
                    <a:lnTo>
                      <a:pt x="181" y="95"/>
                    </a:lnTo>
                    <a:lnTo>
                      <a:pt x="182" y="79"/>
                    </a:lnTo>
                    <a:lnTo>
                      <a:pt x="173" y="46"/>
                    </a:lnTo>
                    <a:lnTo>
                      <a:pt x="156" y="21"/>
                    </a:lnTo>
                    <a:lnTo>
                      <a:pt x="151" y="18"/>
                    </a:lnTo>
                    <a:lnTo>
                      <a:pt x="147" y="15"/>
                    </a:lnTo>
                    <a:lnTo>
                      <a:pt x="142" y="13"/>
                    </a:lnTo>
                    <a:lnTo>
                      <a:pt x="138" y="11"/>
                    </a:lnTo>
                    <a:lnTo>
                      <a:pt x="132" y="9"/>
                    </a:lnTo>
                    <a:lnTo>
                      <a:pt x="126" y="6"/>
                    </a:lnTo>
                    <a:lnTo>
                      <a:pt x="119" y="3"/>
                    </a:lnTo>
                    <a:lnTo>
                      <a:pt x="109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64" name="Freeform 12">
                <a:extLst>
                  <a:ext uri="{FF2B5EF4-FFF2-40B4-BE49-F238E27FC236}">
                    <a16:creationId xmlns:a16="http://schemas.microsoft.com/office/drawing/2014/main" id="{5DC93BB8-F1AE-4AC2-A22B-C78E4D23A7DB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auto">
              <a:xfrm rot="373331" flipH="1">
                <a:off x="121" y="2907"/>
                <a:ext cx="93" cy="156"/>
              </a:xfrm>
              <a:custGeom>
                <a:avLst/>
                <a:gdLst>
                  <a:gd name="T0" fmla="*/ 68 w 128"/>
                  <a:gd name="T1" fmla="*/ 0 h 217"/>
                  <a:gd name="T2" fmla="*/ 76 w 128"/>
                  <a:gd name="T3" fmla="*/ 6 h 217"/>
                  <a:gd name="T4" fmla="*/ 84 w 128"/>
                  <a:gd name="T5" fmla="*/ 19 h 217"/>
                  <a:gd name="T6" fmla="*/ 89 w 128"/>
                  <a:gd name="T7" fmla="*/ 36 h 217"/>
                  <a:gd name="T8" fmla="*/ 93 w 128"/>
                  <a:gd name="T9" fmla="*/ 56 h 217"/>
                  <a:gd name="T10" fmla="*/ 92 w 128"/>
                  <a:gd name="T11" fmla="*/ 80 h 217"/>
                  <a:gd name="T12" fmla="*/ 84 w 128"/>
                  <a:gd name="T13" fmla="*/ 104 h 217"/>
                  <a:gd name="T14" fmla="*/ 68 w 128"/>
                  <a:gd name="T15" fmla="*/ 130 h 217"/>
                  <a:gd name="T16" fmla="*/ 44 w 128"/>
                  <a:gd name="T17" fmla="*/ 156 h 217"/>
                  <a:gd name="T18" fmla="*/ 36 w 128"/>
                  <a:gd name="T19" fmla="*/ 153 h 217"/>
                  <a:gd name="T20" fmla="*/ 28 w 128"/>
                  <a:gd name="T21" fmla="*/ 151 h 217"/>
                  <a:gd name="T22" fmla="*/ 19 w 128"/>
                  <a:gd name="T23" fmla="*/ 147 h 217"/>
                  <a:gd name="T24" fmla="*/ 12 w 128"/>
                  <a:gd name="T25" fmla="*/ 144 h 217"/>
                  <a:gd name="T26" fmla="*/ 6 w 128"/>
                  <a:gd name="T27" fmla="*/ 141 h 217"/>
                  <a:gd name="T28" fmla="*/ 1 w 128"/>
                  <a:gd name="T29" fmla="*/ 137 h 217"/>
                  <a:gd name="T30" fmla="*/ 0 w 128"/>
                  <a:gd name="T31" fmla="*/ 132 h 217"/>
                  <a:gd name="T32" fmla="*/ 1 w 128"/>
                  <a:gd name="T33" fmla="*/ 128 h 217"/>
                  <a:gd name="T34" fmla="*/ 9 w 128"/>
                  <a:gd name="T35" fmla="*/ 123 h 217"/>
                  <a:gd name="T36" fmla="*/ 21 w 128"/>
                  <a:gd name="T37" fmla="*/ 116 h 217"/>
                  <a:gd name="T38" fmla="*/ 33 w 128"/>
                  <a:gd name="T39" fmla="*/ 108 h 217"/>
                  <a:gd name="T40" fmla="*/ 46 w 128"/>
                  <a:gd name="T41" fmla="*/ 96 h 217"/>
                  <a:gd name="T42" fmla="*/ 57 w 128"/>
                  <a:gd name="T43" fmla="*/ 81 h 217"/>
                  <a:gd name="T44" fmla="*/ 66 w 128"/>
                  <a:gd name="T45" fmla="*/ 60 h 217"/>
                  <a:gd name="T46" fmla="*/ 70 w 128"/>
                  <a:gd name="T47" fmla="*/ 33 h 217"/>
                  <a:gd name="T48" fmla="*/ 68 w 128"/>
                  <a:gd name="T49" fmla="*/ 0 h 217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</a:gdLst>
                <a:ahLst/>
                <a:cxnLst>
                  <a:cxn ang="T50">
                    <a:pos x="T0" y="T1"/>
                  </a:cxn>
                  <a:cxn ang="T51">
                    <a:pos x="T2" y="T3"/>
                  </a:cxn>
                  <a:cxn ang="T52">
                    <a:pos x="T4" y="T5"/>
                  </a:cxn>
                  <a:cxn ang="T53">
                    <a:pos x="T6" y="T7"/>
                  </a:cxn>
                  <a:cxn ang="T54">
                    <a:pos x="T8" y="T9"/>
                  </a:cxn>
                  <a:cxn ang="T55">
                    <a:pos x="T10" y="T11"/>
                  </a:cxn>
                  <a:cxn ang="T56">
                    <a:pos x="T12" y="T13"/>
                  </a:cxn>
                  <a:cxn ang="T57">
                    <a:pos x="T14" y="T15"/>
                  </a:cxn>
                  <a:cxn ang="T58">
                    <a:pos x="T16" y="T17"/>
                  </a:cxn>
                  <a:cxn ang="T59">
                    <a:pos x="T18" y="T19"/>
                  </a:cxn>
                  <a:cxn ang="T60">
                    <a:pos x="T20" y="T21"/>
                  </a:cxn>
                  <a:cxn ang="T61">
                    <a:pos x="T22" y="T23"/>
                  </a:cxn>
                  <a:cxn ang="T62">
                    <a:pos x="T24" y="T25"/>
                  </a:cxn>
                  <a:cxn ang="T63">
                    <a:pos x="T26" y="T27"/>
                  </a:cxn>
                  <a:cxn ang="T64">
                    <a:pos x="T28" y="T29"/>
                  </a:cxn>
                  <a:cxn ang="T65">
                    <a:pos x="T30" y="T31"/>
                  </a:cxn>
                  <a:cxn ang="T66">
                    <a:pos x="T32" y="T33"/>
                  </a:cxn>
                  <a:cxn ang="T67">
                    <a:pos x="T34" y="T35"/>
                  </a:cxn>
                  <a:cxn ang="T68">
                    <a:pos x="T36" y="T37"/>
                  </a:cxn>
                  <a:cxn ang="T69">
                    <a:pos x="T38" y="T39"/>
                  </a:cxn>
                  <a:cxn ang="T70">
                    <a:pos x="T40" y="T41"/>
                  </a:cxn>
                  <a:cxn ang="T71">
                    <a:pos x="T42" y="T43"/>
                  </a:cxn>
                  <a:cxn ang="T72">
                    <a:pos x="T44" y="T45"/>
                  </a:cxn>
                  <a:cxn ang="T73">
                    <a:pos x="T46" y="T47"/>
                  </a:cxn>
                  <a:cxn ang="T74">
                    <a:pos x="T48" y="T49"/>
                  </a:cxn>
                </a:cxnLst>
                <a:rect l="0" t="0" r="r" b="b"/>
                <a:pathLst>
                  <a:path w="128" h="217">
                    <a:moveTo>
                      <a:pt x="94" y="0"/>
                    </a:moveTo>
                    <a:lnTo>
                      <a:pt x="105" y="9"/>
                    </a:lnTo>
                    <a:lnTo>
                      <a:pt x="115" y="27"/>
                    </a:lnTo>
                    <a:lnTo>
                      <a:pt x="123" y="50"/>
                    </a:lnTo>
                    <a:lnTo>
                      <a:pt x="128" y="78"/>
                    </a:lnTo>
                    <a:lnTo>
                      <a:pt x="127" y="111"/>
                    </a:lnTo>
                    <a:lnTo>
                      <a:pt x="116" y="145"/>
                    </a:lnTo>
                    <a:lnTo>
                      <a:pt x="94" y="181"/>
                    </a:lnTo>
                    <a:lnTo>
                      <a:pt x="60" y="217"/>
                    </a:lnTo>
                    <a:lnTo>
                      <a:pt x="49" y="213"/>
                    </a:lnTo>
                    <a:lnTo>
                      <a:pt x="38" y="210"/>
                    </a:lnTo>
                    <a:lnTo>
                      <a:pt x="26" y="205"/>
                    </a:lnTo>
                    <a:lnTo>
                      <a:pt x="16" y="201"/>
                    </a:lnTo>
                    <a:lnTo>
                      <a:pt x="8" y="196"/>
                    </a:lnTo>
                    <a:lnTo>
                      <a:pt x="2" y="190"/>
                    </a:lnTo>
                    <a:lnTo>
                      <a:pt x="0" y="183"/>
                    </a:lnTo>
                    <a:lnTo>
                      <a:pt x="1" y="178"/>
                    </a:lnTo>
                    <a:lnTo>
                      <a:pt x="13" y="171"/>
                    </a:lnTo>
                    <a:lnTo>
                      <a:pt x="29" y="161"/>
                    </a:lnTo>
                    <a:lnTo>
                      <a:pt x="46" y="150"/>
                    </a:lnTo>
                    <a:lnTo>
                      <a:pt x="63" y="134"/>
                    </a:lnTo>
                    <a:lnTo>
                      <a:pt x="79" y="112"/>
                    </a:lnTo>
                    <a:lnTo>
                      <a:pt x="91" y="83"/>
                    </a:lnTo>
                    <a:lnTo>
                      <a:pt x="97" y="46"/>
                    </a:lnTo>
                    <a:lnTo>
                      <a:pt x="94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65" name="Freeform 13">
                <a:extLst>
                  <a:ext uri="{FF2B5EF4-FFF2-40B4-BE49-F238E27FC236}">
                    <a16:creationId xmlns:a16="http://schemas.microsoft.com/office/drawing/2014/main" id="{2D13C196-BA2C-4657-8C44-69E8A4900271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auto">
              <a:xfrm rot="373331" flipH="1">
                <a:off x="313" y="3110"/>
                <a:ext cx="85" cy="93"/>
              </a:xfrm>
              <a:custGeom>
                <a:avLst/>
                <a:gdLst>
                  <a:gd name="T0" fmla="*/ 54 w 117"/>
                  <a:gd name="T1" fmla="*/ 0 h 132"/>
                  <a:gd name="T2" fmla="*/ 0 w 117"/>
                  <a:gd name="T3" fmla="*/ 18 h 132"/>
                  <a:gd name="T4" fmla="*/ 2 w 117"/>
                  <a:gd name="T5" fmla="*/ 18 h 132"/>
                  <a:gd name="T6" fmla="*/ 10 w 117"/>
                  <a:gd name="T7" fmla="*/ 20 h 132"/>
                  <a:gd name="T8" fmla="*/ 21 w 117"/>
                  <a:gd name="T9" fmla="*/ 25 h 132"/>
                  <a:gd name="T10" fmla="*/ 33 w 117"/>
                  <a:gd name="T11" fmla="*/ 33 h 132"/>
                  <a:gd name="T12" fmla="*/ 48 w 117"/>
                  <a:gd name="T13" fmla="*/ 44 h 132"/>
                  <a:gd name="T14" fmla="*/ 61 w 117"/>
                  <a:gd name="T15" fmla="*/ 56 h 132"/>
                  <a:gd name="T16" fmla="*/ 74 w 117"/>
                  <a:gd name="T17" fmla="*/ 73 h 132"/>
                  <a:gd name="T18" fmla="*/ 84 w 117"/>
                  <a:gd name="T19" fmla="*/ 93 h 132"/>
                  <a:gd name="T20" fmla="*/ 85 w 117"/>
                  <a:gd name="T21" fmla="*/ 85 h 132"/>
                  <a:gd name="T22" fmla="*/ 84 w 117"/>
                  <a:gd name="T23" fmla="*/ 75 h 132"/>
                  <a:gd name="T24" fmla="*/ 78 w 117"/>
                  <a:gd name="T25" fmla="*/ 63 h 132"/>
                  <a:gd name="T26" fmla="*/ 72 w 117"/>
                  <a:gd name="T27" fmla="*/ 52 h 132"/>
                  <a:gd name="T28" fmla="*/ 65 w 117"/>
                  <a:gd name="T29" fmla="*/ 41 h 132"/>
                  <a:gd name="T30" fmla="*/ 57 w 117"/>
                  <a:gd name="T31" fmla="*/ 32 h 132"/>
                  <a:gd name="T32" fmla="*/ 49 w 117"/>
                  <a:gd name="T33" fmla="*/ 25 h 132"/>
                  <a:gd name="T34" fmla="*/ 42 w 117"/>
                  <a:gd name="T35" fmla="*/ 23 h 132"/>
                  <a:gd name="T36" fmla="*/ 50 w 117"/>
                  <a:gd name="T37" fmla="*/ 20 h 132"/>
                  <a:gd name="T38" fmla="*/ 57 w 117"/>
                  <a:gd name="T39" fmla="*/ 20 h 132"/>
                  <a:gd name="T40" fmla="*/ 65 w 117"/>
                  <a:gd name="T41" fmla="*/ 18 h 132"/>
                  <a:gd name="T42" fmla="*/ 71 w 117"/>
                  <a:gd name="T43" fmla="*/ 18 h 132"/>
                  <a:gd name="T44" fmla="*/ 76 w 117"/>
                  <a:gd name="T45" fmla="*/ 17 h 132"/>
                  <a:gd name="T46" fmla="*/ 79 w 117"/>
                  <a:gd name="T47" fmla="*/ 16 h 132"/>
                  <a:gd name="T48" fmla="*/ 82 w 117"/>
                  <a:gd name="T49" fmla="*/ 15 h 132"/>
                  <a:gd name="T50" fmla="*/ 83 w 117"/>
                  <a:gd name="T51" fmla="*/ 15 h 132"/>
                  <a:gd name="T52" fmla="*/ 54 w 117"/>
                  <a:gd name="T53" fmla="*/ 0 h 132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</a:gdLst>
                <a:ahLst/>
                <a:cxnLst>
                  <a:cxn ang="T54">
                    <a:pos x="T0" y="T1"/>
                  </a:cxn>
                  <a:cxn ang="T55">
                    <a:pos x="T2" y="T3"/>
                  </a:cxn>
                  <a:cxn ang="T56">
                    <a:pos x="T4" y="T5"/>
                  </a:cxn>
                  <a:cxn ang="T57">
                    <a:pos x="T6" y="T7"/>
                  </a:cxn>
                  <a:cxn ang="T58">
                    <a:pos x="T8" y="T9"/>
                  </a:cxn>
                  <a:cxn ang="T59">
                    <a:pos x="T10" y="T11"/>
                  </a:cxn>
                  <a:cxn ang="T60">
                    <a:pos x="T12" y="T13"/>
                  </a:cxn>
                  <a:cxn ang="T61">
                    <a:pos x="T14" y="T15"/>
                  </a:cxn>
                  <a:cxn ang="T62">
                    <a:pos x="T16" y="T17"/>
                  </a:cxn>
                  <a:cxn ang="T63">
                    <a:pos x="T18" y="T19"/>
                  </a:cxn>
                  <a:cxn ang="T64">
                    <a:pos x="T20" y="T21"/>
                  </a:cxn>
                  <a:cxn ang="T65">
                    <a:pos x="T22" y="T23"/>
                  </a:cxn>
                  <a:cxn ang="T66">
                    <a:pos x="T24" y="T25"/>
                  </a:cxn>
                  <a:cxn ang="T67">
                    <a:pos x="T26" y="T27"/>
                  </a:cxn>
                  <a:cxn ang="T68">
                    <a:pos x="T28" y="T29"/>
                  </a:cxn>
                  <a:cxn ang="T69">
                    <a:pos x="T30" y="T31"/>
                  </a:cxn>
                  <a:cxn ang="T70">
                    <a:pos x="T32" y="T33"/>
                  </a:cxn>
                  <a:cxn ang="T71">
                    <a:pos x="T34" y="T35"/>
                  </a:cxn>
                  <a:cxn ang="T72">
                    <a:pos x="T36" y="T37"/>
                  </a:cxn>
                  <a:cxn ang="T73">
                    <a:pos x="T38" y="T39"/>
                  </a:cxn>
                  <a:cxn ang="T74">
                    <a:pos x="T40" y="T41"/>
                  </a:cxn>
                  <a:cxn ang="T75">
                    <a:pos x="T42" y="T43"/>
                  </a:cxn>
                  <a:cxn ang="T76">
                    <a:pos x="T44" y="T45"/>
                  </a:cxn>
                  <a:cxn ang="T77">
                    <a:pos x="T46" y="T47"/>
                  </a:cxn>
                  <a:cxn ang="T78">
                    <a:pos x="T48" y="T49"/>
                  </a:cxn>
                  <a:cxn ang="T79">
                    <a:pos x="T50" y="T51"/>
                  </a:cxn>
                  <a:cxn ang="T80">
                    <a:pos x="T52" y="T53"/>
                  </a:cxn>
                </a:cxnLst>
                <a:rect l="0" t="0" r="r" b="b"/>
                <a:pathLst>
                  <a:path w="117" h="132">
                    <a:moveTo>
                      <a:pt x="75" y="0"/>
                    </a:moveTo>
                    <a:lnTo>
                      <a:pt x="0" y="25"/>
                    </a:lnTo>
                    <a:lnTo>
                      <a:pt x="3" y="26"/>
                    </a:lnTo>
                    <a:lnTo>
                      <a:pt x="14" y="29"/>
                    </a:lnTo>
                    <a:lnTo>
                      <a:pt x="29" y="36"/>
                    </a:lnTo>
                    <a:lnTo>
                      <a:pt x="46" y="47"/>
                    </a:lnTo>
                    <a:lnTo>
                      <a:pt x="66" y="62"/>
                    </a:lnTo>
                    <a:lnTo>
                      <a:pt x="84" y="80"/>
                    </a:lnTo>
                    <a:lnTo>
                      <a:pt x="102" y="103"/>
                    </a:lnTo>
                    <a:lnTo>
                      <a:pt x="116" y="132"/>
                    </a:lnTo>
                    <a:lnTo>
                      <a:pt x="117" y="120"/>
                    </a:lnTo>
                    <a:lnTo>
                      <a:pt x="115" y="107"/>
                    </a:lnTo>
                    <a:lnTo>
                      <a:pt x="108" y="90"/>
                    </a:lnTo>
                    <a:lnTo>
                      <a:pt x="99" y="74"/>
                    </a:lnTo>
                    <a:lnTo>
                      <a:pt x="89" y="58"/>
                    </a:lnTo>
                    <a:lnTo>
                      <a:pt x="78" y="45"/>
                    </a:lnTo>
                    <a:lnTo>
                      <a:pt x="67" y="36"/>
                    </a:lnTo>
                    <a:lnTo>
                      <a:pt x="58" y="32"/>
                    </a:lnTo>
                    <a:lnTo>
                      <a:pt x="69" y="29"/>
                    </a:lnTo>
                    <a:lnTo>
                      <a:pt x="79" y="28"/>
                    </a:lnTo>
                    <a:lnTo>
                      <a:pt x="89" y="26"/>
                    </a:lnTo>
                    <a:lnTo>
                      <a:pt x="98" y="25"/>
                    </a:lnTo>
                    <a:lnTo>
                      <a:pt x="105" y="24"/>
                    </a:lnTo>
                    <a:lnTo>
                      <a:pt x="109" y="22"/>
                    </a:lnTo>
                    <a:lnTo>
                      <a:pt x="113" y="21"/>
                    </a:lnTo>
                    <a:lnTo>
                      <a:pt x="114" y="21"/>
                    </a:lnTo>
                    <a:lnTo>
                      <a:pt x="75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66" name="Freeform 14">
                <a:extLst>
                  <a:ext uri="{FF2B5EF4-FFF2-40B4-BE49-F238E27FC236}">
                    <a16:creationId xmlns:a16="http://schemas.microsoft.com/office/drawing/2014/main" id="{9CB12159-DD34-4D2D-865D-7B34B8B495BE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auto">
              <a:xfrm rot="373331" flipH="1">
                <a:off x="289" y="3134"/>
                <a:ext cx="21" cy="55"/>
              </a:xfrm>
              <a:custGeom>
                <a:avLst/>
                <a:gdLst>
                  <a:gd name="T0" fmla="*/ 21 w 29"/>
                  <a:gd name="T1" fmla="*/ 0 h 77"/>
                  <a:gd name="T2" fmla="*/ 17 w 29"/>
                  <a:gd name="T3" fmla="*/ 0 h 77"/>
                  <a:gd name="T4" fmla="*/ 12 w 29"/>
                  <a:gd name="T5" fmla="*/ 3 h 77"/>
                  <a:gd name="T6" fmla="*/ 7 w 29"/>
                  <a:gd name="T7" fmla="*/ 6 h 77"/>
                  <a:gd name="T8" fmla="*/ 3 w 29"/>
                  <a:gd name="T9" fmla="*/ 14 h 77"/>
                  <a:gd name="T10" fmla="*/ 1 w 29"/>
                  <a:gd name="T11" fmla="*/ 21 h 77"/>
                  <a:gd name="T12" fmla="*/ 0 w 29"/>
                  <a:gd name="T13" fmla="*/ 31 h 77"/>
                  <a:gd name="T14" fmla="*/ 2 w 29"/>
                  <a:gd name="T15" fmla="*/ 43 h 77"/>
                  <a:gd name="T16" fmla="*/ 8 w 29"/>
                  <a:gd name="T17" fmla="*/ 55 h 77"/>
                  <a:gd name="T18" fmla="*/ 11 w 29"/>
                  <a:gd name="T19" fmla="*/ 38 h 77"/>
                  <a:gd name="T20" fmla="*/ 14 w 29"/>
                  <a:gd name="T21" fmla="*/ 26 h 77"/>
                  <a:gd name="T22" fmla="*/ 17 w 29"/>
                  <a:gd name="T23" fmla="*/ 16 h 77"/>
                  <a:gd name="T24" fmla="*/ 21 w 29"/>
                  <a:gd name="T25" fmla="*/ 0 h 77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</a:gdLst>
                <a:ahLst/>
                <a:cxnLst>
                  <a:cxn ang="T26">
                    <a:pos x="T0" y="T1"/>
                  </a:cxn>
                  <a:cxn ang="T27">
                    <a:pos x="T2" y="T3"/>
                  </a:cxn>
                  <a:cxn ang="T28">
                    <a:pos x="T4" y="T5"/>
                  </a:cxn>
                  <a:cxn ang="T29">
                    <a:pos x="T6" y="T7"/>
                  </a:cxn>
                  <a:cxn ang="T30">
                    <a:pos x="T8" y="T9"/>
                  </a:cxn>
                  <a:cxn ang="T31">
                    <a:pos x="T10" y="T11"/>
                  </a:cxn>
                  <a:cxn ang="T32">
                    <a:pos x="T12" y="T13"/>
                  </a:cxn>
                  <a:cxn ang="T33">
                    <a:pos x="T14" y="T15"/>
                  </a:cxn>
                  <a:cxn ang="T34">
                    <a:pos x="T16" y="T17"/>
                  </a:cxn>
                  <a:cxn ang="T35">
                    <a:pos x="T18" y="T19"/>
                  </a:cxn>
                  <a:cxn ang="T36">
                    <a:pos x="T20" y="T21"/>
                  </a:cxn>
                  <a:cxn ang="T37">
                    <a:pos x="T22" y="T23"/>
                  </a:cxn>
                  <a:cxn ang="T38">
                    <a:pos x="T24" y="T25"/>
                  </a:cxn>
                </a:cxnLst>
                <a:rect l="0" t="0" r="r" b="b"/>
                <a:pathLst>
                  <a:path w="29" h="77">
                    <a:moveTo>
                      <a:pt x="29" y="0"/>
                    </a:moveTo>
                    <a:lnTo>
                      <a:pt x="23" y="0"/>
                    </a:lnTo>
                    <a:lnTo>
                      <a:pt x="16" y="4"/>
                    </a:lnTo>
                    <a:lnTo>
                      <a:pt x="9" y="9"/>
                    </a:lnTo>
                    <a:lnTo>
                      <a:pt x="4" y="19"/>
                    </a:lnTo>
                    <a:lnTo>
                      <a:pt x="1" y="30"/>
                    </a:lnTo>
                    <a:lnTo>
                      <a:pt x="0" y="44"/>
                    </a:lnTo>
                    <a:lnTo>
                      <a:pt x="3" y="60"/>
                    </a:lnTo>
                    <a:lnTo>
                      <a:pt x="11" y="77"/>
                    </a:lnTo>
                    <a:lnTo>
                      <a:pt x="15" y="53"/>
                    </a:lnTo>
                    <a:lnTo>
                      <a:pt x="19" y="37"/>
                    </a:lnTo>
                    <a:lnTo>
                      <a:pt x="23" y="22"/>
                    </a:lnTo>
                    <a:lnTo>
                      <a:pt x="29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grpSp>
            <p:nvGrpSpPr>
              <p:cNvPr id="1067" name="Group 15">
                <a:extLst>
                  <a:ext uri="{FF2B5EF4-FFF2-40B4-BE49-F238E27FC236}">
                    <a16:creationId xmlns:a16="http://schemas.microsoft.com/office/drawing/2014/main" id="{CC042AA4-E999-47B9-B06F-43436443805B}"/>
                  </a:ext>
                </a:extLst>
              </p:cNvPr>
              <p:cNvGrpSpPr>
                <a:grpSpLocks/>
              </p:cNvGrpSpPr>
              <p:nvPr userDrawn="1"/>
            </p:nvGrpSpPr>
            <p:grpSpPr bwMode="auto">
              <a:xfrm rot="10886446" flipH="1">
                <a:off x="335" y="3251"/>
                <a:ext cx="608" cy="369"/>
                <a:chOff x="-366" y="1704"/>
                <a:chExt cx="608" cy="369"/>
              </a:xfrm>
            </p:grpSpPr>
            <p:sp>
              <p:nvSpPr>
                <p:cNvPr id="1068" name="Freeform 16">
                  <a:extLst>
                    <a:ext uri="{FF2B5EF4-FFF2-40B4-BE49-F238E27FC236}">
                      <a16:creationId xmlns:a16="http://schemas.microsoft.com/office/drawing/2014/main" id="{26EA9F92-91F8-401C-8FDC-958DF5421F57}"/>
                    </a:ext>
                  </a:extLst>
                </p:cNvPr>
                <p:cNvSpPr>
                  <a:spLocks noChangeArrowheads="1"/>
                </p:cNvSpPr>
                <p:nvPr userDrawn="1"/>
              </p:nvSpPr>
              <p:spPr bwMode="auto">
                <a:xfrm rot="4200091">
                  <a:off x="-243" y="1801"/>
                  <a:ext cx="143" cy="390"/>
                </a:xfrm>
                <a:custGeom>
                  <a:avLst/>
                  <a:gdLst>
                    <a:gd name="T0" fmla="*/ 8 w 207"/>
                    <a:gd name="T1" fmla="*/ 30 h 564"/>
                    <a:gd name="T2" fmla="*/ 4 w 207"/>
                    <a:gd name="T3" fmla="*/ 50 h 564"/>
                    <a:gd name="T4" fmla="*/ 2 w 207"/>
                    <a:gd name="T5" fmla="*/ 68 h 564"/>
                    <a:gd name="T6" fmla="*/ 0 w 207"/>
                    <a:gd name="T7" fmla="*/ 86 h 564"/>
                    <a:gd name="T8" fmla="*/ 0 w 207"/>
                    <a:gd name="T9" fmla="*/ 104 h 564"/>
                    <a:gd name="T10" fmla="*/ 2 w 207"/>
                    <a:gd name="T11" fmla="*/ 124 h 564"/>
                    <a:gd name="T12" fmla="*/ 5 w 207"/>
                    <a:gd name="T13" fmla="*/ 146 h 564"/>
                    <a:gd name="T14" fmla="*/ 11 w 207"/>
                    <a:gd name="T15" fmla="*/ 171 h 564"/>
                    <a:gd name="T16" fmla="*/ 20 w 207"/>
                    <a:gd name="T17" fmla="*/ 198 h 564"/>
                    <a:gd name="T18" fmla="*/ 30 w 207"/>
                    <a:gd name="T19" fmla="*/ 225 h 564"/>
                    <a:gd name="T20" fmla="*/ 42 w 207"/>
                    <a:gd name="T21" fmla="*/ 252 h 564"/>
                    <a:gd name="T22" fmla="*/ 57 w 207"/>
                    <a:gd name="T23" fmla="*/ 281 h 564"/>
                    <a:gd name="T24" fmla="*/ 73 w 207"/>
                    <a:gd name="T25" fmla="*/ 308 h 564"/>
                    <a:gd name="T26" fmla="*/ 91 w 207"/>
                    <a:gd name="T27" fmla="*/ 334 h 564"/>
                    <a:gd name="T28" fmla="*/ 108 w 207"/>
                    <a:gd name="T29" fmla="*/ 357 h 564"/>
                    <a:gd name="T30" fmla="*/ 126 w 207"/>
                    <a:gd name="T31" fmla="*/ 376 h 564"/>
                    <a:gd name="T32" fmla="*/ 143 w 207"/>
                    <a:gd name="T33" fmla="*/ 390 h 564"/>
                    <a:gd name="T34" fmla="*/ 111 w 207"/>
                    <a:gd name="T35" fmla="*/ 346 h 564"/>
                    <a:gd name="T36" fmla="*/ 88 w 207"/>
                    <a:gd name="T37" fmla="*/ 310 h 564"/>
                    <a:gd name="T38" fmla="*/ 71 w 207"/>
                    <a:gd name="T39" fmla="*/ 280 h 564"/>
                    <a:gd name="T40" fmla="*/ 60 w 207"/>
                    <a:gd name="T41" fmla="*/ 254 h 564"/>
                    <a:gd name="T42" fmla="*/ 52 w 207"/>
                    <a:gd name="T43" fmla="*/ 233 h 564"/>
                    <a:gd name="T44" fmla="*/ 47 w 207"/>
                    <a:gd name="T45" fmla="*/ 214 h 564"/>
                    <a:gd name="T46" fmla="*/ 44 w 207"/>
                    <a:gd name="T47" fmla="*/ 197 h 564"/>
                    <a:gd name="T48" fmla="*/ 39 w 207"/>
                    <a:gd name="T49" fmla="*/ 180 h 564"/>
                    <a:gd name="T50" fmla="*/ 30 w 207"/>
                    <a:gd name="T51" fmla="*/ 142 h 564"/>
                    <a:gd name="T52" fmla="*/ 28 w 207"/>
                    <a:gd name="T53" fmla="*/ 97 h 564"/>
                    <a:gd name="T54" fmla="*/ 30 w 207"/>
                    <a:gd name="T55" fmla="*/ 47 h 564"/>
                    <a:gd name="T56" fmla="*/ 35 w 207"/>
                    <a:gd name="T57" fmla="*/ 0 h 564"/>
                    <a:gd name="T58" fmla="*/ 8 w 207"/>
                    <a:gd name="T59" fmla="*/ 30 h 564"/>
                    <a:gd name="T60" fmla="*/ 0 60000 65536"/>
                    <a:gd name="T61" fmla="*/ 0 60000 65536"/>
                    <a:gd name="T62" fmla="*/ 0 60000 65536"/>
                    <a:gd name="T63" fmla="*/ 0 60000 65536"/>
                    <a:gd name="T64" fmla="*/ 0 60000 65536"/>
                    <a:gd name="T65" fmla="*/ 0 60000 65536"/>
                    <a:gd name="T66" fmla="*/ 0 60000 65536"/>
                    <a:gd name="T67" fmla="*/ 0 60000 65536"/>
                    <a:gd name="T68" fmla="*/ 0 60000 65536"/>
                    <a:gd name="T69" fmla="*/ 0 60000 65536"/>
                    <a:gd name="T70" fmla="*/ 0 60000 65536"/>
                    <a:gd name="T71" fmla="*/ 0 60000 65536"/>
                    <a:gd name="T72" fmla="*/ 0 60000 65536"/>
                    <a:gd name="T73" fmla="*/ 0 60000 65536"/>
                    <a:gd name="T74" fmla="*/ 0 60000 65536"/>
                    <a:gd name="T75" fmla="*/ 0 60000 65536"/>
                    <a:gd name="T76" fmla="*/ 0 60000 65536"/>
                    <a:gd name="T77" fmla="*/ 0 60000 65536"/>
                    <a:gd name="T78" fmla="*/ 0 60000 65536"/>
                    <a:gd name="T79" fmla="*/ 0 60000 65536"/>
                    <a:gd name="T80" fmla="*/ 0 60000 65536"/>
                    <a:gd name="T81" fmla="*/ 0 60000 6553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</a:gdLst>
                  <a:ahLst/>
                  <a:cxnLst>
                    <a:cxn ang="T60">
                      <a:pos x="T0" y="T1"/>
                    </a:cxn>
                    <a:cxn ang="T61">
                      <a:pos x="T2" y="T3"/>
                    </a:cxn>
                    <a:cxn ang="T62">
                      <a:pos x="T4" y="T5"/>
                    </a:cxn>
                    <a:cxn ang="T63">
                      <a:pos x="T6" y="T7"/>
                    </a:cxn>
                    <a:cxn ang="T64">
                      <a:pos x="T8" y="T9"/>
                    </a:cxn>
                    <a:cxn ang="T65">
                      <a:pos x="T10" y="T11"/>
                    </a:cxn>
                    <a:cxn ang="T66">
                      <a:pos x="T12" y="T13"/>
                    </a:cxn>
                    <a:cxn ang="T67">
                      <a:pos x="T14" y="T15"/>
                    </a:cxn>
                    <a:cxn ang="T68">
                      <a:pos x="T16" y="T17"/>
                    </a:cxn>
                    <a:cxn ang="T69">
                      <a:pos x="T18" y="T19"/>
                    </a:cxn>
                    <a:cxn ang="T70">
                      <a:pos x="T20" y="T21"/>
                    </a:cxn>
                    <a:cxn ang="T71">
                      <a:pos x="T22" y="T23"/>
                    </a:cxn>
                    <a:cxn ang="T72">
                      <a:pos x="T24" y="T25"/>
                    </a:cxn>
                    <a:cxn ang="T73">
                      <a:pos x="T26" y="T27"/>
                    </a:cxn>
                    <a:cxn ang="T74">
                      <a:pos x="T28" y="T29"/>
                    </a:cxn>
                    <a:cxn ang="T75">
                      <a:pos x="T30" y="T31"/>
                    </a:cxn>
                    <a:cxn ang="T76">
                      <a:pos x="T32" y="T33"/>
                    </a:cxn>
                    <a:cxn ang="T77">
                      <a:pos x="T34" y="T35"/>
                    </a:cxn>
                    <a:cxn ang="T78">
                      <a:pos x="T36" y="T37"/>
                    </a:cxn>
                    <a:cxn ang="T79">
                      <a:pos x="T38" y="T39"/>
                    </a:cxn>
                    <a:cxn ang="T80">
                      <a:pos x="T40" y="T41"/>
                    </a:cxn>
                    <a:cxn ang="T81">
                      <a:pos x="T42" y="T43"/>
                    </a:cxn>
                    <a:cxn ang="T82">
                      <a:pos x="T44" y="T45"/>
                    </a:cxn>
                    <a:cxn ang="T83">
                      <a:pos x="T46" y="T47"/>
                    </a:cxn>
                    <a:cxn ang="T84">
                      <a:pos x="T48" y="T49"/>
                    </a:cxn>
                    <a:cxn ang="T85">
                      <a:pos x="T50" y="T51"/>
                    </a:cxn>
                    <a:cxn ang="T86">
                      <a:pos x="T52" y="T53"/>
                    </a:cxn>
                    <a:cxn ang="T87">
                      <a:pos x="T54" y="T55"/>
                    </a:cxn>
                    <a:cxn ang="T88">
                      <a:pos x="T56" y="T57"/>
                    </a:cxn>
                    <a:cxn ang="T89">
                      <a:pos x="T58" y="T59"/>
                    </a:cxn>
                  </a:cxnLst>
                  <a:rect l="0" t="0" r="r" b="b"/>
                  <a:pathLst>
                    <a:path w="207" h="564">
                      <a:moveTo>
                        <a:pt x="12" y="44"/>
                      </a:moveTo>
                      <a:lnTo>
                        <a:pt x="6" y="72"/>
                      </a:lnTo>
                      <a:lnTo>
                        <a:pt x="3" y="99"/>
                      </a:lnTo>
                      <a:lnTo>
                        <a:pt x="0" y="125"/>
                      </a:lnTo>
                      <a:lnTo>
                        <a:pt x="0" y="151"/>
                      </a:lnTo>
                      <a:lnTo>
                        <a:pt x="3" y="180"/>
                      </a:lnTo>
                      <a:lnTo>
                        <a:pt x="7" y="211"/>
                      </a:lnTo>
                      <a:lnTo>
                        <a:pt x="16" y="247"/>
                      </a:lnTo>
                      <a:lnTo>
                        <a:pt x="29" y="287"/>
                      </a:lnTo>
                      <a:lnTo>
                        <a:pt x="43" y="325"/>
                      </a:lnTo>
                      <a:lnTo>
                        <a:pt x="61" y="364"/>
                      </a:lnTo>
                      <a:lnTo>
                        <a:pt x="83" y="406"/>
                      </a:lnTo>
                      <a:lnTo>
                        <a:pt x="106" y="446"/>
                      </a:lnTo>
                      <a:lnTo>
                        <a:pt x="132" y="483"/>
                      </a:lnTo>
                      <a:lnTo>
                        <a:pt x="157" y="516"/>
                      </a:lnTo>
                      <a:lnTo>
                        <a:pt x="182" y="544"/>
                      </a:lnTo>
                      <a:lnTo>
                        <a:pt x="207" y="564"/>
                      </a:lnTo>
                      <a:lnTo>
                        <a:pt x="160" y="501"/>
                      </a:lnTo>
                      <a:lnTo>
                        <a:pt x="127" y="448"/>
                      </a:lnTo>
                      <a:lnTo>
                        <a:pt x="103" y="405"/>
                      </a:lnTo>
                      <a:lnTo>
                        <a:pt x="87" y="368"/>
                      </a:lnTo>
                      <a:lnTo>
                        <a:pt x="75" y="337"/>
                      </a:lnTo>
                      <a:lnTo>
                        <a:pt x="68" y="309"/>
                      </a:lnTo>
                      <a:lnTo>
                        <a:pt x="63" y="285"/>
                      </a:lnTo>
                      <a:lnTo>
                        <a:pt x="56" y="261"/>
                      </a:lnTo>
                      <a:lnTo>
                        <a:pt x="44" y="205"/>
                      </a:lnTo>
                      <a:lnTo>
                        <a:pt x="41" y="140"/>
                      </a:lnTo>
                      <a:lnTo>
                        <a:pt x="43" y="68"/>
                      </a:lnTo>
                      <a:lnTo>
                        <a:pt x="50" y="0"/>
                      </a:lnTo>
                      <a:lnTo>
                        <a:pt x="12" y="44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069" name="Freeform 17">
                  <a:extLst>
                    <a:ext uri="{FF2B5EF4-FFF2-40B4-BE49-F238E27FC236}">
                      <a16:creationId xmlns:a16="http://schemas.microsoft.com/office/drawing/2014/main" id="{EB3046F2-3460-453D-830C-C8BC6F4911C9}"/>
                    </a:ext>
                  </a:extLst>
                </p:cNvPr>
                <p:cNvSpPr>
                  <a:spLocks noChangeArrowheads="1"/>
                </p:cNvSpPr>
                <p:nvPr userDrawn="1"/>
              </p:nvSpPr>
              <p:spPr bwMode="auto">
                <a:xfrm rot="4200091">
                  <a:off x="118" y="1755"/>
                  <a:ext cx="33" cy="160"/>
                </a:xfrm>
                <a:custGeom>
                  <a:avLst/>
                  <a:gdLst>
                    <a:gd name="T0" fmla="*/ 0 w 47"/>
                    <a:gd name="T1" fmla="*/ 13 h 232"/>
                    <a:gd name="T2" fmla="*/ 10 w 47"/>
                    <a:gd name="T3" fmla="*/ 38 h 232"/>
                    <a:gd name="T4" fmla="*/ 15 w 47"/>
                    <a:gd name="T5" fmla="*/ 70 h 232"/>
                    <a:gd name="T6" fmla="*/ 17 w 47"/>
                    <a:gd name="T7" fmla="*/ 110 h 232"/>
                    <a:gd name="T8" fmla="*/ 13 w 47"/>
                    <a:gd name="T9" fmla="*/ 160 h 232"/>
                    <a:gd name="T10" fmla="*/ 32 w 47"/>
                    <a:gd name="T11" fmla="*/ 150 h 232"/>
                    <a:gd name="T12" fmla="*/ 33 w 47"/>
                    <a:gd name="T13" fmla="*/ 123 h 232"/>
                    <a:gd name="T14" fmla="*/ 33 w 47"/>
                    <a:gd name="T15" fmla="*/ 97 h 232"/>
                    <a:gd name="T16" fmla="*/ 32 w 47"/>
                    <a:gd name="T17" fmla="*/ 71 h 232"/>
                    <a:gd name="T18" fmla="*/ 29 w 47"/>
                    <a:gd name="T19" fmla="*/ 49 h 232"/>
                    <a:gd name="T20" fmla="*/ 25 w 47"/>
                    <a:gd name="T21" fmla="*/ 36 h 232"/>
                    <a:gd name="T22" fmla="*/ 20 w 47"/>
                    <a:gd name="T23" fmla="*/ 23 h 232"/>
                    <a:gd name="T24" fmla="*/ 15 w 47"/>
                    <a:gd name="T25" fmla="*/ 12 h 232"/>
                    <a:gd name="T26" fmla="*/ 9 w 47"/>
                    <a:gd name="T27" fmla="*/ 0 h 232"/>
                    <a:gd name="T28" fmla="*/ 0 w 47"/>
                    <a:gd name="T29" fmla="*/ 13 h 232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</a:gdLst>
                  <a:ahLst/>
                  <a:cxnLst>
                    <a:cxn ang="T30">
                      <a:pos x="T0" y="T1"/>
                    </a:cxn>
                    <a:cxn ang="T31">
                      <a:pos x="T2" y="T3"/>
                    </a:cxn>
                    <a:cxn ang="T32">
                      <a:pos x="T4" y="T5"/>
                    </a:cxn>
                    <a:cxn ang="T33">
                      <a:pos x="T6" y="T7"/>
                    </a:cxn>
                    <a:cxn ang="T34">
                      <a:pos x="T8" y="T9"/>
                    </a:cxn>
                    <a:cxn ang="T35">
                      <a:pos x="T10" y="T11"/>
                    </a:cxn>
                    <a:cxn ang="T36">
                      <a:pos x="T12" y="T13"/>
                    </a:cxn>
                    <a:cxn ang="T37">
                      <a:pos x="T14" y="T15"/>
                    </a:cxn>
                    <a:cxn ang="T38">
                      <a:pos x="T16" y="T17"/>
                    </a:cxn>
                    <a:cxn ang="T39">
                      <a:pos x="T18" y="T19"/>
                    </a:cxn>
                    <a:cxn ang="T40">
                      <a:pos x="T20" y="T21"/>
                    </a:cxn>
                    <a:cxn ang="T41">
                      <a:pos x="T22" y="T23"/>
                    </a:cxn>
                    <a:cxn ang="T42">
                      <a:pos x="T24" y="T25"/>
                    </a:cxn>
                    <a:cxn ang="T43">
                      <a:pos x="T26" y="T27"/>
                    </a:cxn>
                    <a:cxn ang="T44">
                      <a:pos x="T28" y="T29"/>
                    </a:cxn>
                  </a:cxnLst>
                  <a:rect l="0" t="0" r="r" b="b"/>
                  <a:pathLst>
                    <a:path w="47" h="232">
                      <a:moveTo>
                        <a:pt x="0" y="19"/>
                      </a:moveTo>
                      <a:lnTo>
                        <a:pt x="14" y="55"/>
                      </a:lnTo>
                      <a:lnTo>
                        <a:pt x="22" y="101"/>
                      </a:lnTo>
                      <a:lnTo>
                        <a:pt x="24" y="159"/>
                      </a:lnTo>
                      <a:lnTo>
                        <a:pt x="19" y="232"/>
                      </a:lnTo>
                      <a:lnTo>
                        <a:pt x="45" y="217"/>
                      </a:lnTo>
                      <a:lnTo>
                        <a:pt x="47" y="178"/>
                      </a:lnTo>
                      <a:lnTo>
                        <a:pt x="47" y="140"/>
                      </a:lnTo>
                      <a:lnTo>
                        <a:pt x="45" y="103"/>
                      </a:lnTo>
                      <a:lnTo>
                        <a:pt x="41" y="71"/>
                      </a:lnTo>
                      <a:lnTo>
                        <a:pt x="36" y="52"/>
                      </a:lnTo>
                      <a:lnTo>
                        <a:pt x="29" y="34"/>
                      </a:lnTo>
                      <a:lnTo>
                        <a:pt x="22" y="17"/>
                      </a:lnTo>
                      <a:lnTo>
                        <a:pt x="13" y="0"/>
                      </a:lnTo>
                      <a:lnTo>
                        <a:pt x="0" y="19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070" name="Freeform 18">
                  <a:extLst>
                    <a:ext uri="{FF2B5EF4-FFF2-40B4-BE49-F238E27FC236}">
                      <a16:creationId xmlns:a16="http://schemas.microsoft.com/office/drawing/2014/main" id="{7BD05F1F-CA4C-4D9C-B255-0F45FEDBA0CC}"/>
                    </a:ext>
                  </a:extLst>
                </p:cNvPr>
                <p:cNvSpPr>
                  <a:spLocks noChangeArrowheads="1"/>
                </p:cNvSpPr>
                <p:nvPr userDrawn="1"/>
              </p:nvSpPr>
              <p:spPr bwMode="auto">
                <a:xfrm rot="4200091">
                  <a:off x="191" y="1715"/>
                  <a:ext cx="60" cy="27"/>
                </a:xfrm>
                <a:custGeom>
                  <a:avLst/>
                  <a:gdLst>
                    <a:gd name="T0" fmla="*/ 60 w 87"/>
                    <a:gd name="T1" fmla="*/ 15 h 40"/>
                    <a:gd name="T2" fmla="*/ 53 w 87"/>
                    <a:gd name="T3" fmla="*/ 11 h 40"/>
                    <a:gd name="T4" fmla="*/ 47 w 87"/>
                    <a:gd name="T5" fmla="*/ 8 h 40"/>
                    <a:gd name="T6" fmla="*/ 40 w 87"/>
                    <a:gd name="T7" fmla="*/ 5 h 40"/>
                    <a:gd name="T8" fmla="*/ 32 w 87"/>
                    <a:gd name="T9" fmla="*/ 3 h 40"/>
                    <a:gd name="T10" fmla="*/ 26 w 87"/>
                    <a:gd name="T11" fmla="*/ 2 h 40"/>
                    <a:gd name="T12" fmla="*/ 18 w 87"/>
                    <a:gd name="T13" fmla="*/ 1 h 40"/>
                    <a:gd name="T14" fmla="*/ 9 w 87"/>
                    <a:gd name="T15" fmla="*/ 0 h 40"/>
                    <a:gd name="T16" fmla="*/ 0 w 87"/>
                    <a:gd name="T17" fmla="*/ 1 h 40"/>
                    <a:gd name="T18" fmla="*/ 4 w 87"/>
                    <a:gd name="T19" fmla="*/ 4 h 40"/>
                    <a:gd name="T20" fmla="*/ 10 w 87"/>
                    <a:gd name="T21" fmla="*/ 7 h 40"/>
                    <a:gd name="T22" fmla="*/ 15 w 87"/>
                    <a:gd name="T23" fmla="*/ 9 h 40"/>
                    <a:gd name="T24" fmla="*/ 23 w 87"/>
                    <a:gd name="T25" fmla="*/ 12 h 40"/>
                    <a:gd name="T26" fmla="*/ 29 w 87"/>
                    <a:gd name="T27" fmla="*/ 15 h 40"/>
                    <a:gd name="T28" fmla="*/ 36 w 87"/>
                    <a:gd name="T29" fmla="*/ 18 h 40"/>
                    <a:gd name="T30" fmla="*/ 44 w 87"/>
                    <a:gd name="T31" fmla="*/ 22 h 40"/>
                    <a:gd name="T32" fmla="*/ 51 w 87"/>
                    <a:gd name="T33" fmla="*/ 27 h 40"/>
                    <a:gd name="T34" fmla="*/ 60 w 87"/>
                    <a:gd name="T35" fmla="*/ 15 h 40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  <a:gd name="T51" fmla="*/ 0 60000 65536"/>
                    <a:gd name="T52" fmla="*/ 0 60000 65536"/>
                    <a:gd name="T53" fmla="*/ 0 60000 65536"/>
                  </a:gdLst>
                  <a:ahLst/>
                  <a:cxnLst>
                    <a:cxn ang="T36">
                      <a:pos x="T0" y="T1"/>
                    </a:cxn>
                    <a:cxn ang="T37">
                      <a:pos x="T2" y="T3"/>
                    </a:cxn>
                    <a:cxn ang="T38">
                      <a:pos x="T4" y="T5"/>
                    </a:cxn>
                    <a:cxn ang="T39">
                      <a:pos x="T6" y="T7"/>
                    </a:cxn>
                    <a:cxn ang="T40">
                      <a:pos x="T8" y="T9"/>
                    </a:cxn>
                    <a:cxn ang="T41">
                      <a:pos x="T10" y="T11"/>
                    </a:cxn>
                    <a:cxn ang="T42">
                      <a:pos x="T12" y="T13"/>
                    </a:cxn>
                    <a:cxn ang="T43">
                      <a:pos x="T14" y="T15"/>
                    </a:cxn>
                    <a:cxn ang="T44">
                      <a:pos x="T16" y="T17"/>
                    </a:cxn>
                    <a:cxn ang="T45">
                      <a:pos x="T18" y="T19"/>
                    </a:cxn>
                    <a:cxn ang="T46">
                      <a:pos x="T20" y="T21"/>
                    </a:cxn>
                    <a:cxn ang="T47">
                      <a:pos x="T22" y="T23"/>
                    </a:cxn>
                    <a:cxn ang="T48">
                      <a:pos x="T24" y="T25"/>
                    </a:cxn>
                    <a:cxn ang="T49">
                      <a:pos x="T26" y="T27"/>
                    </a:cxn>
                    <a:cxn ang="T50">
                      <a:pos x="T28" y="T29"/>
                    </a:cxn>
                    <a:cxn ang="T51">
                      <a:pos x="T30" y="T31"/>
                    </a:cxn>
                    <a:cxn ang="T52">
                      <a:pos x="T32" y="T33"/>
                    </a:cxn>
                    <a:cxn ang="T53">
                      <a:pos x="T34" y="T35"/>
                    </a:cxn>
                  </a:cxnLst>
                  <a:rect l="0" t="0" r="r" b="b"/>
                  <a:pathLst>
                    <a:path w="87" h="40">
                      <a:moveTo>
                        <a:pt x="87" y="22"/>
                      </a:moveTo>
                      <a:lnTo>
                        <a:pt x="77" y="17"/>
                      </a:lnTo>
                      <a:lnTo>
                        <a:pt x="68" y="12"/>
                      </a:lnTo>
                      <a:lnTo>
                        <a:pt x="58" y="7"/>
                      </a:lnTo>
                      <a:lnTo>
                        <a:pt x="47" y="5"/>
                      </a:lnTo>
                      <a:lnTo>
                        <a:pt x="37" y="3"/>
                      </a:lnTo>
                      <a:lnTo>
                        <a:pt x="26" y="2"/>
                      </a:lnTo>
                      <a:lnTo>
                        <a:pt x="13" y="0"/>
                      </a:lnTo>
                      <a:lnTo>
                        <a:pt x="0" y="2"/>
                      </a:lnTo>
                      <a:lnTo>
                        <a:pt x="6" y="6"/>
                      </a:lnTo>
                      <a:lnTo>
                        <a:pt x="14" y="10"/>
                      </a:lnTo>
                      <a:lnTo>
                        <a:pt x="22" y="14"/>
                      </a:lnTo>
                      <a:lnTo>
                        <a:pt x="33" y="18"/>
                      </a:lnTo>
                      <a:lnTo>
                        <a:pt x="42" y="22"/>
                      </a:lnTo>
                      <a:lnTo>
                        <a:pt x="52" y="27"/>
                      </a:lnTo>
                      <a:lnTo>
                        <a:pt x="64" y="33"/>
                      </a:lnTo>
                      <a:lnTo>
                        <a:pt x="74" y="40"/>
                      </a:lnTo>
                      <a:lnTo>
                        <a:pt x="87" y="22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</p:grpSp>
        <p:grpSp>
          <p:nvGrpSpPr>
            <p:cNvPr id="1036" name="Group 19">
              <a:extLst>
                <a:ext uri="{FF2B5EF4-FFF2-40B4-BE49-F238E27FC236}">
                  <a16:creationId xmlns:a16="http://schemas.microsoft.com/office/drawing/2014/main" id="{F25984D4-A60F-4217-9DDA-8E4C6331C9CD}"/>
                </a:ext>
              </a:extLst>
            </p:cNvPr>
            <p:cNvGrpSpPr>
              <a:grpSpLocks/>
            </p:cNvGrpSpPr>
            <p:nvPr/>
          </p:nvGrpSpPr>
          <p:grpSpPr bwMode="auto">
            <a:xfrm rot="6248562">
              <a:off x="343" y="3854"/>
              <a:ext cx="392" cy="424"/>
              <a:chOff x="1727" y="866"/>
              <a:chExt cx="129" cy="157"/>
            </a:xfrm>
          </p:grpSpPr>
          <p:sp>
            <p:nvSpPr>
              <p:cNvPr id="1059" name="Freeform 20">
                <a:extLst>
                  <a:ext uri="{FF2B5EF4-FFF2-40B4-BE49-F238E27FC236}">
                    <a16:creationId xmlns:a16="http://schemas.microsoft.com/office/drawing/2014/main" id="{FB38F438-F793-4FC9-9102-0D3A7B07CFC4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auto">
              <a:xfrm>
                <a:off x="1727" y="867"/>
                <a:ext cx="41" cy="59"/>
              </a:xfrm>
              <a:custGeom>
                <a:avLst/>
                <a:gdLst>
                  <a:gd name="T0" fmla="*/ 41 w 83"/>
                  <a:gd name="T1" fmla="*/ 14 h 117"/>
                  <a:gd name="T2" fmla="*/ 13 w 83"/>
                  <a:gd name="T3" fmla="*/ 0 h 117"/>
                  <a:gd name="T4" fmla="*/ 0 w 83"/>
                  <a:gd name="T5" fmla="*/ 59 h 117"/>
                  <a:gd name="T6" fmla="*/ 41 w 83"/>
                  <a:gd name="T7" fmla="*/ 14 h 117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83" h="117">
                    <a:moveTo>
                      <a:pt x="83" y="28"/>
                    </a:moveTo>
                    <a:lnTo>
                      <a:pt x="27" y="0"/>
                    </a:lnTo>
                    <a:lnTo>
                      <a:pt x="0" y="117"/>
                    </a:lnTo>
                    <a:lnTo>
                      <a:pt x="83" y="28"/>
                    </a:lnTo>
                    <a:close/>
                  </a:path>
                </a:pathLst>
              </a:cu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60" name="Freeform 21">
                <a:extLst>
                  <a:ext uri="{FF2B5EF4-FFF2-40B4-BE49-F238E27FC236}">
                    <a16:creationId xmlns:a16="http://schemas.microsoft.com/office/drawing/2014/main" id="{64CF8676-984D-4CE9-8334-3EFCEC9B7F5F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auto">
              <a:xfrm>
                <a:off x="1786" y="895"/>
                <a:ext cx="70" cy="49"/>
              </a:xfrm>
              <a:custGeom>
                <a:avLst/>
                <a:gdLst>
                  <a:gd name="T0" fmla="*/ 0 w 140"/>
                  <a:gd name="T1" fmla="*/ 49 h 98"/>
                  <a:gd name="T2" fmla="*/ 59 w 140"/>
                  <a:gd name="T3" fmla="*/ 0 h 98"/>
                  <a:gd name="T4" fmla="*/ 70 w 140"/>
                  <a:gd name="T5" fmla="*/ 25 h 98"/>
                  <a:gd name="T6" fmla="*/ 0 w 140"/>
                  <a:gd name="T7" fmla="*/ 49 h 98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140" h="98">
                    <a:moveTo>
                      <a:pt x="0" y="98"/>
                    </a:moveTo>
                    <a:lnTo>
                      <a:pt x="118" y="0"/>
                    </a:lnTo>
                    <a:lnTo>
                      <a:pt x="140" y="49"/>
                    </a:lnTo>
                    <a:lnTo>
                      <a:pt x="0" y="98"/>
                    </a:lnTo>
                    <a:close/>
                  </a:path>
                </a:pathLst>
              </a:cu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61" name="Freeform 22">
                <a:extLst>
                  <a:ext uri="{FF2B5EF4-FFF2-40B4-BE49-F238E27FC236}">
                    <a16:creationId xmlns:a16="http://schemas.microsoft.com/office/drawing/2014/main" id="{B5E40514-A8BA-4590-9839-665EE20318F8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auto">
              <a:xfrm>
                <a:off x="1772" y="998"/>
                <a:ext cx="73" cy="25"/>
              </a:xfrm>
              <a:custGeom>
                <a:avLst/>
                <a:gdLst>
                  <a:gd name="T0" fmla="*/ 0 w 145"/>
                  <a:gd name="T1" fmla="*/ 4 h 49"/>
                  <a:gd name="T2" fmla="*/ 73 w 145"/>
                  <a:gd name="T3" fmla="*/ 0 h 49"/>
                  <a:gd name="T4" fmla="*/ 66 w 145"/>
                  <a:gd name="T5" fmla="*/ 25 h 49"/>
                  <a:gd name="T6" fmla="*/ 0 w 145"/>
                  <a:gd name="T7" fmla="*/ 4 h 49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145" h="49">
                    <a:moveTo>
                      <a:pt x="0" y="7"/>
                    </a:moveTo>
                    <a:lnTo>
                      <a:pt x="145" y="0"/>
                    </a:lnTo>
                    <a:lnTo>
                      <a:pt x="131" y="49"/>
                    </a:lnTo>
                    <a:lnTo>
                      <a:pt x="0" y="7"/>
                    </a:lnTo>
                    <a:close/>
                  </a:path>
                </a:pathLst>
              </a:cu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1037" name="Group 23">
              <a:extLst>
                <a:ext uri="{FF2B5EF4-FFF2-40B4-BE49-F238E27FC236}">
                  <a16:creationId xmlns:a16="http://schemas.microsoft.com/office/drawing/2014/main" id="{DF237B1A-3B05-47A1-A319-C41C88930788}"/>
                </a:ext>
              </a:extLst>
            </p:cNvPr>
            <p:cNvGrpSpPr>
              <a:grpSpLocks/>
            </p:cNvGrpSpPr>
            <p:nvPr/>
          </p:nvGrpSpPr>
          <p:grpSpPr bwMode="auto">
            <a:xfrm rot="5003157">
              <a:off x="249" y="1102"/>
              <a:ext cx="412" cy="500"/>
              <a:chOff x="1727" y="866"/>
              <a:chExt cx="129" cy="157"/>
            </a:xfrm>
          </p:grpSpPr>
          <p:sp>
            <p:nvSpPr>
              <p:cNvPr id="1056" name="Freeform 24">
                <a:extLst>
                  <a:ext uri="{FF2B5EF4-FFF2-40B4-BE49-F238E27FC236}">
                    <a16:creationId xmlns:a16="http://schemas.microsoft.com/office/drawing/2014/main" id="{E8B18FDF-F7E9-4CC4-AB45-6704382A7850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auto">
              <a:xfrm>
                <a:off x="1727" y="866"/>
                <a:ext cx="41" cy="59"/>
              </a:xfrm>
              <a:custGeom>
                <a:avLst/>
                <a:gdLst>
                  <a:gd name="T0" fmla="*/ 41 w 83"/>
                  <a:gd name="T1" fmla="*/ 14 h 117"/>
                  <a:gd name="T2" fmla="*/ 13 w 83"/>
                  <a:gd name="T3" fmla="*/ 0 h 117"/>
                  <a:gd name="T4" fmla="*/ 0 w 83"/>
                  <a:gd name="T5" fmla="*/ 59 h 117"/>
                  <a:gd name="T6" fmla="*/ 41 w 83"/>
                  <a:gd name="T7" fmla="*/ 14 h 117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83" h="117">
                    <a:moveTo>
                      <a:pt x="83" y="28"/>
                    </a:moveTo>
                    <a:lnTo>
                      <a:pt x="27" y="0"/>
                    </a:lnTo>
                    <a:lnTo>
                      <a:pt x="0" y="117"/>
                    </a:lnTo>
                    <a:lnTo>
                      <a:pt x="83" y="28"/>
                    </a:lnTo>
                    <a:close/>
                  </a:path>
                </a:pathLst>
              </a:cu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57" name="Freeform 25">
                <a:extLst>
                  <a:ext uri="{FF2B5EF4-FFF2-40B4-BE49-F238E27FC236}">
                    <a16:creationId xmlns:a16="http://schemas.microsoft.com/office/drawing/2014/main" id="{FF41E8B2-15BC-463F-82F5-9A3E9DD64BA1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auto">
              <a:xfrm>
                <a:off x="1786" y="894"/>
                <a:ext cx="70" cy="49"/>
              </a:xfrm>
              <a:custGeom>
                <a:avLst/>
                <a:gdLst>
                  <a:gd name="T0" fmla="*/ 0 w 140"/>
                  <a:gd name="T1" fmla="*/ 49 h 98"/>
                  <a:gd name="T2" fmla="*/ 59 w 140"/>
                  <a:gd name="T3" fmla="*/ 0 h 98"/>
                  <a:gd name="T4" fmla="*/ 70 w 140"/>
                  <a:gd name="T5" fmla="*/ 25 h 98"/>
                  <a:gd name="T6" fmla="*/ 0 w 140"/>
                  <a:gd name="T7" fmla="*/ 49 h 98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140" h="98">
                    <a:moveTo>
                      <a:pt x="0" y="98"/>
                    </a:moveTo>
                    <a:lnTo>
                      <a:pt x="118" y="0"/>
                    </a:lnTo>
                    <a:lnTo>
                      <a:pt x="140" y="49"/>
                    </a:lnTo>
                    <a:lnTo>
                      <a:pt x="0" y="98"/>
                    </a:lnTo>
                    <a:close/>
                  </a:path>
                </a:pathLst>
              </a:cu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58" name="Freeform 26">
                <a:extLst>
                  <a:ext uri="{FF2B5EF4-FFF2-40B4-BE49-F238E27FC236}">
                    <a16:creationId xmlns:a16="http://schemas.microsoft.com/office/drawing/2014/main" id="{F4DEC594-D01B-46F2-A09B-E1E3F6810E78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auto">
              <a:xfrm>
                <a:off x="1772" y="998"/>
                <a:ext cx="73" cy="25"/>
              </a:xfrm>
              <a:custGeom>
                <a:avLst/>
                <a:gdLst>
                  <a:gd name="T0" fmla="*/ 0 w 145"/>
                  <a:gd name="T1" fmla="*/ 4 h 49"/>
                  <a:gd name="T2" fmla="*/ 73 w 145"/>
                  <a:gd name="T3" fmla="*/ 0 h 49"/>
                  <a:gd name="T4" fmla="*/ 66 w 145"/>
                  <a:gd name="T5" fmla="*/ 25 h 49"/>
                  <a:gd name="T6" fmla="*/ 0 w 145"/>
                  <a:gd name="T7" fmla="*/ 4 h 49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145" h="49">
                    <a:moveTo>
                      <a:pt x="0" y="7"/>
                    </a:moveTo>
                    <a:lnTo>
                      <a:pt x="145" y="0"/>
                    </a:lnTo>
                    <a:lnTo>
                      <a:pt x="131" y="49"/>
                    </a:lnTo>
                    <a:lnTo>
                      <a:pt x="0" y="7"/>
                    </a:lnTo>
                    <a:close/>
                  </a:path>
                </a:pathLst>
              </a:cu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1038" name="Group 27">
              <a:extLst>
                <a:ext uri="{FF2B5EF4-FFF2-40B4-BE49-F238E27FC236}">
                  <a16:creationId xmlns:a16="http://schemas.microsoft.com/office/drawing/2014/main" id="{50C93D99-72A0-41DD-8B4E-B252DDAD640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815" y="0"/>
              <a:ext cx="345" cy="367"/>
              <a:chOff x="1727" y="866"/>
              <a:chExt cx="129" cy="157"/>
            </a:xfrm>
          </p:grpSpPr>
          <p:sp>
            <p:nvSpPr>
              <p:cNvPr id="1053" name="Freeform 28">
                <a:extLst>
                  <a:ext uri="{FF2B5EF4-FFF2-40B4-BE49-F238E27FC236}">
                    <a16:creationId xmlns:a16="http://schemas.microsoft.com/office/drawing/2014/main" id="{AECEA909-0415-47D2-B87A-6222E8D6A252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auto">
              <a:xfrm>
                <a:off x="1727" y="866"/>
                <a:ext cx="41" cy="59"/>
              </a:xfrm>
              <a:custGeom>
                <a:avLst/>
                <a:gdLst>
                  <a:gd name="T0" fmla="*/ 41 w 83"/>
                  <a:gd name="T1" fmla="*/ 14 h 117"/>
                  <a:gd name="T2" fmla="*/ 13 w 83"/>
                  <a:gd name="T3" fmla="*/ 0 h 117"/>
                  <a:gd name="T4" fmla="*/ 0 w 83"/>
                  <a:gd name="T5" fmla="*/ 59 h 117"/>
                  <a:gd name="T6" fmla="*/ 41 w 83"/>
                  <a:gd name="T7" fmla="*/ 14 h 117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83" h="117">
                    <a:moveTo>
                      <a:pt x="83" y="28"/>
                    </a:moveTo>
                    <a:lnTo>
                      <a:pt x="27" y="0"/>
                    </a:lnTo>
                    <a:lnTo>
                      <a:pt x="0" y="117"/>
                    </a:lnTo>
                    <a:lnTo>
                      <a:pt x="83" y="28"/>
                    </a:lnTo>
                    <a:close/>
                  </a:path>
                </a:pathLst>
              </a:cu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54" name="Freeform 29">
                <a:extLst>
                  <a:ext uri="{FF2B5EF4-FFF2-40B4-BE49-F238E27FC236}">
                    <a16:creationId xmlns:a16="http://schemas.microsoft.com/office/drawing/2014/main" id="{AFE0899A-2CCD-4228-99A0-296BAA13CC40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auto">
              <a:xfrm>
                <a:off x="1786" y="894"/>
                <a:ext cx="70" cy="49"/>
              </a:xfrm>
              <a:custGeom>
                <a:avLst/>
                <a:gdLst>
                  <a:gd name="T0" fmla="*/ 0 w 140"/>
                  <a:gd name="T1" fmla="*/ 49 h 98"/>
                  <a:gd name="T2" fmla="*/ 59 w 140"/>
                  <a:gd name="T3" fmla="*/ 0 h 98"/>
                  <a:gd name="T4" fmla="*/ 70 w 140"/>
                  <a:gd name="T5" fmla="*/ 25 h 98"/>
                  <a:gd name="T6" fmla="*/ 0 w 140"/>
                  <a:gd name="T7" fmla="*/ 49 h 98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140" h="98">
                    <a:moveTo>
                      <a:pt x="0" y="98"/>
                    </a:moveTo>
                    <a:lnTo>
                      <a:pt x="118" y="0"/>
                    </a:lnTo>
                    <a:lnTo>
                      <a:pt x="140" y="49"/>
                    </a:lnTo>
                    <a:lnTo>
                      <a:pt x="0" y="98"/>
                    </a:lnTo>
                    <a:close/>
                  </a:path>
                </a:pathLst>
              </a:cu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55" name="Freeform 30">
                <a:extLst>
                  <a:ext uri="{FF2B5EF4-FFF2-40B4-BE49-F238E27FC236}">
                    <a16:creationId xmlns:a16="http://schemas.microsoft.com/office/drawing/2014/main" id="{7602BB96-3749-44EC-B216-07FB774F2278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auto">
              <a:xfrm>
                <a:off x="1772" y="998"/>
                <a:ext cx="73" cy="25"/>
              </a:xfrm>
              <a:custGeom>
                <a:avLst/>
                <a:gdLst>
                  <a:gd name="T0" fmla="*/ 0 w 145"/>
                  <a:gd name="T1" fmla="*/ 4 h 49"/>
                  <a:gd name="T2" fmla="*/ 73 w 145"/>
                  <a:gd name="T3" fmla="*/ 0 h 49"/>
                  <a:gd name="T4" fmla="*/ 66 w 145"/>
                  <a:gd name="T5" fmla="*/ 25 h 49"/>
                  <a:gd name="T6" fmla="*/ 0 w 145"/>
                  <a:gd name="T7" fmla="*/ 4 h 49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145" h="49">
                    <a:moveTo>
                      <a:pt x="0" y="7"/>
                    </a:moveTo>
                    <a:lnTo>
                      <a:pt x="145" y="0"/>
                    </a:lnTo>
                    <a:lnTo>
                      <a:pt x="131" y="49"/>
                    </a:lnTo>
                    <a:lnTo>
                      <a:pt x="0" y="7"/>
                    </a:lnTo>
                    <a:close/>
                  </a:path>
                </a:pathLst>
              </a:cu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1039" name="Freeform 31">
              <a:extLst>
                <a:ext uri="{FF2B5EF4-FFF2-40B4-BE49-F238E27FC236}">
                  <a16:creationId xmlns:a16="http://schemas.microsoft.com/office/drawing/2014/main" id="{BCC002E0-754F-4289-B7BA-9B994AB40D0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7" y="94"/>
              <a:ext cx="699" cy="756"/>
            </a:xfrm>
            <a:custGeom>
              <a:avLst/>
              <a:gdLst>
                <a:gd name="T0" fmla="*/ 1 w 699"/>
                <a:gd name="T1" fmla="*/ 392 h 756"/>
                <a:gd name="T2" fmla="*/ 3 w 699"/>
                <a:gd name="T3" fmla="*/ 252 h 756"/>
                <a:gd name="T4" fmla="*/ 21 w 699"/>
                <a:gd name="T5" fmla="*/ 210 h 756"/>
                <a:gd name="T6" fmla="*/ 29 w 699"/>
                <a:gd name="T7" fmla="*/ 182 h 756"/>
                <a:gd name="T8" fmla="*/ 39 w 699"/>
                <a:gd name="T9" fmla="*/ 154 h 756"/>
                <a:gd name="T10" fmla="*/ 51 w 699"/>
                <a:gd name="T11" fmla="*/ 138 h 756"/>
                <a:gd name="T12" fmla="*/ 111 w 699"/>
                <a:gd name="T13" fmla="*/ 74 h 756"/>
                <a:gd name="T14" fmla="*/ 169 w 699"/>
                <a:gd name="T15" fmla="*/ 30 h 756"/>
                <a:gd name="T16" fmla="*/ 225 w 699"/>
                <a:gd name="T17" fmla="*/ 10 h 756"/>
                <a:gd name="T18" fmla="*/ 249 w 699"/>
                <a:gd name="T19" fmla="*/ 4 h 756"/>
                <a:gd name="T20" fmla="*/ 265 w 699"/>
                <a:gd name="T21" fmla="*/ 0 h 756"/>
                <a:gd name="T22" fmla="*/ 357 w 699"/>
                <a:gd name="T23" fmla="*/ 2 h 756"/>
                <a:gd name="T24" fmla="*/ 385 w 699"/>
                <a:gd name="T25" fmla="*/ 6 h 756"/>
                <a:gd name="T26" fmla="*/ 489 w 699"/>
                <a:gd name="T27" fmla="*/ 40 h 756"/>
                <a:gd name="T28" fmla="*/ 619 w 699"/>
                <a:gd name="T29" fmla="*/ 128 h 756"/>
                <a:gd name="T30" fmla="*/ 653 w 699"/>
                <a:gd name="T31" fmla="*/ 178 h 756"/>
                <a:gd name="T32" fmla="*/ 693 w 699"/>
                <a:gd name="T33" fmla="*/ 322 h 756"/>
                <a:gd name="T34" fmla="*/ 687 w 699"/>
                <a:gd name="T35" fmla="*/ 434 h 756"/>
                <a:gd name="T36" fmla="*/ 665 w 699"/>
                <a:gd name="T37" fmla="*/ 538 h 756"/>
                <a:gd name="T38" fmla="*/ 639 w 699"/>
                <a:gd name="T39" fmla="*/ 564 h 756"/>
                <a:gd name="T40" fmla="*/ 631 w 699"/>
                <a:gd name="T41" fmla="*/ 580 h 756"/>
                <a:gd name="T42" fmla="*/ 607 w 699"/>
                <a:gd name="T43" fmla="*/ 588 h 756"/>
                <a:gd name="T44" fmla="*/ 473 w 699"/>
                <a:gd name="T45" fmla="*/ 664 h 756"/>
                <a:gd name="T46" fmla="*/ 449 w 699"/>
                <a:gd name="T47" fmla="*/ 678 h 756"/>
                <a:gd name="T48" fmla="*/ 405 w 699"/>
                <a:gd name="T49" fmla="*/ 684 h 756"/>
                <a:gd name="T50" fmla="*/ 375 w 699"/>
                <a:gd name="T51" fmla="*/ 690 h 756"/>
                <a:gd name="T52" fmla="*/ 267 w 699"/>
                <a:gd name="T53" fmla="*/ 684 h 756"/>
                <a:gd name="T54" fmla="*/ 259 w 699"/>
                <a:gd name="T55" fmla="*/ 722 h 756"/>
                <a:gd name="T56" fmla="*/ 241 w 699"/>
                <a:gd name="T57" fmla="*/ 756 h 756"/>
                <a:gd name="T58" fmla="*/ 185 w 699"/>
                <a:gd name="T59" fmla="*/ 728 h 756"/>
                <a:gd name="T60" fmla="*/ 163 w 699"/>
                <a:gd name="T61" fmla="*/ 720 h 756"/>
                <a:gd name="T62" fmla="*/ 151 w 699"/>
                <a:gd name="T63" fmla="*/ 716 h 756"/>
                <a:gd name="T64" fmla="*/ 195 w 699"/>
                <a:gd name="T65" fmla="*/ 674 h 756"/>
                <a:gd name="T66" fmla="*/ 211 w 699"/>
                <a:gd name="T67" fmla="*/ 644 h 756"/>
                <a:gd name="T68" fmla="*/ 209 w 699"/>
                <a:gd name="T69" fmla="*/ 626 h 756"/>
                <a:gd name="T70" fmla="*/ 195 w 699"/>
                <a:gd name="T71" fmla="*/ 620 h 756"/>
                <a:gd name="T72" fmla="*/ 165 w 699"/>
                <a:gd name="T73" fmla="*/ 596 h 756"/>
                <a:gd name="T74" fmla="*/ 99 w 699"/>
                <a:gd name="T75" fmla="*/ 534 h 756"/>
                <a:gd name="T76" fmla="*/ 61 w 699"/>
                <a:gd name="T77" fmla="*/ 506 h 756"/>
                <a:gd name="T78" fmla="*/ 23 w 699"/>
                <a:gd name="T79" fmla="*/ 470 h 756"/>
                <a:gd name="T80" fmla="*/ 7 w 699"/>
                <a:gd name="T81" fmla="*/ 434 h 756"/>
                <a:gd name="T82" fmla="*/ 5 w 699"/>
                <a:gd name="T83" fmla="*/ 396 h 756"/>
                <a:gd name="T84" fmla="*/ 1 w 699"/>
                <a:gd name="T85" fmla="*/ 392 h 75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</a:gdLst>
              <a:ahLst/>
              <a:cxnLst>
                <a:cxn ang="T86">
                  <a:pos x="T0" y="T1"/>
                </a:cxn>
                <a:cxn ang="T87">
                  <a:pos x="T2" y="T3"/>
                </a:cxn>
                <a:cxn ang="T88">
                  <a:pos x="T4" y="T5"/>
                </a:cxn>
                <a:cxn ang="T89">
                  <a:pos x="T6" y="T7"/>
                </a:cxn>
                <a:cxn ang="T90">
                  <a:pos x="T8" y="T9"/>
                </a:cxn>
                <a:cxn ang="T91">
                  <a:pos x="T10" y="T11"/>
                </a:cxn>
                <a:cxn ang="T92">
                  <a:pos x="T12" y="T13"/>
                </a:cxn>
                <a:cxn ang="T93">
                  <a:pos x="T14" y="T15"/>
                </a:cxn>
                <a:cxn ang="T94">
                  <a:pos x="T16" y="T17"/>
                </a:cxn>
                <a:cxn ang="T95">
                  <a:pos x="T18" y="T19"/>
                </a:cxn>
                <a:cxn ang="T96">
                  <a:pos x="T20" y="T21"/>
                </a:cxn>
                <a:cxn ang="T97">
                  <a:pos x="T22" y="T23"/>
                </a:cxn>
                <a:cxn ang="T98">
                  <a:pos x="T24" y="T25"/>
                </a:cxn>
                <a:cxn ang="T99">
                  <a:pos x="T26" y="T27"/>
                </a:cxn>
                <a:cxn ang="T100">
                  <a:pos x="T28" y="T29"/>
                </a:cxn>
                <a:cxn ang="T101">
                  <a:pos x="T30" y="T31"/>
                </a:cxn>
                <a:cxn ang="T102">
                  <a:pos x="T32" y="T33"/>
                </a:cxn>
                <a:cxn ang="T103">
                  <a:pos x="T34" y="T35"/>
                </a:cxn>
                <a:cxn ang="T104">
                  <a:pos x="T36" y="T37"/>
                </a:cxn>
                <a:cxn ang="T105">
                  <a:pos x="T38" y="T39"/>
                </a:cxn>
                <a:cxn ang="T106">
                  <a:pos x="T40" y="T41"/>
                </a:cxn>
                <a:cxn ang="T107">
                  <a:pos x="T42" y="T43"/>
                </a:cxn>
                <a:cxn ang="T108">
                  <a:pos x="T44" y="T45"/>
                </a:cxn>
                <a:cxn ang="T109">
                  <a:pos x="T46" y="T47"/>
                </a:cxn>
                <a:cxn ang="T110">
                  <a:pos x="T48" y="T49"/>
                </a:cxn>
                <a:cxn ang="T111">
                  <a:pos x="T50" y="T51"/>
                </a:cxn>
                <a:cxn ang="T112">
                  <a:pos x="T52" y="T53"/>
                </a:cxn>
                <a:cxn ang="T113">
                  <a:pos x="T54" y="T55"/>
                </a:cxn>
                <a:cxn ang="T114">
                  <a:pos x="T56" y="T57"/>
                </a:cxn>
                <a:cxn ang="T115">
                  <a:pos x="T58" y="T59"/>
                </a:cxn>
                <a:cxn ang="T116">
                  <a:pos x="T60" y="T61"/>
                </a:cxn>
                <a:cxn ang="T117">
                  <a:pos x="T62" y="T63"/>
                </a:cxn>
                <a:cxn ang="T118">
                  <a:pos x="T64" y="T65"/>
                </a:cxn>
                <a:cxn ang="T119">
                  <a:pos x="T66" y="T67"/>
                </a:cxn>
                <a:cxn ang="T120">
                  <a:pos x="T68" y="T69"/>
                </a:cxn>
                <a:cxn ang="T121">
                  <a:pos x="T70" y="T71"/>
                </a:cxn>
                <a:cxn ang="T122">
                  <a:pos x="T72" y="T73"/>
                </a:cxn>
                <a:cxn ang="T123">
                  <a:pos x="T74" y="T75"/>
                </a:cxn>
                <a:cxn ang="T124">
                  <a:pos x="T76" y="T77"/>
                </a:cxn>
                <a:cxn ang="T125">
                  <a:pos x="T78" y="T79"/>
                </a:cxn>
                <a:cxn ang="T126">
                  <a:pos x="T80" y="T81"/>
                </a:cxn>
                <a:cxn ang="T127">
                  <a:pos x="T82" y="T83"/>
                </a:cxn>
                <a:cxn ang="T128">
                  <a:pos x="T84" y="T85"/>
                </a:cxn>
              </a:cxnLst>
              <a:rect l="0" t="0" r="r" b="b"/>
              <a:pathLst>
                <a:path w="699" h="756">
                  <a:moveTo>
                    <a:pt x="1" y="392"/>
                  </a:moveTo>
                  <a:cubicBezTo>
                    <a:pt x="2" y="345"/>
                    <a:pt x="2" y="299"/>
                    <a:pt x="3" y="252"/>
                  </a:cubicBezTo>
                  <a:cubicBezTo>
                    <a:pt x="3" y="238"/>
                    <a:pt x="16" y="224"/>
                    <a:pt x="21" y="210"/>
                  </a:cubicBezTo>
                  <a:cubicBezTo>
                    <a:pt x="24" y="202"/>
                    <a:pt x="29" y="182"/>
                    <a:pt x="29" y="182"/>
                  </a:cubicBezTo>
                  <a:cubicBezTo>
                    <a:pt x="32" y="173"/>
                    <a:pt x="34" y="163"/>
                    <a:pt x="39" y="154"/>
                  </a:cubicBezTo>
                  <a:cubicBezTo>
                    <a:pt x="42" y="148"/>
                    <a:pt x="51" y="138"/>
                    <a:pt x="51" y="138"/>
                  </a:cubicBezTo>
                  <a:cubicBezTo>
                    <a:pt x="58" y="116"/>
                    <a:pt x="88" y="82"/>
                    <a:pt x="111" y="74"/>
                  </a:cubicBezTo>
                  <a:cubicBezTo>
                    <a:pt x="128" y="61"/>
                    <a:pt x="149" y="37"/>
                    <a:pt x="169" y="30"/>
                  </a:cubicBezTo>
                  <a:cubicBezTo>
                    <a:pt x="182" y="17"/>
                    <a:pt x="207" y="15"/>
                    <a:pt x="225" y="10"/>
                  </a:cubicBezTo>
                  <a:cubicBezTo>
                    <a:pt x="233" y="8"/>
                    <a:pt x="241" y="6"/>
                    <a:pt x="249" y="4"/>
                  </a:cubicBezTo>
                  <a:cubicBezTo>
                    <a:pt x="254" y="3"/>
                    <a:pt x="265" y="0"/>
                    <a:pt x="265" y="0"/>
                  </a:cubicBezTo>
                  <a:cubicBezTo>
                    <a:pt x="296" y="1"/>
                    <a:pt x="326" y="0"/>
                    <a:pt x="357" y="2"/>
                  </a:cubicBezTo>
                  <a:cubicBezTo>
                    <a:pt x="366" y="2"/>
                    <a:pt x="385" y="6"/>
                    <a:pt x="385" y="6"/>
                  </a:cubicBezTo>
                  <a:cubicBezTo>
                    <a:pt x="417" y="17"/>
                    <a:pt x="463" y="14"/>
                    <a:pt x="489" y="40"/>
                  </a:cubicBezTo>
                  <a:cubicBezTo>
                    <a:pt x="528" y="60"/>
                    <a:pt x="592" y="105"/>
                    <a:pt x="619" y="128"/>
                  </a:cubicBezTo>
                  <a:cubicBezTo>
                    <a:pt x="635" y="134"/>
                    <a:pt x="643" y="164"/>
                    <a:pt x="653" y="178"/>
                  </a:cubicBezTo>
                  <a:cubicBezTo>
                    <a:pt x="667" y="234"/>
                    <a:pt x="687" y="265"/>
                    <a:pt x="693" y="322"/>
                  </a:cubicBezTo>
                  <a:cubicBezTo>
                    <a:pt x="699" y="365"/>
                    <a:pt x="692" y="398"/>
                    <a:pt x="687" y="434"/>
                  </a:cubicBezTo>
                  <a:cubicBezTo>
                    <a:pt x="686" y="469"/>
                    <a:pt x="691" y="510"/>
                    <a:pt x="665" y="538"/>
                  </a:cubicBezTo>
                  <a:cubicBezTo>
                    <a:pt x="657" y="547"/>
                    <a:pt x="644" y="553"/>
                    <a:pt x="639" y="564"/>
                  </a:cubicBezTo>
                  <a:cubicBezTo>
                    <a:pt x="636" y="569"/>
                    <a:pt x="636" y="576"/>
                    <a:pt x="631" y="580"/>
                  </a:cubicBezTo>
                  <a:cubicBezTo>
                    <a:pt x="624" y="585"/>
                    <a:pt x="607" y="588"/>
                    <a:pt x="607" y="588"/>
                  </a:cubicBezTo>
                  <a:cubicBezTo>
                    <a:pt x="581" y="602"/>
                    <a:pt x="499" y="649"/>
                    <a:pt x="473" y="664"/>
                  </a:cubicBezTo>
                  <a:cubicBezTo>
                    <a:pt x="465" y="666"/>
                    <a:pt x="449" y="678"/>
                    <a:pt x="449" y="678"/>
                  </a:cubicBezTo>
                  <a:cubicBezTo>
                    <a:pt x="438" y="685"/>
                    <a:pt x="417" y="679"/>
                    <a:pt x="405" y="684"/>
                  </a:cubicBezTo>
                  <a:cubicBezTo>
                    <a:pt x="396" y="687"/>
                    <a:pt x="385" y="688"/>
                    <a:pt x="375" y="690"/>
                  </a:cubicBezTo>
                  <a:cubicBezTo>
                    <a:pt x="328" y="689"/>
                    <a:pt x="307" y="687"/>
                    <a:pt x="267" y="684"/>
                  </a:cubicBezTo>
                  <a:cubicBezTo>
                    <a:pt x="249" y="690"/>
                    <a:pt x="264" y="683"/>
                    <a:pt x="259" y="722"/>
                  </a:cubicBezTo>
                  <a:cubicBezTo>
                    <a:pt x="258" y="733"/>
                    <a:pt x="250" y="750"/>
                    <a:pt x="241" y="756"/>
                  </a:cubicBezTo>
                  <a:cubicBezTo>
                    <a:pt x="218" y="752"/>
                    <a:pt x="207" y="735"/>
                    <a:pt x="185" y="728"/>
                  </a:cubicBezTo>
                  <a:cubicBezTo>
                    <a:pt x="176" y="725"/>
                    <a:pt x="171" y="724"/>
                    <a:pt x="163" y="720"/>
                  </a:cubicBezTo>
                  <a:cubicBezTo>
                    <a:pt x="159" y="718"/>
                    <a:pt x="151" y="716"/>
                    <a:pt x="151" y="716"/>
                  </a:cubicBezTo>
                  <a:cubicBezTo>
                    <a:pt x="157" y="695"/>
                    <a:pt x="180" y="689"/>
                    <a:pt x="195" y="674"/>
                  </a:cubicBezTo>
                  <a:cubicBezTo>
                    <a:pt x="198" y="665"/>
                    <a:pt x="205" y="652"/>
                    <a:pt x="211" y="644"/>
                  </a:cubicBezTo>
                  <a:cubicBezTo>
                    <a:pt x="210" y="638"/>
                    <a:pt x="212" y="631"/>
                    <a:pt x="209" y="626"/>
                  </a:cubicBezTo>
                  <a:cubicBezTo>
                    <a:pt x="207" y="621"/>
                    <a:pt x="199" y="623"/>
                    <a:pt x="195" y="620"/>
                  </a:cubicBezTo>
                  <a:cubicBezTo>
                    <a:pt x="185" y="612"/>
                    <a:pt x="173" y="606"/>
                    <a:pt x="165" y="596"/>
                  </a:cubicBezTo>
                  <a:cubicBezTo>
                    <a:pt x="146" y="573"/>
                    <a:pt x="123" y="552"/>
                    <a:pt x="99" y="534"/>
                  </a:cubicBezTo>
                  <a:cubicBezTo>
                    <a:pt x="87" y="525"/>
                    <a:pt x="72" y="517"/>
                    <a:pt x="61" y="506"/>
                  </a:cubicBezTo>
                  <a:cubicBezTo>
                    <a:pt x="49" y="494"/>
                    <a:pt x="37" y="480"/>
                    <a:pt x="23" y="470"/>
                  </a:cubicBezTo>
                  <a:cubicBezTo>
                    <a:pt x="13" y="456"/>
                    <a:pt x="10" y="451"/>
                    <a:pt x="7" y="434"/>
                  </a:cubicBezTo>
                  <a:cubicBezTo>
                    <a:pt x="6" y="421"/>
                    <a:pt x="7" y="408"/>
                    <a:pt x="5" y="396"/>
                  </a:cubicBezTo>
                  <a:cubicBezTo>
                    <a:pt x="5" y="394"/>
                    <a:pt x="0" y="391"/>
                    <a:pt x="1" y="392"/>
                  </a:cubicBezTo>
                  <a:close/>
                </a:path>
              </a:pathLst>
            </a:custGeom>
            <a:solidFill>
              <a:schemeClr val="accent1">
                <a:alpha val="50195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40" name="Freeform 32">
              <a:extLst>
                <a:ext uri="{FF2B5EF4-FFF2-40B4-BE49-F238E27FC236}">
                  <a16:creationId xmlns:a16="http://schemas.microsoft.com/office/drawing/2014/main" id="{037C609C-0D01-4DDA-92E7-76B03B30C4A1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828663">
              <a:off x="242" y="3404"/>
              <a:ext cx="132" cy="167"/>
            </a:xfrm>
            <a:custGeom>
              <a:avLst/>
              <a:gdLst>
                <a:gd name="T0" fmla="*/ 0 w 109"/>
                <a:gd name="T1" fmla="*/ 0 h 156"/>
                <a:gd name="T2" fmla="*/ 6 w 109"/>
                <a:gd name="T3" fmla="*/ 1 h 156"/>
                <a:gd name="T4" fmla="*/ 22 w 109"/>
                <a:gd name="T5" fmla="*/ 5 h 156"/>
                <a:gd name="T6" fmla="*/ 45 w 109"/>
                <a:gd name="T7" fmla="*/ 13 h 156"/>
                <a:gd name="T8" fmla="*/ 70 w 109"/>
                <a:gd name="T9" fmla="*/ 26 h 156"/>
                <a:gd name="T10" fmla="*/ 94 w 109"/>
                <a:gd name="T11" fmla="*/ 47 h 156"/>
                <a:gd name="T12" fmla="*/ 116 w 109"/>
                <a:gd name="T13" fmla="*/ 76 h 156"/>
                <a:gd name="T14" fmla="*/ 130 w 109"/>
                <a:gd name="T15" fmla="*/ 116 h 156"/>
                <a:gd name="T16" fmla="*/ 132 w 109"/>
                <a:gd name="T17" fmla="*/ 167 h 156"/>
                <a:gd name="T18" fmla="*/ 127 w 109"/>
                <a:gd name="T19" fmla="*/ 167 h 156"/>
                <a:gd name="T20" fmla="*/ 120 w 109"/>
                <a:gd name="T21" fmla="*/ 167 h 156"/>
                <a:gd name="T22" fmla="*/ 113 w 109"/>
                <a:gd name="T23" fmla="*/ 167 h 156"/>
                <a:gd name="T24" fmla="*/ 105 w 109"/>
                <a:gd name="T25" fmla="*/ 165 h 156"/>
                <a:gd name="T26" fmla="*/ 98 w 109"/>
                <a:gd name="T27" fmla="*/ 164 h 156"/>
                <a:gd name="T28" fmla="*/ 90 w 109"/>
                <a:gd name="T29" fmla="*/ 161 h 156"/>
                <a:gd name="T30" fmla="*/ 80 w 109"/>
                <a:gd name="T31" fmla="*/ 155 h 156"/>
                <a:gd name="T32" fmla="*/ 70 w 109"/>
                <a:gd name="T33" fmla="*/ 149 h 156"/>
                <a:gd name="T34" fmla="*/ 64 w 109"/>
                <a:gd name="T35" fmla="*/ 135 h 156"/>
                <a:gd name="T36" fmla="*/ 64 w 109"/>
                <a:gd name="T37" fmla="*/ 119 h 156"/>
                <a:gd name="T38" fmla="*/ 68 w 109"/>
                <a:gd name="T39" fmla="*/ 103 h 156"/>
                <a:gd name="T40" fmla="*/ 71 w 109"/>
                <a:gd name="T41" fmla="*/ 86 h 156"/>
                <a:gd name="T42" fmla="*/ 68 w 109"/>
                <a:gd name="T43" fmla="*/ 66 h 156"/>
                <a:gd name="T44" fmla="*/ 58 w 109"/>
                <a:gd name="T45" fmla="*/ 46 h 156"/>
                <a:gd name="T46" fmla="*/ 38 w 109"/>
                <a:gd name="T47" fmla="*/ 25 h 156"/>
                <a:gd name="T48" fmla="*/ 0 w 109"/>
                <a:gd name="T49" fmla="*/ 0 h 15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</a:gdLst>
              <a:ahLst/>
              <a:cxnLst>
                <a:cxn ang="T50">
                  <a:pos x="T0" y="T1"/>
                </a:cxn>
                <a:cxn ang="T51">
                  <a:pos x="T2" y="T3"/>
                </a:cxn>
                <a:cxn ang="T52">
                  <a:pos x="T4" y="T5"/>
                </a:cxn>
                <a:cxn ang="T53">
                  <a:pos x="T6" y="T7"/>
                </a:cxn>
                <a:cxn ang="T54">
                  <a:pos x="T8" y="T9"/>
                </a:cxn>
                <a:cxn ang="T55">
                  <a:pos x="T10" y="T11"/>
                </a:cxn>
                <a:cxn ang="T56">
                  <a:pos x="T12" y="T13"/>
                </a:cxn>
                <a:cxn ang="T57">
                  <a:pos x="T14" y="T15"/>
                </a:cxn>
                <a:cxn ang="T58">
                  <a:pos x="T16" y="T17"/>
                </a:cxn>
                <a:cxn ang="T59">
                  <a:pos x="T18" y="T19"/>
                </a:cxn>
                <a:cxn ang="T60">
                  <a:pos x="T20" y="T21"/>
                </a:cxn>
                <a:cxn ang="T61">
                  <a:pos x="T22" y="T23"/>
                </a:cxn>
                <a:cxn ang="T62">
                  <a:pos x="T24" y="T25"/>
                </a:cxn>
                <a:cxn ang="T63">
                  <a:pos x="T26" y="T27"/>
                </a:cxn>
                <a:cxn ang="T64">
                  <a:pos x="T28" y="T29"/>
                </a:cxn>
                <a:cxn ang="T65">
                  <a:pos x="T30" y="T31"/>
                </a:cxn>
                <a:cxn ang="T66">
                  <a:pos x="T32" y="T33"/>
                </a:cxn>
                <a:cxn ang="T67">
                  <a:pos x="T34" y="T35"/>
                </a:cxn>
                <a:cxn ang="T68">
                  <a:pos x="T36" y="T37"/>
                </a:cxn>
                <a:cxn ang="T69">
                  <a:pos x="T38" y="T39"/>
                </a:cxn>
                <a:cxn ang="T70">
                  <a:pos x="T40" y="T41"/>
                </a:cxn>
                <a:cxn ang="T71">
                  <a:pos x="T42" y="T43"/>
                </a:cxn>
                <a:cxn ang="T72">
                  <a:pos x="T44" y="T45"/>
                </a:cxn>
                <a:cxn ang="T73">
                  <a:pos x="T46" y="T47"/>
                </a:cxn>
                <a:cxn ang="T74">
                  <a:pos x="T48" y="T49"/>
                </a:cxn>
              </a:cxnLst>
              <a:rect l="0" t="0" r="r" b="b"/>
              <a:pathLst>
                <a:path w="109" h="156">
                  <a:moveTo>
                    <a:pt x="0" y="0"/>
                  </a:moveTo>
                  <a:lnTo>
                    <a:pt x="5" y="1"/>
                  </a:lnTo>
                  <a:lnTo>
                    <a:pt x="18" y="5"/>
                  </a:lnTo>
                  <a:lnTo>
                    <a:pt x="37" y="12"/>
                  </a:lnTo>
                  <a:lnTo>
                    <a:pt x="58" y="24"/>
                  </a:lnTo>
                  <a:lnTo>
                    <a:pt x="78" y="44"/>
                  </a:lnTo>
                  <a:lnTo>
                    <a:pt x="96" y="71"/>
                  </a:lnTo>
                  <a:lnTo>
                    <a:pt x="107" y="108"/>
                  </a:lnTo>
                  <a:lnTo>
                    <a:pt x="109" y="156"/>
                  </a:lnTo>
                  <a:lnTo>
                    <a:pt x="105" y="156"/>
                  </a:lnTo>
                  <a:lnTo>
                    <a:pt x="99" y="156"/>
                  </a:lnTo>
                  <a:lnTo>
                    <a:pt x="93" y="156"/>
                  </a:lnTo>
                  <a:lnTo>
                    <a:pt x="87" y="154"/>
                  </a:lnTo>
                  <a:lnTo>
                    <a:pt x="81" y="153"/>
                  </a:lnTo>
                  <a:lnTo>
                    <a:pt x="74" y="150"/>
                  </a:lnTo>
                  <a:lnTo>
                    <a:pt x="66" y="145"/>
                  </a:lnTo>
                  <a:lnTo>
                    <a:pt x="58" y="139"/>
                  </a:lnTo>
                  <a:lnTo>
                    <a:pt x="53" y="126"/>
                  </a:lnTo>
                  <a:lnTo>
                    <a:pt x="53" y="111"/>
                  </a:lnTo>
                  <a:lnTo>
                    <a:pt x="56" y="96"/>
                  </a:lnTo>
                  <a:lnTo>
                    <a:pt x="59" y="80"/>
                  </a:lnTo>
                  <a:lnTo>
                    <a:pt x="56" y="62"/>
                  </a:lnTo>
                  <a:lnTo>
                    <a:pt x="48" y="43"/>
                  </a:lnTo>
                  <a:lnTo>
                    <a:pt x="31" y="2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41" name="Freeform 33">
              <a:extLst>
                <a:ext uri="{FF2B5EF4-FFF2-40B4-BE49-F238E27FC236}">
                  <a16:creationId xmlns:a16="http://schemas.microsoft.com/office/drawing/2014/main" id="{0906E950-5AF6-43B5-8787-2B3AF64C5F75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828663">
              <a:off x="266" y="3592"/>
              <a:ext cx="66" cy="43"/>
            </a:xfrm>
            <a:custGeom>
              <a:avLst/>
              <a:gdLst>
                <a:gd name="T0" fmla="*/ 0 w 54"/>
                <a:gd name="T1" fmla="*/ 0 h 40"/>
                <a:gd name="T2" fmla="*/ 1 w 54"/>
                <a:gd name="T3" fmla="*/ 1 h 40"/>
                <a:gd name="T4" fmla="*/ 7 w 54"/>
                <a:gd name="T5" fmla="*/ 3 h 40"/>
                <a:gd name="T6" fmla="*/ 16 w 54"/>
                <a:gd name="T7" fmla="*/ 9 h 40"/>
                <a:gd name="T8" fmla="*/ 26 w 54"/>
                <a:gd name="T9" fmla="*/ 13 h 40"/>
                <a:gd name="T10" fmla="*/ 35 w 54"/>
                <a:gd name="T11" fmla="*/ 16 h 40"/>
                <a:gd name="T12" fmla="*/ 46 w 54"/>
                <a:gd name="T13" fmla="*/ 18 h 40"/>
                <a:gd name="T14" fmla="*/ 56 w 54"/>
                <a:gd name="T15" fmla="*/ 19 h 40"/>
                <a:gd name="T16" fmla="*/ 66 w 54"/>
                <a:gd name="T17" fmla="*/ 17 h 40"/>
                <a:gd name="T18" fmla="*/ 65 w 54"/>
                <a:gd name="T19" fmla="*/ 27 h 40"/>
                <a:gd name="T20" fmla="*/ 61 w 54"/>
                <a:gd name="T21" fmla="*/ 35 h 40"/>
                <a:gd name="T22" fmla="*/ 54 w 54"/>
                <a:gd name="T23" fmla="*/ 41 h 40"/>
                <a:gd name="T24" fmla="*/ 45 w 54"/>
                <a:gd name="T25" fmla="*/ 43 h 40"/>
                <a:gd name="T26" fmla="*/ 34 w 54"/>
                <a:gd name="T27" fmla="*/ 42 h 40"/>
                <a:gd name="T28" fmla="*/ 23 w 54"/>
                <a:gd name="T29" fmla="*/ 34 h 40"/>
                <a:gd name="T30" fmla="*/ 12 w 54"/>
                <a:gd name="T31" fmla="*/ 22 h 40"/>
                <a:gd name="T32" fmla="*/ 0 w 54"/>
                <a:gd name="T33" fmla="*/ 0 h 40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0" t="0" r="r" b="b"/>
              <a:pathLst>
                <a:path w="54" h="40">
                  <a:moveTo>
                    <a:pt x="0" y="0"/>
                  </a:moveTo>
                  <a:lnTo>
                    <a:pt x="1" y="1"/>
                  </a:lnTo>
                  <a:lnTo>
                    <a:pt x="6" y="3"/>
                  </a:lnTo>
                  <a:lnTo>
                    <a:pt x="13" y="8"/>
                  </a:lnTo>
                  <a:lnTo>
                    <a:pt x="21" y="12"/>
                  </a:lnTo>
                  <a:lnTo>
                    <a:pt x="29" y="15"/>
                  </a:lnTo>
                  <a:lnTo>
                    <a:pt x="38" y="17"/>
                  </a:lnTo>
                  <a:lnTo>
                    <a:pt x="46" y="18"/>
                  </a:lnTo>
                  <a:lnTo>
                    <a:pt x="54" y="16"/>
                  </a:lnTo>
                  <a:lnTo>
                    <a:pt x="53" y="25"/>
                  </a:lnTo>
                  <a:lnTo>
                    <a:pt x="50" y="33"/>
                  </a:lnTo>
                  <a:lnTo>
                    <a:pt x="44" y="38"/>
                  </a:lnTo>
                  <a:lnTo>
                    <a:pt x="37" y="40"/>
                  </a:lnTo>
                  <a:lnTo>
                    <a:pt x="28" y="39"/>
                  </a:lnTo>
                  <a:lnTo>
                    <a:pt x="19" y="32"/>
                  </a:lnTo>
                  <a:lnTo>
                    <a:pt x="10" y="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42" name="Freeform 34">
              <a:extLst>
                <a:ext uri="{FF2B5EF4-FFF2-40B4-BE49-F238E27FC236}">
                  <a16:creationId xmlns:a16="http://schemas.microsoft.com/office/drawing/2014/main" id="{52943EE8-A71D-4CDB-94F3-4E1D309B659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" y="4110"/>
              <a:ext cx="118" cy="209"/>
            </a:xfrm>
            <a:custGeom>
              <a:avLst/>
              <a:gdLst>
                <a:gd name="T0" fmla="*/ 0 w 118"/>
                <a:gd name="T1" fmla="*/ 0 h 209"/>
                <a:gd name="T2" fmla="*/ 6 w 118"/>
                <a:gd name="T3" fmla="*/ 8 h 209"/>
                <a:gd name="T4" fmla="*/ 15 w 118"/>
                <a:gd name="T5" fmla="*/ 19 h 209"/>
                <a:gd name="T6" fmla="*/ 26 w 118"/>
                <a:gd name="T7" fmla="*/ 33 h 209"/>
                <a:gd name="T8" fmla="*/ 38 w 118"/>
                <a:gd name="T9" fmla="*/ 51 h 209"/>
                <a:gd name="T10" fmla="*/ 54 w 118"/>
                <a:gd name="T11" fmla="*/ 72 h 209"/>
                <a:gd name="T12" fmla="*/ 67 w 118"/>
                <a:gd name="T13" fmla="*/ 94 h 209"/>
                <a:gd name="T14" fmla="*/ 79 w 118"/>
                <a:gd name="T15" fmla="*/ 119 h 209"/>
                <a:gd name="T16" fmla="*/ 87 w 118"/>
                <a:gd name="T17" fmla="*/ 146 h 209"/>
                <a:gd name="T18" fmla="*/ 94 w 118"/>
                <a:gd name="T19" fmla="*/ 175 h 209"/>
                <a:gd name="T20" fmla="*/ 91 w 118"/>
                <a:gd name="T21" fmla="*/ 209 h 209"/>
                <a:gd name="T22" fmla="*/ 118 w 118"/>
                <a:gd name="T23" fmla="*/ 209 h 209"/>
                <a:gd name="T24" fmla="*/ 117 w 118"/>
                <a:gd name="T25" fmla="*/ 177 h 209"/>
                <a:gd name="T26" fmla="*/ 104 w 118"/>
                <a:gd name="T27" fmla="*/ 119 h 209"/>
                <a:gd name="T28" fmla="*/ 82 w 118"/>
                <a:gd name="T29" fmla="*/ 69 h 209"/>
                <a:gd name="T30" fmla="*/ 47 w 118"/>
                <a:gd name="T31" fmla="*/ 27 h 209"/>
                <a:gd name="T32" fmla="*/ 0 w 118"/>
                <a:gd name="T33" fmla="*/ 0 h 209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0" t="0" r="r" b="b"/>
              <a:pathLst>
                <a:path w="118" h="209">
                  <a:moveTo>
                    <a:pt x="0" y="0"/>
                  </a:moveTo>
                  <a:lnTo>
                    <a:pt x="6" y="8"/>
                  </a:lnTo>
                  <a:lnTo>
                    <a:pt x="15" y="19"/>
                  </a:lnTo>
                  <a:lnTo>
                    <a:pt x="26" y="33"/>
                  </a:lnTo>
                  <a:lnTo>
                    <a:pt x="38" y="51"/>
                  </a:lnTo>
                  <a:lnTo>
                    <a:pt x="54" y="72"/>
                  </a:lnTo>
                  <a:lnTo>
                    <a:pt x="67" y="94"/>
                  </a:lnTo>
                  <a:lnTo>
                    <a:pt x="79" y="119"/>
                  </a:lnTo>
                  <a:lnTo>
                    <a:pt x="87" y="146"/>
                  </a:lnTo>
                  <a:lnTo>
                    <a:pt x="94" y="175"/>
                  </a:lnTo>
                  <a:lnTo>
                    <a:pt x="91" y="209"/>
                  </a:lnTo>
                  <a:lnTo>
                    <a:pt x="118" y="209"/>
                  </a:lnTo>
                  <a:lnTo>
                    <a:pt x="117" y="177"/>
                  </a:lnTo>
                  <a:lnTo>
                    <a:pt x="104" y="119"/>
                  </a:lnTo>
                  <a:lnTo>
                    <a:pt x="82" y="69"/>
                  </a:lnTo>
                  <a:lnTo>
                    <a:pt x="47" y="2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43" name="Freeform 35">
              <a:extLst>
                <a:ext uri="{FF2B5EF4-FFF2-40B4-BE49-F238E27FC236}">
                  <a16:creationId xmlns:a16="http://schemas.microsoft.com/office/drawing/2014/main" id="{98393AC2-EB16-4A83-B232-F17C5A7E8D0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3968"/>
              <a:ext cx="130" cy="128"/>
            </a:xfrm>
            <a:custGeom>
              <a:avLst/>
              <a:gdLst>
                <a:gd name="T0" fmla="*/ 103 w 130"/>
                <a:gd name="T1" fmla="*/ 0 h 128"/>
                <a:gd name="T2" fmla="*/ 130 w 130"/>
                <a:gd name="T3" fmla="*/ 128 h 128"/>
                <a:gd name="T4" fmla="*/ 125 w 130"/>
                <a:gd name="T5" fmla="*/ 126 h 128"/>
                <a:gd name="T6" fmla="*/ 111 w 130"/>
                <a:gd name="T7" fmla="*/ 121 h 128"/>
                <a:gd name="T8" fmla="*/ 92 w 130"/>
                <a:gd name="T9" fmla="*/ 111 h 128"/>
                <a:gd name="T10" fmla="*/ 68 w 130"/>
                <a:gd name="T11" fmla="*/ 103 h 128"/>
                <a:gd name="T12" fmla="*/ 41 w 130"/>
                <a:gd name="T13" fmla="*/ 94 h 128"/>
                <a:gd name="T14" fmla="*/ 19 w 130"/>
                <a:gd name="T15" fmla="*/ 90 h 128"/>
                <a:gd name="T16" fmla="*/ 0 w 130"/>
                <a:gd name="T17" fmla="*/ 93 h 128"/>
                <a:gd name="T18" fmla="*/ 0 w 130"/>
                <a:gd name="T19" fmla="*/ 72 h 128"/>
                <a:gd name="T20" fmla="*/ 12 w 130"/>
                <a:gd name="T21" fmla="*/ 70 h 128"/>
                <a:gd name="T22" fmla="*/ 24 w 130"/>
                <a:gd name="T23" fmla="*/ 66 h 128"/>
                <a:gd name="T24" fmla="*/ 38 w 130"/>
                <a:gd name="T25" fmla="*/ 66 h 128"/>
                <a:gd name="T26" fmla="*/ 51 w 130"/>
                <a:gd name="T27" fmla="*/ 67 h 128"/>
                <a:gd name="T28" fmla="*/ 65 w 130"/>
                <a:gd name="T29" fmla="*/ 70 h 128"/>
                <a:gd name="T30" fmla="*/ 78 w 130"/>
                <a:gd name="T31" fmla="*/ 78 h 128"/>
                <a:gd name="T32" fmla="*/ 81 w 130"/>
                <a:gd name="T33" fmla="*/ 74 h 128"/>
                <a:gd name="T34" fmla="*/ 81 w 130"/>
                <a:gd name="T35" fmla="*/ 58 h 128"/>
                <a:gd name="T36" fmla="*/ 82 w 130"/>
                <a:gd name="T37" fmla="*/ 37 h 128"/>
                <a:gd name="T38" fmla="*/ 82 w 130"/>
                <a:gd name="T39" fmla="*/ 29 h 128"/>
                <a:gd name="T40" fmla="*/ 80 w 130"/>
                <a:gd name="T41" fmla="*/ 29 h 128"/>
                <a:gd name="T42" fmla="*/ 77 w 130"/>
                <a:gd name="T43" fmla="*/ 27 h 128"/>
                <a:gd name="T44" fmla="*/ 76 w 130"/>
                <a:gd name="T45" fmla="*/ 22 h 128"/>
                <a:gd name="T46" fmla="*/ 75 w 130"/>
                <a:gd name="T47" fmla="*/ 19 h 128"/>
                <a:gd name="T48" fmla="*/ 76 w 130"/>
                <a:gd name="T49" fmla="*/ 15 h 128"/>
                <a:gd name="T50" fmla="*/ 79 w 130"/>
                <a:gd name="T51" fmla="*/ 10 h 128"/>
                <a:gd name="T52" fmla="*/ 89 w 130"/>
                <a:gd name="T53" fmla="*/ 6 h 128"/>
                <a:gd name="T54" fmla="*/ 103 w 130"/>
                <a:gd name="T55" fmla="*/ 0 h 128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</a:gdLst>
              <a:ahLst/>
              <a:cxnLst>
                <a:cxn ang="T56">
                  <a:pos x="T0" y="T1"/>
                </a:cxn>
                <a:cxn ang="T57">
                  <a:pos x="T2" y="T3"/>
                </a:cxn>
                <a:cxn ang="T58">
                  <a:pos x="T4" y="T5"/>
                </a:cxn>
                <a:cxn ang="T59">
                  <a:pos x="T6" y="T7"/>
                </a:cxn>
                <a:cxn ang="T60">
                  <a:pos x="T8" y="T9"/>
                </a:cxn>
                <a:cxn ang="T61">
                  <a:pos x="T10" y="T11"/>
                </a:cxn>
                <a:cxn ang="T62">
                  <a:pos x="T12" y="T13"/>
                </a:cxn>
                <a:cxn ang="T63">
                  <a:pos x="T14" y="T15"/>
                </a:cxn>
                <a:cxn ang="T64">
                  <a:pos x="T16" y="T17"/>
                </a:cxn>
                <a:cxn ang="T65">
                  <a:pos x="T18" y="T19"/>
                </a:cxn>
                <a:cxn ang="T66">
                  <a:pos x="T20" y="T21"/>
                </a:cxn>
                <a:cxn ang="T67">
                  <a:pos x="T22" y="T23"/>
                </a:cxn>
                <a:cxn ang="T68">
                  <a:pos x="T24" y="T25"/>
                </a:cxn>
                <a:cxn ang="T69">
                  <a:pos x="T26" y="T27"/>
                </a:cxn>
                <a:cxn ang="T70">
                  <a:pos x="T28" y="T29"/>
                </a:cxn>
                <a:cxn ang="T71">
                  <a:pos x="T30" y="T31"/>
                </a:cxn>
                <a:cxn ang="T72">
                  <a:pos x="T32" y="T33"/>
                </a:cxn>
                <a:cxn ang="T73">
                  <a:pos x="T34" y="T35"/>
                </a:cxn>
                <a:cxn ang="T74">
                  <a:pos x="T36" y="T37"/>
                </a:cxn>
                <a:cxn ang="T75">
                  <a:pos x="T38" y="T39"/>
                </a:cxn>
                <a:cxn ang="T76">
                  <a:pos x="T40" y="T41"/>
                </a:cxn>
                <a:cxn ang="T77">
                  <a:pos x="T42" y="T43"/>
                </a:cxn>
                <a:cxn ang="T78">
                  <a:pos x="T44" y="T45"/>
                </a:cxn>
                <a:cxn ang="T79">
                  <a:pos x="T46" y="T47"/>
                </a:cxn>
                <a:cxn ang="T80">
                  <a:pos x="T48" y="T49"/>
                </a:cxn>
                <a:cxn ang="T81">
                  <a:pos x="T50" y="T51"/>
                </a:cxn>
                <a:cxn ang="T82">
                  <a:pos x="T52" y="T53"/>
                </a:cxn>
                <a:cxn ang="T83">
                  <a:pos x="T54" y="T55"/>
                </a:cxn>
              </a:cxnLst>
              <a:rect l="0" t="0" r="r" b="b"/>
              <a:pathLst>
                <a:path w="130" h="128">
                  <a:moveTo>
                    <a:pt x="103" y="0"/>
                  </a:moveTo>
                  <a:lnTo>
                    <a:pt x="130" y="128"/>
                  </a:lnTo>
                  <a:lnTo>
                    <a:pt x="125" y="126"/>
                  </a:lnTo>
                  <a:lnTo>
                    <a:pt x="111" y="121"/>
                  </a:lnTo>
                  <a:lnTo>
                    <a:pt x="92" y="111"/>
                  </a:lnTo>
                  <a:lnTo>
                    <a:pt x="68" y="103"/>
                  </a:lnTo>
                  <a:lnTo>
                    <a:pt x="41" y="94"/>
                  </a:lnTo>
                  <a:lnTo>
                    <a:pt x="19" y="90"/>
                  </a:lnTo>
                  <a:lnTo>
                    <a:pt x="0" y="93"/>
                  </a:lnTo>
                  <a:lnTo>
                    <a:pt x="0" y="72"/>
                  </a:lnTo>
                  <a:lnTo>
                    <a:pt x="12" y="70"/>
                  </a:lnTo>
                  <a:lnTo>
                    <a:pt x="24" y="66"/>
                  </a:lnTo>
                  <a:lnTo>
                    <a:pt x="38" y="66"/>
                  </a:lnTo>
                  <a:lnTo>
                    <a:pt x="51" y="67"/>
                  </a:lnTo>
                  <a:lnTo>
                    <a:pt x="65" y="70"/>
                  </a:lnTo>
                  <a:lnTo>
                    <a:pt x="78" y="78"/>
                  </a:lnTo>
                  <a:lnTo>
                    <a:pt x="81" y="74"/>
                  </a:lnTo>
                  <a:lnTo>
                    <a:pt x="81" y="58"/>
                  </a:lnTo>
                  <a:lnTo>
                    <a:pt x="82" y="37"/>
                  </a:lnTo>
                  <a:lnTo>
                    <a:pt x="82" y="29"/>
                  </a:lnTo>
                  <a:lnTo>
                    <a:pt x="80" y="29"/>
                  </a:lnTo>
                  <a:lnTo>
                    <a:pt x="77" y="27"/>
                  </a:lnTo>
                  <a:lnTo>
                    <a:pt x="76" y="22"/>
                  </a:lnTo>
                  <a:lnTo>
                    <a:pt x="75" y="19"/>
                  </a:lnTo>
                  <a:lnTo>
                    <a:pt x="76" y="15"/>
                  </a:lnTo>
                  <a:lnTo>
                    <a:pt x="79" y="10"/>
                  </a:lnTo>
                  <a:lnTo>
                    <a:pt x="89" y="6"/>
                  </a:lnTo>
                  <a:lnTo>
                    <a:pt x="103" y="0"/>
                  </a:lnTo>
                  <a:close/>
                </a:path>
              </a:pathLst>
            </a:cu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44" name="Freeform 36">
              <a:extLst>
                <a:ext uri="{FF2B5EF4-FFF2-40B4-BE49-F238E27FC236}">
                  <a16:creationId xmlns:a16="http://schemas.microsoft.com/office/drawing/2014/main" id="{95717DA6-7529-49D6-95E5-0EEBE3A6712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3949"/>
              <a:ext cx="47" cy="86"/>
            </a:xfrm>
            <a:custGeom>
              <a:avLst/>
              <a:gdLst>
                <a:gd name="T0" fmla="*/ 37 w 47"/>
                <a:gd name="T1" fmla="*/ 0 h 86"/>
                <a:gd name="T2" fmla="*/ 15 w 47"/>
                <a:gd name="T3" fmla="*/ 37 h 86"/>
                <a:gd name="T4" fmla="*/ 0 w 47"/>
                <a:gd name="T5" fmla="*/ 59 h 86"/>
                <a:gd name="T6" fmla="*/ 0 w 47"/>
                <a:gd name="T7" fmla="*/ 86 h 86"/>
                <a:gd name="T8" fmla="*/ 8 w 47"/>
                <a:gd name="T9" fmla="*/ 82 h 86"/>
                <a:gd name="T10" fmla="*/ 20 w 47"/>
                <a:gd name="T11" fmla="*/ 73 h 86"/>
                <a:gd name="T12" fmla="*/ 33 w 47"/>
                <a:gd name="T13" fmla="*/ 63 h 86"/>
                <a:gd name="T14" fmla="*/ 42 w 47"/>
                <a:gd name="T15" fmla="*/ 51 h 86"/>
                <a:gd name="T16" fmla="*/ 47 w 47"/>
                <a:gd name="T17" fmla="*/ 36 h 86"/>
                <a:gd name="T18" fmla="*/ 46 w 47"/>
                <a:gd name="T19" fmla="*/ 19 h 86"/>
                <a:gd name="T20" fmla="*/ 37 w 47"/>
                <a:gd name="T21" fmla="*/ 0 h 8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47" h="86">
                  <a:moveTo>
                    <a:pt x="37" y="0"/>
                  </a:moveTo>
                  <a:lnTo>
                    <a:pt x="15" y="37"/>
                  </a:lnTo>
                  <a:lnTo>
                    <a:pt x="0" y="59"/>
                  </a:lnTo>
                  <a:lnTo>
                    <a:pt x="0" y="86"/>
                  </a:lnTo>
                  <a:lnTo>
                    <a:pt x="8" y="82"/>
                  </a:lnTo>
                  <a:lnTo>
                    <a:pt x="20" y="73"/>
                  </a:lnTo>
                  <a:lnTo>
                    <a:pt x="33" y="63"/>
                  </a:lnTo>
                  <a:lnTo>
                    <a:pt x="42" y="51"/>
                  </a:lnTo>
                  <a:lnTo>
                    <a:pt x="47" y="36"/>
                  </a:lnTo>
                  <a:lnTo>
                    <a:pt x="46" y="19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45" name="Freeform 37">
              <a:extLst>
                <a:ext uri="{FF2B5EF4-FFF2-40B4-BE49-F238E27FC236}">
                  <a16:creationId xmlns:a16="http://schemas.microsoft.com/office/drawing/2014/main" id="{FF2E201E-C78A-42E0-A2A8-DD633E2D9A3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3239"/>
              <a:ext cx="497" cy="740"/>
            </a:xfrm>
            <a:custGeom>
              <a:avLst/>
              <a:gdLst>
                <a:gd name="T0" fmla="*/ 0 w 497"/>
                <a:gd name="T1" fmla="*/ 13 h 740"/>
                <a:gd name="T2" fmla="*/ 41 w 497"/>
                <a:gd name="T3" fmla="*/ 4 h 740"/>
                <a:gd name="T4" fmla="*/ 101 w 497"/>
                <a:gd name="T5" fmla="*/ 0 h 740"/>
                <a:gd name="T6" fmla="*/ 170 w 497"/>
                <a:gd name="T7" fmla="*/ 4 h 740"/>
                <a:gd name="T8" fmla="*/ 248 w 497"/>
                <a:gd name="T9" fmla="*/ 21 h 740"/>
                <a:gd name="T10" fmla="*/ 323 w 497"/>
                <a:gd name="T11" fmla="*/ 50 h 740"/>
                <a:gd name="T12" fmla="*/ 382 w 497"/>
                <a:gd name="T13" fmla="*/ 90 h 740"/>
                <a:gd name="T14" fmla="*/ 428 w 497"/>
                <a:gd name="T15" fmla="*/ 141 h 740"/>
                <a:gd name="T16" fmla="*/ 463 w 497"/>
                <a:gd name="T17" fmla="*/ 199 h 740"/>
                <a:gd name="T18" fmla="*/ 485 w 497"/>
                <a:gd name="T19" fmla="*/ 262 h 740"/>
                <a:gd name="T20" fmla="*/ 496 w 497"/>
                <a:gd name="T21" fmla="*/ 327 h 740"/>
                <a:gd name="T22" fmla="*/ 497 w 497"/>
                <a:gd name="T23" fmla="*/ 396 h 740"/>
                <a:gd name="T24" fmla="*/ 487 w 497"/>
                <a:gd name="T25" fmla="*/ 462 h 740"/>
                <a:gd name="T26" fmla="*/ 470 w 497"/>
                <a:gd name="T27" fmla="*/ 527 h 740"/>
                <a:gd name="T28" fmla="*/ 443 w 497"/>
                <a:gd name="T29" fmla="*/ 586 h 740"/>
                <a:gd name="T30" fmla="*/ 406 w 497"/>
                <a:gd name="T31" fmla="*/ 639 h 740"/>
                <a:gd name="T32" fmla="*/ 364 w 497"/>
                <a:gd name="T33" fmla="*/ 683 h 740"/>
                <a:gd name="T34" fmla="*/ 315 w 497"/>
                <a:gd name="T35" fmla="*/ 715 h 740"/>
                <a:gd name="T36" fmla="*/ 259 w 497"/>
                <a:gd name="T37" fmla="*/ 736 h 740"/>
                <a:gd name="T38" fmla="*/ 198 w 497"/>
                <a:gd name="T39" fmla="*/ 740 h 740"/>
                <a:gd name="T40" fmla="*/ 131 w 497"/>
                <a:gd name="T41" fmla="*/ 727 h 740"/>
                <a:gd name="T42" fmla="*/ 167 w 497"/>
                <a:gd name="T43" fmla="*/ 728 h 740"/>
                <a:gd name="T44" fmla="*/ 204 w 497"/>
                <a:gd name="T45" fmla="*/ 718 h 740"/>
                <a:gd name="T46" fmla="*/ 238 w 497"/>
                <a:gd name="T47" fmla="*/ 700 h 740"/>
                <a:gd name="T48" fmla="*/ 272 w 497"/>
                <a:gd name="T49" fmla="*/ 670 h 740"/>
                <a:gd name="T50" fmla="*/ 304 w 497"/>
                <a:gd name="T51" fmla="*/ 635 h 740"/>
                <a:gd name="T52" fmla="*/ 333 w 497"/>
                <a:gd name="T53" fmla="*/ 594 h 740"/>
                <a:gd name="T54" fmla="*/ 358 w 497"/>
                <a:gd name="T55" fmla="*/ 549 h 740"/>
                <a:gd name="T56" fmla="*/ 381 w 497"/>
                <a:gd name="T57" fmla="*/ 500 h 740"/>
                <a:gd name="T58" fmla="*/ 396 w 497"/>
                <a:gd name="T59" fmla="*/ 449 h 740"/>
                <a:gd name="T60" fmla="*/ 408 w 497"/>
                <a:gd name="T61" fmla="*/ 397 h 740"/>
                <a:gd name="T62" fmla="*/ 414 w 497"/>
                <a:gd name="T63" fmla="*/ 346 h 740"/>
                <a:gd name="T64" fmla="*/ 412 w 497"/>
                <a:gd name="T65" fmla="*/ 296 h 740"/>
                <a:gd name="T66" fmla="*/ 402 w 497"/>
                <a:gd name="T67" fmla="*/ 251 h 740"/>
                <a:gd name="T68" fmla="*/ 384 w 497"/>
                <a:gd name="T69" fmla="*/ 208 h 740"/>
                <a:gd name="T70" fmla="*/ 357 w 497"/>
                <a:gd name="T71" fmla="*/ 172 h 740"/>
                <a:gd name="T72" fmla="*/ 320 w 497"/>
                <a:gd name="T73" fmla="*/ 142 h 740"/>
                <a:gd name="T74" fmla="*/ 260 w 497"/>
                <a:gd name="T75" fmla="*/ 107 h 740"/>
                <a:gd name="T76" fmla="*/ 203 w 497"/>
                <a:gd name="T77" fmla="*/ 82 h 740"/>
                <a:gd name="T78" fmla="*/ 154 w 497"/>
                <a:gd name="T79" fmla="*/ 65 h 740"/>
                <a:gd name="T80" fmla="*/ 108 w 497"/>
                <a:gd name="T81" fmla="*/ 56 h 740"/>
                <a:gd name="T82" fmla="*/ 68 w 497"/>
                <a:gd name="T83" fmla="*/ 55 h 740"/>
                <a:gd name="T84" fmla="*/ 32 w 497"/>
                <a:gd name="T85" fmla="*/ 61 h 740"/>
                <a:gd name="T86" fmla="*/ 0 w 497"/>
                <a:gd name="T87" fmla="*/ 70 h 740"/>
                <a:gd name="T88" fmla="*/ 0 w 497"/>
                <a:gd name="T89" fmla="*/ 13 h 740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</a:gdLst>
              <a:ahLst/>
              <a:cxnLst>
                <a:cxn ang="T90">
                  <a:pos x="T0" y="T1"/>
                </a:cxn>
                <a:cxn ang="T91">
                  <a:pos x="T2" y="T3"/>
                </a:cxn>
                <a:cxn ang="T92">
                  <a:pos x="T4" y="T5"/>
                </a:cxn>
                <a:cxn ang="T93">
                  <a:pos x="T6" y="T7"/>
                </a:cxn>
                <a:cxn ang="T94">
                  <a:pos x="T8" y="T9"/>
                </a:cxn>
                <a:cxn ang="T95">
                  <a:pos x="T10" y="T11"/>
                </a:cxn>
                <a:cxn ang="T96">
                  <a:pos x="T12" y="T13"/>
                </a:cxn>
                <a:cxn ang="T97">
                  <a:pos x="T14" y="T15"/>
                </a:cxn>
                <a:cxn ang="T98">
                  <a:pos x="T16" y="T17"/>
                </a:cxn>
                <a:cxn ang="T99">
                  <a:pos x="T18" y="T19"/>
                </a:cxn>
                <a:cxn ang="T100">
                  <a:pos x="T20" y="T21"/>
                </a:cxn>
                <a:cxn ang="T101">
                  <a:pos x="T22" y="T23"/>
                </a:cxn>
                <a:cxn ang="T102">
                  <a:pos x="T24" y="T25"/>
                </a:cxn>
                <a:cxn ang="T103">
                  <a:pos x="T26" y="T27"/>
                </a:cxn>
                <a:cxn ang="T104">
                  <a:pos x="T28" y="T29"/>
                </a:cxn>
                <a:cxn ang="T105">
                  <a:pos x="T30" y="T31"/>
                </a:cxn>
                <a:cxn ang="T106">
                  <a:pos x="T32" y="T33"/>
                </a:cxn>
                <a:cxn ang="T107">
                  <a:pos x="T34" y="T35"/>
                </a:cxn>
                <a:cxn ang="T108">
                  <a:pos x="T36" y="T37"/>
                </a:cxn>
                <a:cxn ang="T109">
                  <a:pos x="T38" y="T39"/>
                </a:cxn>
                <a:cxn ang="T110">
                  <a:pos x="T40" y="T41"/>
                </a:cxn>
                <a:cxn ang="T111">
                  <a:pos x="T42" y="T43"/>
                </a:cxn>
                <a:cxn ang="T112">
                  <a:pos x="T44" y="T45"/>
                </a:cxn>
                <a:cxn ang="T113">
                  <a:pos x="T46" y="T47"/>
                </a:cxn>
                <a:cxn ang="T114">
                  <a:pos x="T48" y="T49"/>
                </a:cxn>
                <a:cxn ang="T115">
                  <a:pos x="T50" y="T51"/>
                </a:cxn>
                <a:cxn ang="T116">
                  <a:pos x="T52" y="T53"/>
                </a:cxn>
                <a:cxn ang="T117">
                  <a:pos x="T54" y="T55"/>
                </a:cxn>
                <a:cxn ang="T118">
                  <a:pos x="T56" y="T57"/>
                </a:cxn>
                <a:cxn ang="T119">
                  <a:pos x="T58" y="T59"/>
                </a:cxn>
                <a:cxn ang="T120">
                  <a:pos x="T60" y="T61"/>
                </a:cxn>
                <a:cxn ang="T121">
                  <a:pos x="T62" y="T63"/>
                </a:cxn>
                <a:cxn ang="T122">
                  <a:pos x="T64" y="T65"/>
                </a:cxn>
                <a:cxn ang="T123">
                  <a:pos x="T66" y="T67"/>
                </a:cxn>
                <a:cxn ang="T124">
                  <a:pos x="T68" y="T69"/>
                </a:cxn>
                <a:cxn ang="T125">
                  <a:pos x="T70" y="T71"/>
                </a:cxn>
                <a:cxn ang="T126">
                  <a:pos x="T72" y="T73"/>
                </a:cxn>
                <a:cxn ang="T127">
                  <a:pos x="T74" y="T75"/>
                </a:cxn>
                <a:cxn ang="T128">
                  <a:pos x="T76" y="T77"/>
                </a:cxn>
                <a:cxn ang="T129">
                  <a:pos x="T78" y="T79"/>
                </a:cxn>
                <a:cxn ang="T130">
                  <a:pos x="T80" y="T81"/>
                </a:cxn>
                <a:cxn ang="T131">
                  <a:pos x="T82" y="T83"/>
                </a:cxn>
                <a:cxn ang="T132">
                  <a:pos x="T84" y="T85"/>
                </a:cxn>
                <a:cxn ang="T133">
                  <a:pos x="T86" y="T87"/>
                </a:cxn>
                <a:cxn ang="T134">
                  <a:pos x="T88" y="T89"/>
                </a:cxn>
              </a:cxnLst>
              <a:rect l="0" t="0" r="r" b="b"/>
              <a:pathLst>
                <a:path w="497" h="740">
                  <a:moveTo>
                    <a:pt x="0" y="13"/>
                  </a:moveTo>
                  <a:lnTo>
                    <a:pt x="41" y="4"/>
                  </a:lnTo>
                  <a:lnTo>
                    <a:pt x="101" y="0"/>
                  </a:lnTo>
                  <a:lnTo>
                    <a:pt x="170" y="4"/>
                  </a:lnTo>
                  <a:lnTo>
                    <a:pt x="248" y="21"/>
                  </a:lnTo>
                  <a:lnTo>
                    <a:pt x="323" y="50"/>
                  </a:lnTo>
                  <a:lnTo>
                    <a:pt x="382" y="90"/>
                  </a:lnTo>
                  <a:lnTo>
                    <a:pt x="428" y="141"/>
                  </a:lnTo>
                  <a:lnTo>
                    <a:pt x="463" y="199"/>
                  </a:lnTo>
                  <a:lnTo>
                    <a:pt x="485" y="262"/>
                  </a:lnTo>
                  <a:lnTo>
                    <a:pt x="496" y="327"/>
                  </a:lnTo>
                  <a:lnTo>
                    <a:pt x="497" y="396"/>
                  </a:lnTo>
                  <a:lnTo>
                    <a:pt x="487" y="462"/>
                  </a:lnTo>
                  <a:lnTo>
                    <a:pt x="470" y="527"/>
                  </a:lnTo>
                  <a:lnTo>
                    <a:pt x="443" y="586"/>
                  </a:lnTo>
                  <a:lnTo>
                    <a:pt x="406" y="639"/>
                  </a:lnTo>
                  <a:lnTo>
                    <a:pt x="364" y="683"/>
                  </a:lnTo>
                  <a:lnTo>
                    <a:pt x="315" y="715"/>
                  </a:lnTo>
                  <a:lnTo>
                    <a:pt x="259" y="736"/>
                  </a:lnTo>
                  <a:lnTo>
                    <a:pt x="198" y="740"/>
                  </a:lnTo>
                  <a:lnTo>
                    <a:pt x="131" y="727"/>
                  </a:lnTo>
                  <a:lnTo>
                    <a:pt x="167" y="728"/>
                  </a:lnTo>
                  <a:lnTo>
                    <a:pt x="204" y="718"/>
                  </a:lnTo>
                  <a:lnTo>
                    <a:pt x="238" y="700"/>
                  </a:lnTo>
                  <a:lnTo>
                    <a:pt x="272" y="670"/>
                  </a:lnTo>
                  <a:lnTo>
                    <a:pt x="304" y="635"/>
                  </a:lnTo>
                  <a:lnTo>
                    <a:pt x="333" y="594"/>
                  </a:lnTo>
                  <a:lnTo>
                    <a:pt x="358" y="549"/>
                  </a:lnTo>
                  <a:lnTo>
                    <a:pt x="381" y="500"/>
                  </a:lnTo>
                  <a:lnTo>
                    <a:pt x="396" y="449"/>
                  </a:lnTo>
                  <a:lnTo>
                    <a:pt x="408" y="397"/>
                  </a:lnTo>
                  <a:lnTo>
                    <a:pt x="414" y="346"/>
                  </a:lnTo>
                  <a:lnTo>
                    <a:pt x="412" y="296"/>
                  </a:lnTo>
                  <a:lnTo>
                    <a:pt x="402" y="251"/>
                  </a:lnTo>
                  <a:lnTo>
                    <a:pt x="384" y="208"/>
                  </a:lnTo>
                  <a:lnTo>
                    <a:pt x="357" y="172"/>
                  </a:lnTo>
                  <a:lnTo>
                    <a:pt x="320" y="142"/>
                  </a:lnTo>
                  <a:lnTo>
                    <a:pt x="260" y="107"/>
                  </a:lnTo>
                  <a:lnTo>
                    <a:pt x="203" y="82"/>
                  </a:lnTo>
                  <a:lnTo>
                    <a:pt x="154" y="65"/>
                  </a:lnTo>
                  <a:lnTo>
                    <a:pt x="108" y="56"/>
                  </a:lnTo>
                  <a:lnTo>
                    <a:pt x="68" y="55"/>
                  </a:lnTo>
                  <a:lnTo>
                    <a:pt x="32" y="61"/>
                  </a:lnTo>
                  <a:lnTo>
                    <a:pt x="0" y="70"/>
                  </a:lnTo>
                  <a:lnTo>
                    <a:pt x="0" y="13"/>
                  </a:lnTo>
                  <a:close/>
                </a:path>
              </a:pathLst>
            </a:cu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46" name="Freeform 38">
              <a:extLst>
                <a:ext uri="{FF2B5EF4-FFF2-40B4-BE49-F238E27FC236}">
                  <a16:creationId xmlns:a16="http://schemas.microsoft.com/office/drawing/2014/main" id="{23B1BDC2-76D5-48DC-8B73-972A3495C60D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584153">
              <a:off x="20" y="410"/>
              <a:ext cx="344" cy="245"/>
            </a:xfrm>
            <a:custGeom>
              <a:avLst/>
              <a:gdLst>
                <a:gd name="T0" fmla="*/ 0 w 257"/>
                <a:gd name="T1" fmla="*/ 0 h 237"/>
                <a:gd name="T2" fmla="*/ 0 w 257"/>
                <a:gd name="T3" fmla="*/ 26 h 237"/>
                <a:gd name="T4" fmla="*/ 4 w 257"/>
                <a:gd name="T5" fmla="*/ 52 h 237"/>
                <a:gd name="T6" fmla="*/ 8 w 257"/>
                <a:gd name="T7" fmla="*/ 78 h 237"/>
                <a:gd name="T8" fmla="*/ 15 w 257"/>
                <a:gd name="T9" fmla="*/ 101 h 237"/>
                <a:gd name="T10" fmla="*/ 24 w 257"/>
                <a:gd name="T11" fmla="*/ 123 h 237"/>
                <a:gd name="T12" fmla="*/ 36 w 257"/>
                <a:gd name="T13" fmla="*/ 146 h 237"/>
                <a:gd name="T14" fmla="*/ 51 w 257"/>
                <a:gd name="T15" fmla="*/ 166 h 237"/>
                <a:gd name="T16" fmla="*/ 68 w 257"/>
                <a:gd name="T17" fmla="*/ 184 h 237"/>
                <a:gd name="T18" fmla="*/ 90 w 257"/>
                <a:gd name="T19" fmla="*/ 201 h 237"/>
                <a:gd name="T20" fmla="*/ 115 w 257"/>
                <a:gd name="T21" fmla="*/ 215 h 237"/>
                <a:gd name="T22" fmla="*/ 142 w 257"/>
                <a:gd name="T23" fmla="*/ 226 h 237"/>
                <a:gd name="T24" fmla="*/ 175 w 257"/>
                <a:gd name="T25" fmla="*/ 236 h 237"/>
                <a:gd name="T26" fmla="*/ 211 w 257"/>
                <a:gd name="T27" fmla="*/ 242 h 237"/>
                <a:gd name="T28" fmla="*/ 252 w 257"/>
                <a:gd name="T29" fmla="*/ 245 h 237"/>
                <a:gd name="T30" fmla="*/ 294 w 257"/>
                <a:gd name="T31" fmla="*/ 244 h 237"/>
                <a:gd name="T32" fmla="*/ 344 w 257"/>
                <a:gd name="T33" fmla="*/ 240 h 237"/>
                <a:gd name="T34" fmla="*/ 300 w 257"/>
                <a:gd name="T35" fmla="*/ 235 h 237"/>
                <a:gd name="T36" fmla="*/ 261 w 257"/>
                <a:gd name="T37" fmla="*/ 227 h 237"/>
                <a:gd name="T38" fmla="*/ 228 w 257"/>
                <a:gd name="T39" fmla="*/ 219 h 237"/>
                <a:gd name="T40" fmla="*/ 198 w 257"/>
                <a:gd name="T41" fmla="*/ 211 h 237"/>
                <a:gd name="T42" fmla="*/ 171 w 257"/>
                <a:gd name="T43" fmla="*/ 200 h 237"/>
                <a:gd name="T44" fmla="*/ 150 w 257"/>
                <a:gd name="T45" fmla="*/ 188 h 237"/>
                <a:gd name="T46" fmla="*/ 130 w 257"/>
                <a:gd name="T47" fmla="*/ 175 h 237"/>
                <a:gd name="T48" fmla="*/ 112 w 257"/>
                <a:gd name="T49" fmla="*/ 160 h 237"/>
                <a:gd name="T50" fmla="*/ 96 w 257"/>
                <a:gd name="T51" fmla="*/ 146 h 237"/>
                <a:gd name="T52" fmla="*/ 82 w 257"/>
                <a:gd name="T53" fmla="*/ 129 h 237"/>
                <a:gd name="T54" fmla="*/ 70 w 257"/>
                <a:gd name="T55" fmla="*/ 111 h 237"/>
                <a:gd name="T56" fmla="*/ 58 w 257"/>
                <a:gd name="T57" fmla="*/ 91 h 237"/>
                <a:gd name="T58" fmla="*/ 44 w 257"/>
                <a:gd name="T59" fmla="*/ 71 h 237"/>
                <a:gd name="T60" fmla="*/ 31 w 257"/>
                <a:gd name="T61" fmla="*/ 49 h 237"/>
                <a:gd name="T62" fmla="*/ 16 w 257"/>
                <a:gd name="T63" fmla="*/ 25 h 237"/>
                <a:gd name="T64" fmla="*/ 0 w 257"/>
                <a:gd name="T65" fmla="*/ 0 h 237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</a:gdLst>
              <a:ahLst/>
              <a:cxnLst>
                <a:cxn ang="T66">
                  <a:pos x="T0" y="T1"/>
                </a:cxn>
                <a:cxn ang="T67">
                  <a:pos x="T2" y="T3"/>
                </a:cxn>
                <a:cxn ang="T68">
                  <a:pos x="T4" y="T5"/>
                </a:cxn>
                <a:cxn ang="T69">
                  <a:pos x="T6" y="T7"/>
                </a:cxn>
                <a:cxn ang="T70">
                  <a:pos x="T8" y="T9"/>
                </a:cxn>
                <a:cxn ang="T71">
                  <a:pos x="T10" y="T11"/>
                </a:cxn>
                <a:cxn ang="T72">
                  <a:pos x="T12" y="T13"/>
                </a:cxn>
                <a:cxn ang="T73">
                  <a:pos x="T14" y="T15"/>
                </a:cxn>
                <a:cxn ang="T74">
                  <a:pos x="T16" y="T17"/>
                </a:cxn>
                <a:cxn ang="T75">
                  <a:pos x="T18" y="T19"/>
                </a:cxn>
                <a:cxn ang="T76">
                  <a:pos x="T20" y="T21"/>
                </a:cxn>
                <a:cxn ang="T77">
                  <a:pos x="T22" y="T23"/>
                </a:cxn>
                <a:cxn ang="T78">
                  <a:pos x="T24" y="T25"/>
                </a:cxn>
                <a:cxn ang="T79">
                  <a:pos x="T26" y="T27"/>
                </a:cxn>
                <a:cxn ang="T80">
                  <a:pos x="T28" y="T29"/>
                </a:cxn>
                <a:cxn ang="T81">
                  <a:pos x="T30" y="T31"/>
                </a:cxn>
                <a:cxn ang="T82">
                  <a:pos x="T32" y="T33"/>
                </a:cxn>
                <a:cxn ang="T83">
                  <a:pos x="T34" y="T35"/>
                </a:cxn>
                <a:cxn ang="T84">
                  <a:pos x="T36" y="T37"/>
                </a:cxn>
                <a:cxn ang="T85">
                  <a:pos x="T38" y="T39"/>
                </a:cxn>
                <a:cxn ang="T86">
                  <a:pos x="T40" y="T41"/>
                </a:cxn>
                <a:cxn ang="T87">
                  <a:pos x="T42" y="T43"/>
                </a:cxn>
                <a:cxn ang="T88">
                  <a:pos x="T44" y="T45"/>
                </a:cxn>
                <a:cxn ang="T89">
                  <a:pos x="T46" y="T47"/>
                </a:cxn>
                <a:cxn ang="T90">
                  <a:pos x="T48" y="T49"/>
                </a:cxn>
                <a:cxn ang="T91">
                  <a:pos x="T50" y="T51"/>
                </a:cxn>
                <a:cxn ang="T92">
                  <a:pos x="T52" y="T53"/>
                </a:cxn>
                <a:cxn ang="T93">
                  <a:pos x="T54" y="T55"/>
                </a:cxn>
                <a:cxn ang="T94">
                  <a:pos x="T56" y="T57"/>
                </a:cxn>
                <a:cxn ang="T95">
                  <a:pos x="T58" y="T59"/>
                </a:cxn>
                <a:cxn ang="T96">
                  <a:pos x="T60" y="T61"/>
                </a:cxn>
                <a:cxn ang="T97">
                  <a:pos x="T62" y="T63"/>
                </a:cxn>
                <a:cxn ang="T98">
                  <a:pos x="T64" y="T65"/>
                </a:cxn>
              </a:cxnLst>
              <a:rect l="0" t="0" r="r" b="b"/>
              <a:pathLst>
                <a:path w="257" h="237">
                  <a:moveTo>
                    <a:pt x="0" y="0"/>
                  </a:moveTo>
                  <a:lnTo>
                    <a:pt x="0" y="25"/>
                  </a:lnTo>
                  <a:lnTo>
                    <a:pt x="3" y="50"/>
                  </a:lnTo>
                  <a:lnTo>
                    <a:pt x="6" y="75"/>
                  </a:lnTo>
                  <a:lnTo>
                    <a:pt x="11" y="98"/>
                  </a:lnTo>
                  <a:lnTo>
                    <a:pt x="18" y="119"/>
                  </a:lnTo>
                  <a:lnTo>
                    <a:pt x="27" y="141"/>
                  </a:lnTo>
                  <a:lnTo>
                    <a:pt x="38" y="161"/>
                  </a:lnTo>
                  <a:lnTo>
                    <a:pt x="51" y="178"/>
                  </a:lnTo>
                  <a:lnTo>
                    <a:pt x="67" y="194"/>
                  </a:lnTo>
                  <a:lnTo>
                    <a:pt x="86" y="208"/>
                  </a:lnTo>
                  <a:lnTo>
                    <a:pt x="106" y="219"/>
                  </a:lnTo>
                  <a:lnTo>
                    <a:pt x="131" y="228"/>
                  </a:lnTo>
                  <a:lnTo>
                    <a:pt x="158" y="234"/>
                  </a:lnTo>
                  <a:lnTo>
                    <a:pt x="188" y="237"/>
                  </a:lnTo>
                  <a:lnTo>
                    <a:pt x="220" y="236"/>
                  </a:lnTo>
                  <a:lnTo>
                    <a:pt x="257" y="232"/>
                  </a:lnTo>
                  <a:lnTo>
                    <a:pt x="224" y="227"/>
                  </a:lnTo>
                  <a:lnTo>
                    <a:pt x="195" y="220"/>
                  </a:lnTo>
                  <a:lnTo>
                    <a:pt x="170" y="212"/>
                  </a:lnTo>
                  <a:lnTo>
                    <a:pt x="148" y="204"/>
                  </a:lnTo>
                  <a:lnTo>
                    <a:pt x="128" y="193"/>
                  </a:lnTo>
                  <a:lnTo>
                    <a:pt x="112" y="182"/>
                  </a:lnTo>
                  <a:lnTo>
                    <a:pt x="97" y="169"/>
                  </a:lnTo>
                  <a:lnTo>
                    <a:pt x="84" y="155"/>
                  </a:lnTo>
                  <a:lnTo>
                    <a:pt x="72" y="141"/>
                  </a:lnTo>
                  <a:lnTo>
                    <a:pt x="61" y="125"/>
                  </a:lnTo>
                  <a:lnTo>
                    <a:pt x="52" y="107"/>
                  </a:lnTo>
                  <a:lnTo>
                    <a:pt x="43" y="88"/>
                  </a:lnTo>
                  <a:lnTo>
                    <a:pt x="33" y="69"/>
                  </a:lnTo>
                  <a:lnTo>
                    <a:pt x="23" y="47"/>
                  </a:lnTo>
                  <a:lnTo>
                    <a:pt x="12" y="2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47" name="Freeform 39">
              <a:extLst>
                <a:ext uri="{FF2B5EF4-FFF2-40B4-BE49-F238E27FC236}">
                  <a16:creationId xmlns:a16="http://schemas.microsoft.com/office/drawing/2014/main" id="{DE0205D8-04E0-418C-9E4D-C6A9436415A0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584153">
              <a:off x="242" y="756"/>
              <a:ext cx="167" cy="115"/>
            </a:xfrm>
            <a:custGeom>
              <a:avLst/>
              <a:gdLst>
                <a:gd name="T0" fmla="*/ 104 w 124"/>
                <a:gd name="T1" fmla="*/ 0 h 110"/>
                <a:gd name="T2" fmla="*/ 167 w 124"/>
                <a:gd name="T3" fmla="*/ 113 h 110"/>
                <a:gd name="T4" fmla="*/ 162 w 124"/>
                <a:gd name="T5" fmla="*/ 112 h 110"/>
                <a:gd name="T6" fmla="*/ 144 w 124"/>
                <a:gd name="T7" fmla="*/ 110 h 110"/>
                <a:gd name="T8" fmla="*/ 120 w 124"/>
                <a:gd name="T9" fmla="*/ 106 h 110"/>
                <a:gd name="T10" fmla="*/ 92 w 124"/>
                <a:gd name="T11" fmla="*/ 104 h 110"/>
                <a:gd name="T12" fmla="*/ 61 w 124"/>
                <a:gd name="T13" fmla="*/ 101 h 110"/>
                <a:gd name="T14" fmla="*/ 34 w 124"/>
                <a:gd name="T15" fmla="*/ 102 h 110"/>
                <a:gd name="T16" fmla="*/ 12 w 124"/>
                <a:gd name="T17" fmla="*/ 107 h 110"/>
                <a:gd name="T18" fmla="*/ 0 w 124"/>
                <a:gd name="T19" fmla="*/ 115 h 110"/>
                <a:gd name="T20" fmla="*/ 5 w 124"/>
                <a:gd name="T21" fmla="*/ 102 h 110"/>
                <a:gd name="T22" fmla="*/ 11 w 124"/>
                <a:gd name="T23" fmla="*/ 93 h 110"/>
                <a:gd name="T24" fmla="*/ 22 w 124"/>
                <a:gd name="T25" fmla="*/ 86 h 110"/>
                <a:gd name="T26" fmla="*/ 34 w 124"/>
                <a:gd name="T27" fmla="*/ 79 h 110"/>
                <a:gd name="T28" fmla="*/ 48 w 124"/>
                <a:gd name="T29" fmla="*/ 75 h 110"/>
                <a:gd name="T30" fmla="*/ 63 w 124"/>
                <a:gd name="T31" fmla="*/ 74 h 110"/>
                <a:gd name="T32" fmla="*/ 79 w 124"/>
                <a:gd name="T33" fmla="*/ 74 h 110"/>
                <a:gd name="T34" fmla="*/ 97 w 124"/>
                <a:gd name="T35" fmla="*/ 77 h 110"/>
                <a:gd name="T36" fmla="*/ 98 w 124"/>
                <a:gd name="T37" fmla="*/ 74 h 110"/>
                <a:gd name="T38" fmla="*/ 94 w 124"/>
                <a:gd name="T39" fmla="*/ 59 h 110"/>
                <a:gd name="T40" fmla="*/ 90 w 124"/>
                <a:gd name="T41" fmla="*/ 40 h 110"/>
                <a:gd name="T42" fmla="*/ 88 w 124"/>
                <a:gd name="T43" fmla="*/ 31 h 110"/>
                <a:gd name="T44" fmla="*/ 85 w 124"/>
                <a:gd name="T45" fmla="*/ 31 h 110"/>
                <a:gd name="T46" fmla="*/ 82 w 124"/>
                <a:gd name="T47" fmla="*/ 30 h 110"/>
                <a:gd name="T48" fmla="*/ 79 w 124"/>
                <a:gd name="T49" fmla="*/ 27 h 110"/>
                <a:gd name="T50" fmla="*/ 77 w 124"/>
                <a:gd name="T51" fmla="*/ 24 h 110"/>
                <a:gd name="T52" fmla="*/ 77 w 124"/>
                <a:gd name="T53" fmla="*/ 20 h 110"/>
                <a:gd name="T54" fmla="*/ 79 w 124"/>
                <a:gd name="T55" fmla="*/ 15 h 110"/>
                <a:gd name="T56" fmla="*/ 89 w 124"/>
                <a:gd name="T57" fmla="*/ 8 h 110"/>
                <a:gd name="T58" fmla="*/ 104 w 124"/>
                <a:gd name="T59" fmla="*/ 0 h 110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</a:gdLst>
              <a:ahLst/>
              <a:cxnLst>
                <a:cxn ang="T60">
                  <a:pos x="T0" y="T1"/>
                </a:cxn>
                <a:cxn ang="T61">
                  <a:pos x="T2" y="T3"/>
                </a:cxn>
                <a:cxn ang="T62">
                  <a:pos x="T4" y="T5"/>
                </a:cxn>
                <a:cxn ang="T63">
                  <a:pos x="T6" y="T7"/>
                </a:cxn>
                <a:cxn ang="T64">
                  <a:pos x="T8" y="T9"/>
                </a:cxn>
                <a:cxn ang="T65">
                  <a:pos x="T10" y="T11"/>
                </a:cxn>
                <a:cxn ang="T66">
                  <a:pos x="T12" y="T13"/>
                </a:cxn>
                <a:cxn ang="T67">
                  <a:pos x="T14" y="T15"/>
                </a:cxn>
                <a:cxn ang="T68">
                  <a:pos x="T16" y="T17"/>
                </a:cxn>
                <a:cxn ang="T69">
                  <a:pos x="T18" y="T19"/>
                </a:cxn>
                <a:cxn ang="T70">
                  <a:pos x="T20" y="T21"/>
                </a:cxn>
                <a:cxn ang="T71">
                  <a:pos x="T22" y="T23"/>
                </a:cxn>
                <a:cxn ang="T72">
                  <a:pos x="T24" y="T25"/>
                </a:cxn>
                <a:cxn ang="T73">
                  <a:pos x="T26" y="T27"/>
                </a:cxn>
                <a:cxn ang="T74">
                  <a:pos x="T28" y="T29"/>
                </a:cxn>
                <a:cxn ang="T75">
                  <a:pos x="T30" y="T31"/>
                </a:cxn>
                <a:cxn ang="T76">
                  <a:pos x="T32" y="T33"/>
                </a:cxn>
                <a:cxn ang="T77">
                  <a:pos x="T34" y="T35"/>
                </a:cxn>
                <a:cxn ang="T78">
                  <a:pos x="T36" y="T37"/>
                </a:cxn>
                <a:cxn ang="T79">
                  <a:pos x="T38" y="T39"/>
                </a:cxn>
                <a:cxn ang="T80">
                  <a:pos x="T40" y="T41"/>
                </a:cxn>
                <a:cxn ang="T81">
                  <a:pos x="T42" y="T43"/>
                </a:cxn>
                <a:cxn ang="T82">
                  <a:pos x="T44" y="T45"/>
                </a:cxn>
                <a:cxn ang="T83">
                  <a:pos x="T46" y="T47"/>
                </a:cxn>
                <a:cxn ang="T84">
                  <a:pos x="T48" y="T49"/>
                </a:cxn>
                <a:cxn ang="T85">
                  <a:pos x="T50" y="T51"/>
                </a:cxn>
                <a:cxn ang="T86">
                  <a:pos x="T52" y="T53"/>
                </a:cxn>
                <a:cxn ang="T87">
                  <a:pos x="T54" y="T55"/>
                </a:cxn>
                <a:cxn ang="T88">
                  <a:pos x="T56" y="T57"/>
                </a:cxn>
                <a:cxn ang="T89">
                  <a:pos x="T58" y="T59"/>
                </a:cxn>
              </a:cxnLst>
              <a:rect l="0" t="0" r="r" b="b"/>
              <a:pathLst>
                <a:path w="124" h="110">
                  <a:moveTo>
                    <a:pt x="77" y="0"/>
                  </a:moveTo>
                  <a:lnTo>
                    <a:pt x="124" y="108"/>
                  </a:lnTo>
                  <a:lnTo>
                    <a:pt x="120" y="107"/>
                  </a:lnTo>
                  <a:lnTo>
                    <a:pt x="107" y="105"/>
                  </a:lnTo>
                  <a:lnTo>
                    <a:pt x="89" y="101"/>
                  </a:lnTo>
                  <a:lnTo>
                    <a:pt x="68" y="99"/>
                  </a:lnTo>
                  <a:lnTo>
                    <a:pt x="45" y="97"/>
                  </a:lnTo>
                  <a:lnTo>
                    <a:pt x="25" y="98"/>
                  </a:lnTo>
                  <a:lnTo>
                    <a:pt x="9" y="102"/>
                  </a:lnTo>
                  <a:lnTo>
                    <a:pt x="0" y="110"/>
                  </a:lnTo>
                  <a:lnTo>
                    <a:pt x="4" y="98"/>
                  </a:lnTo>
                  <a:lnTo>
                    <a:pt x="8" y="89"/>
                  </a:lnTo>
                  <a:lnTo>
                    <a:pt x="16" y="82"/>
                  </a:lnTo>
                  <a:lnTo>
                    <a:pt x="25" y="76"/>
                  </a:lnTo>
                  <a:lnTo>
                    <a:pt x="36" y="72"/>
                  </a:lnTo>
                  <a:lnTo>
                    <a:pt x="47" y="71"/>
                  </a:lnTo>
                  <a:lnTo>
                    <a:pt x="59" y="71"/>
                  </a:lnTo>
                  <a:lnTo>
                    <a:pt x="72" y="74"/>
                  </a:lnTo>
                  <a:lnTo>
                    <a:pt x="73" y="71"/>
                  </a:lnTo>
                  <a:lnTo>
                    <a:pt x="70" y="56"/>
                  </a:lnTo>
                  <a:lnTo>
                    <a:pt x="67" y="38"/>
                  </a:lnTo>
                  <a:lnTo>
                    <a:pt x="65" y="30"/>
                  </a:lnTo>
                  <a:lnTo>
                    <a:pt x="63" y="30"/>
                  </a:lnTo>
                  <a:lnTo>
                    <a:pt x="61" y="29"/>
                  </a:lnTo>
                  <a:lnTo>
                    <a:pt x="59" y="26"/>
                  </a:lnTo>
                  <a:lnTo>
                    <a:pt x="57" y="23"/>
                  </a:lnTo>
                  <a:lnTo>
                    <a:pt x="57" y="19"/>
                  </a:lnTo>
                  <a:lnTo>
                    <a:pt x="59" y="14"/>
                  </a:lnTo>
                  <a:lnTo>
                    <a:pt x="66" y="8"/>
                  </a:lnTo>
                  <a:lnTo>
                    <a:pt x="77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48" name="Freeform 40">
              <a:extLst>
                <a:ext uri="{FF2B5EF4-FFF2-40B4-BE49-F238E27FC236}">
                  <a16:creationId xmlns:a16="http://schemas.microsoft.com/office/drawing/2014/main" id="{CA48C5C3-3EB1-4330-B1AD-1C30246D6FEC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584153">
              <a:off x="574" y="286"/>
              <a:ext cx="147" cy="160"/>
            </a:xfrm>
            <a:custGeom>
              <a:avLst/>
              <a:gdLst>
                <a:gd name="T0" fmla="*/ 0 w 109"/>
                <a:gd name="T1" fmla="*/ 0 h 156"/>
                <a:gd name="T2" fmla="*/ 7 w 109"/>
                <a:gd name="T3" fmla="*/ 1 h 156"/>
                <a:gd name="T4" fmla="*/ 24 w 109"/>
                <a:gd name="T5" fmla="*/ 5 h 156"/>
                <a:gd name="T6" fmla="*/ 50 w 109"/>
                <a:gd name="T7" fmla="*/ 12 h 156"/>
                <a:gd name="T8" fmla="*/ 78 w 109"/>
                <a:gd name="T9" fmla="*/ 25 h 156"/>
                <a:gd name="T10" fmla="*/ 105 w 109"/>
                <a:gd name="T11" fmla="*/ 45 h 156"/>
                <a:gd name="T12" fmla="*/ 129 w 109"/>
                <a:gd name="T13" fmla="*/ 73 h 156"/>
                <a:gd name="T14" fmla="*/ 144 w 109"/>
                <a:gd name="T15" fmla="*/ 111 h 156"/>
                <a:gd name="T16" fmla="*/ 147 w 109"/>
                <a:gd name="T17" fmla="*/ 160 h 156"/>
                <a:gd name="T18" fmla="*/ 142 w 109"/>
                <a:gd name="T19" fmla="*/ 160 h 156"/>
                <a:gd name="T20" fmla="*/ 134 w 109"/>
                <a:gd name="T21" fmla="*/ 160 h 156"/>
                <a:gd name="T22" fmla="*/ 125 w 109"/>
                <a:gd name="T23" fmla="*/ 160 h 156"/>
                <a:gd name="T24" fmla="*/ 117 w 109"/>
                <a:gd name="T25" fmla="*/ 158 h 156"/>
                <a:gd name="T26" fmla="*/ 109 w 109"/>
                <a:gd name="T27" fmla="*/ 157 h 156"/>
                <a:gd name="T28" fmla="*/ 100 w 109"/>
                <a:gd name="T29" fmla="*/ 154 h 156"/>
                <a:gd name="T30" fmla="*/ 89 w 109"/>
                <a:gd name="T31" fmla="*/ 149 h 156"/>
                <a:gd name="T32" fmla="*/ 78 w 109"/>
                <a:gd name="T33" fmla="*/ 143 h 156"/>
                <a:gd name="T34" fmla="*/ 71 w 109"/>
                <a:gd name="T35" fmla="*/ 129 h 156"/>
                <a:gd name="T36" fmla="*/ 71 w 109"/>
                <a:gd name="T37" fmla="*/ 114 h 156"/>
                <a:gd name="T38" fmla="*/ 76 w 109"/>
                <a:gd name="T39" fmla="*/ 98 h 156"/>
                <a:gd name="T40" fmla="*/ 80 w 109"/>
                <a:gd name="T41" fmla="*/ 82 h 156"/>
                <a:gd name="T42" fmla="*/ 76 w 109"/>
                <a:gd name="T43" fmla="*/ 64 h 156"/>
                <a:gd name="T44" fmla="*/ 65 w 109"/>
                <a:gd name="T45" fmla="*/ 44 h 156"/>
                <a:gd name="T46" fmla="*/ 42 w 109"/>
                <a:gd name="T47" fmla="*/ 24 h 156"/>
                <a:gd name="T48" fmla="*/ 0 w 109"/>
                <a:gd name="T49" fmla="*/ 0 h 15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</a:gdLst>
              <a:ahLst/>
              <a:cxnLst>
                <a:cxn ang="T50">
                  <a:pos x="T0" y="T1"/>
                </a:cxn>
                <a:cxn ang="T51">
                  <a:pos x="T2" y="T3"/>
                </a:cxn>
                <a:cxn ang="T52">
                  <a:pos x="T4" y="T5"/>
                </a:cxn>
                <a:cxn ang="T53">
                  <a:pos x="T6" y="T7"/>
                </a:cxn>
                <a:cxn ang="T54">
                  <a:pos x="T8" y="T9"/>
                </a:cxn>
                <a:cxn ang="T55">
                  <a:pos x="T10" y="T11"/>
                </a:cxn>
                <a:cxn ang="T56">
                  <a:pos x="T12" y="T13"/>
                </a:cxn>
                <a:cxn ang="T57">
                  <a:pos x="T14" y="T15"/>
                </a:cxn>
                <a:cxn ang="T58">
                  <a:pos x="T16" y="T17"/>
                </a:cxn>
                <a:cxn ang="T59">
                  <a:pos x="T18" y="T19"/>
                </a:cxn>
                <a:cxn ang="T60">
                  <a:pos x="T20" y="T21"/>
                </a:cxn>
                <a:cxn ang="T61">
                  <a:pos x="T22" y="T23"/>
                </a:cxn>
                <a:cxn ang="T62">
                  <a:pos x="T24" y="T25"/>
                </a:cxn>
                <a:cxn ang="T63">
                  <a:pos x="T26" y="T27"/>
                </a:cxn>
                <a:cxn ang="T64">
                  <a:pos x="T28" y="T29"/>
                </a:cxn>
                <a:cxn ang="T65">
                  <a:pos x="T30" y="T31"/>
                </a:cxn>
                <a:cxn ang="T66">
                  <a:pos x="T32" y="T33"/>
                </a:cxn>
                <a:cxn ang="T67">
                  <a:pos x="T34" y="T35"/>
                </a:cxn>
                <a:cxn ang="T68">
                  <a:pos x="T36" y="T37"/>
                </a:cxn>
                <a:cxn ang="T69">
                  <a:pos x="T38" y="T39"/>
                </a:cxn>
                <a:cxn ang="T70">
                  <a:pos x="T40" y="T41"/>
                </a:cxn>
                <a:cxn ang="T71">
                  <a:pos x="T42" y="T43"/>
                </a:cxn>
                <a:cxn ang="T72">
                  <a:pos x="T44" y="T45"/>
                </a:cxn>
                <a:cxn ang="T73">
                  <a:pos x="T46" y="T47"/>
                </a:cxn>
                <a:cxn ang="T74">
                  <a:pos x="T48" y="T49"/>
                </a:cxn>
              </a:cxnLst>
              <a:rect l="0" t="0" r="r" b="b"/>
              <a:pathLst>
                <a:path w="109" h="156">
                  <a:moveTo>
                    <a:pt x="0" y="0"/>
                  </a:moveTo>
                  <a:lnTo>
                    <a:pt x="5" y="1"/>
                  </a:lnTo>
                  <a:lnTo>
                    <a:pt x="18" y="5"/>
                  </a:lnTo>
                  <a:lnTo>
                    <a:pt x="37" y="12"/>
                  </a:lnTo>
                  <a:lnTo>
                    <a:pt x="58" y="24"/>
                  </a:lnTo>
                  <a:lnTo>
                    <a:pt x="78" y="44"/>
                  </a:lnTo>
                  <a:lnTo>
                    <a:pt x="96" y="71"/>
                  </a:lnTo>
                  <a:lnTo>
                    <a:pt x="107" y="108"/>
                  </a:lnTo>
                  <a:lnTo>
                    <a:pt x="109" y="156"/>
                  </a:lnTo>
                  <a:lnTo>
                    <a:pt x="105" y="156"/>
                  </a:lnTo>
                  <a:lnTo>
                    <a:pt x="99" y="156"/>
                  </a:lnTo>
                  <a:lnTo>
                    <a:pt x="93" y="156"/>
                  </a:lnTo>
                  <a:lnTo>
                    <a:pt x="87" y="154"/>
                  </a:lnTo>
                  <a:lnTo>
                    <a:pt x="81" y="153"/>
                  </a:lnTo>
                  <a:lnTo>
                    <a:pt x="74" y="150"/>
                  </a:lnTo>
                  <a:lnTo>
                    <a:pt x="66" y="145"/>
                  </a:lnTo>
                  <a:lnTo>
                    <a:pt x="58" y="139"/>
                  </a:lnTo>
                  <a:lnTo>
                    <a:pt x="53" y="126"/>
                  </a:lnTo>
                  <a:lnTo>
                    <a:pt x="53" y="111"/>
                  </a:lnTo>
                  <a:lnTo>
                    <a:pt x="56" y="96"/>
                  </a:lnTo>
                  <a:lnTo>
                    <a:pt x="59" y="80"/>
                  </a:lnTo>
                  <a:lnTo>
                    <a:pt x="56" y="62"/>
                  </a:lnTo>
                  <a:lnTo>
                    <a:pt x="48" y="43"/>
                  </a:lnTo>
                  <a:lnTo>
                    <a:pt x="31" y="2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49" name="Freeform 41">
              <a:extLst>
                <a:ext uri="{FF2B5EF4-FFF2-40B4-BE49-F238E27FC236}">
                  <a16:creationId xmlns:a16="http://schemas.microsoft.com/office/drawing/2014/main" id="{66418032-E2E2-4882-8A85-27A1741D2248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584153">
              <a:off x="236" y="721"/>
              <a:ext cx="62" cy="97"/>
            </a:xfrm>
            <a:custGeom>
              <a:avLst/>
              <a:gdLst>
                <a:gd name="T0" fmla="*/ 42 w 46"/>
                <a:gd name="T1" fmla="*/ 0 h 94"/>
                <a:gd name="T2" fmla="*/ 27 w 46"/>
                <a:gd name="T3" fmla="*/ 39 h 94"/>
                <a:gd name="T4" fmla="*/ 20 w 46"/>
                <a:gd name="T5" fmla="*/ 64 h 94"/>
                <a:gd name="T6" fmla="*/ 15 w 46"/>
                <a:gd name="T7" fmla="*/ 82 h 94"/>
                <a:gd name="T8" fmla="*/ 0 w 46"/>
                <a:gd name="T9" fmla="*/ 97 h 94"/>
                <a:gd name="T10" fmla="*/ 16 w 46"/>
                <a:gd name="T11" fmla="*/ 91 h 94"/>
                <a:gd name="T12" fmla="*/ 31 w 46"/>
                <a:gd name="T13" fmla="*/ 83 h 94"/>
                <a:gd name="T14" fmla="*/ 43 w 46"/>
                <a:gd name="T15" fmla="*/ 71 h 94"/>
                <a:gd name="T16" fmla="*/ 54 w 46"/>
                <a:gd name="T17" fmla="*/ 59 h 94"/>
                <a:gd name="T18" fmla="*/ 61 w 46"/>
                <a:gd name="T19" fmla="*/ 45 h 94"/>
                <a:gd name="T20" fmla="*/ 62 w 46"/>
                <a:gd name="T21" fmla="*/ 31 h 94"/>
                <a:gd name="T22" fmla="*/ 57 w 46"/>
                <a:gd name="T23" fmla="*/ 15 h 94"/>
                <a:gd name="T24" fmla="*/ 42 w 46"/>
                <a:gd name="T25" fmla="*/ 0 h 94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46" h="94">
                  <a:moveTo>
                    <a:pt x="31" y="0"/>
                  </a:moveTo>
                  <a:lnTo>
                    <a:pt x="20" y="38"/>
                  </a:lnTo>
                  <a:lnTo>
                    <a:pt x="15" y="62"/>
                  </a:lnTo>
                  <a:lnTo>
                    <a:pt x="11" y="79"/>
                  </a:lnTo>
                  <a:lnTo>
                    <a:pt x="0" y="94"/>
                  </a:lnTo>
                  <a:lnTo>
                    <a:pt x="12" y="88"/>
                  </a:lnTo>
                  <a:lnTo>
                    <a:pt x="23" y="80"/>
                  </a:lnTo>
                  <a:lnTo>
                    <a:pt x="32" y="69"/>
                  </a:lnTo>
                  <a:lnTo>
                    <a:pt x="40" y="57"/>
                  </a:lnTo>
                  <a:lnTo>
                    <a:pt x="45" y="44"/>
                  </a:lnTo>
                  <a:lnTo>
                    <a:pt x="46" y="30"/>
                  </a:lnTo>
                  <a:lnTo>
                    <a:pt x="42" y="15"/>
                  </a:lnTo>
                  <a:lnTo>
                    <a:pt x="3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50" name="Freeform 42">
              <a:extLst>
                <a:ext uri="{FF2B5EF4-FFF2-40B4-BE49-F238E27FC236}">
                  <a16:creationId xmlns:a16="http://schemas.microsoft.com/office/drawing/2014/main" id="{B47C5099-5A79-4E66-AFD6-96E29531965A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584153">
              <a:off x="585" y="466"/>
              <a:ext cx="72" cy="41"/>
            </a:xfrm>
            <a:custGeom>
              <a:avLst/>
              <a:gdLst>
                <a:gd name="T0" fmla="*/ 0 w 54"/>
                <a:gd name="T1" fmla="*/ 0 h 40"/>
                <a:gd name="T2" fmla="*/ 1 w 54"/>
                <a:gd name="T3" fmla="*/ 1 h 40"/>
                <a:gd name="T4" fmla="*/ 8 w 54"/>
                <a:gd name="T5" fmla="*/ 3 h 40"/>
                <a:gd name="T6" fmla="*/ 17 w 54"/>
                <a:gd name="T7" fmla="*/ 8 h 40"/>
                <a:gd name="T8" fmla="*/ 28 w 54"/>
                <a:gd name="T9" fmla="*/ 12 h 40"/>
                <a:gd name="T10" fmla="*/ 39 w 54"/>
                <a:gd name="T11" fmla="*/ 15 h 40"/>
                <a:gd name="T12" fmla="*/ 51 w 54"/>
                <a:gd name="T13" fmla="*/ 17 h 40"/>
                <a:gd name="T14" fmla="*/ 61 w 54"/>
                <a:gd name="T15" fmla="*/ 18 h 40"/>
                <a:gd name="T16" fmla="*/ 72 w 54"/>
                <a:gd name="T17" fmla="*/ 16 h 40"/>
                <a:gd name="T18" fmla="*/ 71 w 54"/>
                <a:gd name="T19" fmla="*/ 26 h 40"/>
                <a:gd name="T20" fmla="*/ 67 w 54"/>
                <a:gd name="T21" fmla="*/ 34 h 40"/>
                <a:gd name="T22" fmla="*/ 59 w 54"/>
                <a:gd name="T23" fmla="*/ 39 h 40"/>
                <a:gd name="T24" fmla="*/ 49 w 54"/>
                <a:gd name="T25" fmla="*/ 41 h 40"/>
                <a:gd name="T26" fmla="*/ 37 w 54"/>
                <a:gd name="T27" fmla="*/ 40 h 40"/>
                <a:gd name="T28" fmla="*/ 25 w 54"/>
                <a:gd name="T29" fmla="*/ 33 h 40"/>
                <a:gd name="T30" fmla="*/ 13 w 54"/>
                <a:gd name="T31" fmla="*/ 21 h 40"/>
                <a:gd name="T32" fmla="*/ 0 w 54"/>
                <a:gd name="T33" fmla="*/ 0 h 40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0" t="0" r="r" b="b"/>
              <a:pathLst>
                <a:path w="54" h="40">
                  <a:moveTo>
                    <a:pt x="0" y="0"/>
                  </a:moveTo>
                  <a:lnTo>
                    <a:pt x="1" y="1"/>
                  </a:lnTo>
                  <a:lnTo>
                    <a:pt x="6" y="3"/>
                  </a:lnTo>
                  <a:lnTo>
                    <a:pt x="13" y="8"/>
                  </a:lnTo>
                  <a:lnTo>
                    <a:pt x="21" y="12"/>
                  </a:lnTo>
                  <a:lnTo>
                    <a:pt x="29" y="15"/>
                  </a:lnTo>
                  <a:lnTo>
                    <a:pt x="38" y="17"/>
                  </a:lnTo>
                  <a:lnTo>
                    <a:pt x="46" y="18"/>
                  </a:lnTo>
                  <a:lnTo>
                    <a:pt x="54" y="16"/>
                  </a:lnTo>
                  <a:lnTo>
                    <a:pt x="53" y="25"/>
                  </a:lnTo>
                  <a:lnTo>
                    <a:pt x="50" y="33"/>
                  </a:lnTo>
                  <a:lnTo>
                    <a:pt x="44" y="38"/>
                  </a:lnTo>
                  <a:lnTo>
                    <a:pt x="37" y="40"/>
                  </a:lnTo>
                  <a:lnTo>
                    <a:pt x="28" y="39"/>
                  </a:lnTo>
                  <a:lnTo>
                    <a:pt x="19" y="32"/>
                  </a:lnTo>
                  <a:lnTo>
                    <a:pt x="10" y="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51" name="Freeform 43">
              <a:extLst>
                <a:ext uri="{FF2B5EF4-FFF2-40B4-BE49-F238E27FC236}">
                  <a16:creationId xmlns:a16="http://schemas.microsoft.com/office/drawing/2014/main" id="{06CEDFDA-4858-4E9D-B35A-28708551A78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886"/>
              <a:ext cx="360" cy="650"/>
            </a:xfrm>
            <a:custGeom>
              <a:avLst/>
              <a:gdLst>
                <a:gd name="T0" fmla="*/ 264 w 360"/>
                <a:gd name="T1" fmla="*/ 0 h 650"/>
                <a:gd name="T2" fmla="*/ 269 w 360"/>
                <a:gd name="T3" fmla="*/ 9 h 650"/>
                <a:gd name="T4" fmla="*/ 277 w 360"/>
                <a:gd name="T5" fmla="*/ 22 h 650"/>
                <a:gd name="T6" fmla="*/ 286 w 360"/>
                <a:gd name="T7" fmla="*/ 39 h 650"/>
                <a:gd name="T8" fmla="*/ 297 w 360"/>
                <a:gd name="T9" fmla="*/ 58 h 650"/>
                <a:gd name="T10" fmla="*/ 309 w 360"/>
                <a:gd name="T11" fmla="*/ 83 h 650"/>
                <a:gd name="T12" fmla="*/ 319 w 360"/>
                <a:gd name="T13" fmla="*/ 108 h 650"/>
                <a:gd name="T14" fmla="*/ 329 w 360"/>
                <a:gd name="T15" fmla="*/ 136 h 650"/>
                <a:gd name="T16" fmla="*/ 333 w 360"/>
                <a:gd name="T17" fmla="*/ 163 h 650"/>
                <a:gd name="T18" fmla="*/ 336 w 360"/>
                <a:gd name="T19" fmla="*/ 193 h 650"/>
                <a:gd name="T20" fmla="*/ 332 w 360"/>
                <a:gd name="T21" fmla="*/ 223 h 650"/>
                <a:gd name="T22" fmla="*/ 323 w 360"/>
                <a:gd name="T23" fmla="*/ 255 h 650"/>
                <a:gd name="T24" fmla="*/ 310 w 360"/>
                <a:gd name="T25" fmla="*/ 285 h 650"/>
                <a:gd name="T26" fmla="*/ 287 w 360"/>
                <a:gd name="T27" fmla="*/ 315 h 650"/>
                <a:gd name="T28" fmla="*/ 257 w 360"/>
                <a:gd name="T29" fmla="*/ 343 h 650"/>
                <a:gd name="T30" fmla="*/ 218 w 360"/>
                <a:gd name="T31" fmla="*/ 370 h 650"/>
                <a:gd name="T32" fmla="*/ 167 w 360"/>
                <a:gd name="T33" fmla="*/ 396 h 650"/>
                <a:gd name="T34" fmla="*/ 111 w 360"/>
                <a:gd name="T35" fmla="*/ 425 h 650"/>
                <a:gd name="T36" fmla="*/ 69 w 360"/>
                <a:gd name="T37" fmla="*/ 457 h 650"/>
                <a:gd name="T38" fmla="*/ 35 w 360"/>
                <a:gd name="T39" fmla="*/ 490 h 650"/>
                <a:gd name="T40" fmla="*/ 12 w 360"/>
                <a:gd name="T41" fmla="*/ 526 h 650"/>
                <a:gd name="T42" fmla="*/ 0 w 360"/>
                <a:gd name="T43" fmla="*/ 553 h 650"/>
                <a:gd name="T44" fmla="*/ 0 w 360"/>
                <a:gd name="T45" fmla="*/ 650 h 650"/>
                <a:gd name="T46" fmla="*/ 6 w 360"/>
                <a:gd name="T47" fmla="*/ 628 h 650"/>
                <a:gd name="T48" fmla="*/ 19 w 360"/>
                <a:gd name="T49" fmla="*/ 594 h 650"/>
                <a:gd name="T50" fmla="*/ 43 w 360"/>
                <a:gd name="T51" fmla="*/ 551 h 650"/>
                <a:gd name="T52" fmla="*/ 76 w 360"/>
                <a:gd name="T53" fmla="*/ 503 h 650"/>
                <a:gd name="T54" fmla="*/ 125 w 360"/>
                <a:gd name="T55" fmla="*/ 454 h 650"/>
                <a:gd name="T56" fmla="*/ 190 w 360"/>
                <a:gd name="T57" fmla="*/ 408 h 650"/>
                <a:gd name="T58" fmla="*/ 275 w 360"/>
                <a:gd name="T59" fmla="*/ 365 h 650"/>
                <a:gd name="T60" fmla="*/ 308 w 360"/>
                <a:gd name="T61" fmla="*/ 342 h 650"/>
                <a:gd name="T62" fmla="*/ 335 w 360"/>
                <a:gd name="T63" fmla="*/ 305 h 650"/>
                <a:gd name="T64" fmla="*/ 352 w 360"/>
                <a:gd name="T65" fmla="*/ 255 h 650"/>
                <a:gd name="T66" fmla="*/ 360 w 360"/>
                <a:gd name="T67" fmla="*/ 201 h 650"/>
                <a:gd name="T68" fmla="*/ 356 w 360"/>
                <a:gd name="T69" fmla="*/ 144 h 650"/>
                <a:gd name="T70" fmla="*/ 341 w 360"/>
                <a:gd name="T71" fmla="*/ 88 h 650"/>
                <a:gd name="T72" fmla="*/ 311 w 360"/>
                <a:gd name="T73" fmla="*/ 39 h 650"/>
                <a:gd name="T74" fmla="*/ 264 w 360"/>
                <a:gd name="T75" fmla="*/ 0 h 650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</a:gdLst>
              <a:ahLst/>
              <a:cxnLst>
                <a:cxn ang="T76">
                  <a:pos x="T0" y="T1"/>
                </a:cxn>
                <a:cxn ang="T77">
                  <a:pos x="T2" y="T3"/>
                </a:cxn>
                <a:cxn ang="T78">
                  <a:pos x="T4" y="T5"/>
                </a:cxn>
                <a:cxn ang="T79">
                  <a:pos x="T6" y="T7"/>
                </a:cxn>
                <a:cxn ang="T80">
                  <a:pos x="T8" y="T9"/>
                </a:cxn>
                <a:cxn ang="T81">
                  <a:pos x="T10" y="T11"/>
                </a:cxn>
                <a:cxn ang="T82">
                  <a:pos x="T12" y="T13"/>
                </a:cxn>
                <a:cxn ang="T83">
                  <a:pos x="T14" y="T15"/>
                </a:cxn>
                <a:cxn ang="T84">
                  <a:pos x="T16" y="T17"/>
                </a:cxn>
                <a:cxn ang="T85">
                  <a:pos x="T18" y="T19"/>
                </a:cxn>
                <a:cxn ang="T86">
                  <a:pos x="T20" y="T21"/>
                </a:cxn>
                <a:cxn ang="T87">
                  <a:pos x="T22" y="T23"/>
                </a:cxn>
                <a:cxn ang="T88">
                  <a:pos x="T24" y="T25"/>
                </a:cxn>
                <a:cxn ang="T89">
                  <a:pos x="T26" y="T27"/>
                </a:cxn>
                <a:cxn ang="T90">
                  <a:pos x="T28" y="T29"/>
                </a:cxn>
                <a:cxn ang="T91">
                  <a:pos x="T30" y="T31"/>
                </a:cxn>
                <a:cxn ang="T92">
                  <a:pos x="T32" y="T33"/>
                </a:cxn>
                <a:cxn ang="T93">
                  <a:pos x="T34" y="T35"/>
                </a:cxn>
                <a:cxn ang="T94">
                  <a:pos x="T36" y="T37"/>
                </a:cxn>
                <a:cxn ang="T95">
                  <a:pos x="T38" y="T39"/>
                </a:cxn>
                <a:cxn ang="T96">
                  <a:pos x="T40" y="T41"/>
                </a:cxn>
                <a:cxn ang="T97">
                  <a:pos x="T42" y="T43"/>
                </a:cxn>
                <a:cxn ang="T98">
                  <a:pos x="T44" y="T45"/>
                </a:cxn>
                <a:cxn ang="T99">
                  <a:pos x="T46" y="T47"/>
                </a:cxn>
                <a:cxn ang="T100">
                  <a:pos x="T48" y="T49"/>
                </a:cxn>
                <a:cxn ang="T101">
                  <a:pos x="T50" y="T51"/>
                </a:cxn>
                <a:cxn ang="T102">
                  <a:pos x="T52" y="T53"/>
                </a:cxn>
                <a:cxn ang="T103">
                  <a:pos x="T54" y="T55"/>
                </a:cxn>
                <a:cxn ang="T104">
                  <a:pos x="T56" y="T57"/>
                </a:cxn>
                <a:cxn ang="T105">
                  <a:pos x="T58" y="T59"/>
                </a:cxn>
                <a:cxn ang="T106">
                  <a:pos x="T60" y="T61"/>
                </a:cxn>
                <a:cxn ang="T107">
                  <a:pos x="T62" y="T63"/>
                </a:cxn>
                <a:cxn ang="T108">
                  <a:pos x="T64" y="T65"/>
                </a:cxn>
                <a:cxn ang="T109">
                  <a:pos x="T66" y="T67"/>
                </a:cxn>
                <a:cxn ang="T110">
                  <a:pos x="T68" y="T69"/>
                </a:cxn>
                <a:cxn ang="T111">
                  <a:pos x="T70" y="T71"/>
                </a:cxn>
                <a:cxn ang="T112">
                  <a:pos x="T72" y="T73"/>
                </a:cxn>
                <a:cxn ang="T113">
                  <a:pos x="T74" y="T75"/>
                </a:cxn>
              </a:cxnLst>
              <a:rect l="0" t="0" r="r" b="b"/>
              <a:pathLst>
                <a:path w="360" h="650">
                  <a:moveTo>
                    <a:pt x="264" y="0"/>
                  </a:moveTo>
                  <a:lnTo>
                    <a:pt x="269" y="9"/>
                  </a:lnTo>
                  <a:lnTo>
                    <a:pt x="277" y="22"/>
                  </a:lnTo>
                  <a:lnTo>
                    <a:pt x="286" y="39"/>
                  </a:lnTo>
                  <a:lnTo>
                    <a:pt x="297" y="58"/>
                  </a:lnTo>
                  <a:lnTo>
                    <a:pt x="309" y="83"/>
                  </a:lnTo>
                  <a:lnTo>
                    <a:pt x="319" y="108"/>
                  </a:lnTo>
                  <a:lnTo>
                    <a:pt x="329" y="136"/>
                  </a:lnTo>
                  <a:lnTo>
                    <a:pt x="333" y="163"/>
                  </a:lnTo>
                  <a:lnTo>
                    <a:pt x="336" y="193"/>
                  </a:lnTo>
                  <a:lnTo>
                    <a:pt x="332" y="223"/>
                  </a:lnTo>
                  <a:lnTo>
                    <a:pt x="323" y="255"/>
                  </a:lnTo>
                  <a:lnTo>
                    <a:pt x="310" y="285"/>
                  </a:lnTo>
                  <a:lnTo>
                    <a:pt x="287" y="315"/>
                  </a:lnTo>
                  <a:lnTo>
                    <a:pt x="257" y="343"/>
                  </a:lnTo>
                  <a:lnTo>
                    <a:pt x="218" y="370"/>
                  </a:lnTo>
                  <a:lnTo>
                    <a:pt x="167" y="396"/>
                  </a:lnTo>
                  <a:lnTo>
                    <a:pt x="111" y="425"/>
                  </a:lnTo>
                  <a:lnTo>
                    <a:pt x="69" y="457"/>
                  </a:lnTo>
                  <a:lnTo>
                    <a:pt x="35" y="490"/>
                  </a:lnTo>
                  <a:lnTo>
                    <a:pt x="12" y="526"/>
                  </a:lnTo>
                  <a:lnTo>
                    <a:pt x="0" y="553"/>
                  </a:lnTo>
                  <a:lnTo>
                    <a:pt x="0" y="650"/>
                  </a:lnTo>
                  <a:lnTo>
                    <a:pt x="6" y="628"/>
                  </a:lnTo>
                  <a:lnTo>
                    <a:pt x="19" y="594"/>
                  </a:lnTo>
                  <a:lnTo>
                    <a:pt x="43" y="551"/>
                  </a:lnTo>
                  <a:lnTo>
                    <a:pt x="76" y="503"/>
                  </a:lnTo>
                  <a:lnTo>
                    <a:pt x="125" y="454"/>
                  </a:lnTo>
                  <a:lnTo>
                    <a:pt x="190" y="408"/>
                  </a:lnTo>
                  <a:lnTo>
                    <a:pt x="275" y="365"/>
                  </a:lnTo>
                  <a:lnTo>
                    <a:pt x="308" y="342"/>
                  </a:lnTo>
                  <a:lnTo>
                    <a:pt x="335" y="305"/>
                  </a:lnTo>
                  <a:lnTo>
                    <a:pt x="352" y="255"/>
                  </a:lnTo>
                  <a:lnTo>
                    <a:pt x="360" y="201"/>
                  </a:lnTo>
                  <a:lnTo>
                    <a:pt x="356" y="144"/>
                  </a:lnTo>
                  <a:lnTo>
                    <a:pt x="341" y="88"/>
                  </a:lnTo>
                  <a:lnTo>
                    <a:pt x="311" y="39"/>
                  </a:lnTo>
                  <a:lnTo>
                    <a:pt x="264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52" name="Freeform 44">
              <a:extLst>
                <a:ext uri="{FF2B5EF4-FFF2-40B4-BE49-F238E27FC236}">
                  <a16:creationId xmlns:a16="http://schemas.microsoft.com/office/drawing/2014/main" id="{12F63471-002C-45BA-92FE-618688443285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584153">
              <a:off x="56" y="84"/>
              <a:ext cx="804" cy="686"/>
            </a:xfrm>
            <a:custGeom>
              <a:avLst/>
              <a:gdLst>
                <a:gd name="T0" fmla="*/ 22 w 596"/>
                <a:gd name="T1" fmla="*/ 381 h 666"/>
                <a:gd name="T2" fmla="*/ 8 w 596"/>
                <a:gd name="T3" fmla="*/ 351 h 666"/>
                <a:gd name="T4" fmla="*/ 0 w 596"/>
                <a:gd name="T5" fmla="*/ 298 h 666"/>
                <a:gd name="T6" fmla="*/ 5 w 596"/>
                <a:gd name="T7" fmla="*/ 229 h 666"/>
                <a:gd name="T8" fmla="*/ 34 w 596"/>
                <a:gd name="T9" fmla="*/ 156 h 666"/>
                <a:gd name="T10" fmla="*/ 93 w 596"/>
                <a:gd name="T11" fmla="*/ 87 h 666"/>
                <a:gd name="T12" fmla="*/ 192 w 596"/>
                <a:gd name="T13" fmla="*/ 32 h 666"/>
                <a:gd name="T14" fmla="*/ 333 w 596"/>
                <a:gd name="T15" fmla="*/ 2 h 666"/>
                <a:gd name="T16" fmla="*/ 513 w 596"/>
                <a:gd name="T17" fmla="*/ 9 h 666"/>
                <a:gd name="T18" fmla="*/ 653 w 596"/>
                <a:gd name="T19" fmla="*/ 70 h 666"/>
                <a:gd name="T20" fmla="*/ 747 w 596"/>
                <a:gd name="T21" fmla="*/ 170 h 666"/>
                <a:gd name="T22" fmla="*/ 797 w 596"/>
                <a:gd name="T23" fmla="*/ 293 h 666"/>
                <a:gd name="T24" fmla="*/ 803 w 596"/>
                <a:gd name="T25" fmla="*/ 421 h 666"/>
                <a:gd name="T26" fmla="*/ 764 w 596"/>
                <a:gd name="T27" fmla="*/ 541 h 666"/>
                <a:gd name="T28" fmla="*/ 684 w 596"/>
                <a:gd name="T29" fmla="*/ 633 h 666"/>
                <a:gd name="T30" fmla="*/ 563 w 596"/>
                <a:gd name="T31" fmla="*/ 683 h 666"/>
                <a:gd name="T32" fmla="*/ 525 w 596"/>
                <a:gd name="T33" fmla="*/ 679 h 666"/>
                <a:gd name="T34" fmla="*/ 595 w 596"/>
                <a:gd name="T35" fmla="*/ 636 h 666"/>
                <a:gd name="T36" fmla="*/ 650 w 596"/>
                <a:gd name="T37" fmla="*/ 560 h 666"/>
                <a:gd name="T38" fmla="*/ 687 w 596"/>
                <a:gd name="T39" fmla="*/ 468 h 666"/>
                <a:gd name="T40" fmla="*/ 701 w 596"/>
                <a:gd name="T41" fmla="*/ 366 h 666"/>
                <a:gd name="T42" fmla="*/ 693 w 596"/>
                <a:gd name="T43" fmla="*/ 266 h 666"/>
                <a:gd name="T44" fmla="*/ 654 w 596"/>
                <a:gd name="T45" fmla="*/ 179 h 666"/>
                <a:gd name="T46" fmla="*/ 584 w 596"/>
                <a:gd name="T47" fmla="*/ 115 h 666"/>
                <a:gd name="T48" fmla="*/ 460 w 596"/>
                <a:gd name="T49" fmla="*/ 77 h 666"/>
                <a:gd name="T50" fmla="*/ 332 w 596"/>
                <a:gd name="T51" fmla="*/ 63 h 666"/>
                <a:gd name="T52" fmla="*/ 235 w 596"/>
                <a:gd name="T53" fmla="*/ 73 h 666"/>
                <a:gd name="T54" fmla="*/ 163 w 596"/>
                <a:gd name="T55" fmla="*/ 104 h 666"/>
                <a:gd name="T56" fmla="*/ 113 w 596"/>
                <a:gd name="T57" fmla="*/ 153 h 666"/>
                <a:gd name="T58" fmla="*/ 77 w 596"/>
                <a:gd name="T59" fmla="*/ 212 h 666"/>
                <a:gd name="T60" fmla="*/ 54 w 596"/>
                <a:gd name="T61" fmla="*/ 280 h 666"/>
                <a:gd name="T62" fmla="*/ 38 w 596"/>
                <a:gd name="T63" fmla="*/ 349 h 66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</a:gdLst>
              <a:ahLst/>
              <a:cxnLst>
                <a:cxn ang="T64">
                  <a:pos x="T0" y="T1"/>
                </a:cxn>
                <a:cxn ang="T65">
                  <a:pos x="T2" y="T3"/>
                </a:cxn>
                <a:cxn ang="T66">
                  <a:pos x="T4" y="T5"/>
                </a:cxn>
                <a:cxn ang="T67">
                  <a:pos x="T6" y="T7"/>
                </a:cxn>
                <a:cxn ang="T68">
                  <a:pos x="T8" y="T9"/>
                </a:cxn>
                <a:cxn ang="T69">
                  <a:pos x="T10" y="T11"/>
                </a:cxn>
                <a:cxn ang="T70">
                  <a:pos x="T12" y="T13"/>
                </a:cxn>
                <a:cxn ang="T71">
                  <a:pos x="T14" y="T15"/>
                </a:cxn>
                <a:cxn ang="T72">
                  <a:pos x="T16" y="T17"/>
                </a:cxn>
                <a:cxn ang="T73">
                  <a:pos x="T18" y="T19"/>
                </a:cxn>
                <a:cxn ang="T74">
                  <a:pos x="T20" y="T21"/>
                </a:cxn>
                <a:cxn ang="T75">
                  <a:pos x="T22" y="T23"/>
                </a:cxn>
                <a:cxn ang="T76">
                  <a:pos x="T24" y="T25"/>
                </a:cxn>
                <a:cxn ang="T77">
                  <a:pos x="T26" y="T27"/>
                </a:cxn>
                <a:cxn ang="T78">
                  <a:pos x="T28" y="T29"/>
                </a:cxn>
                <a:cxn ang="T79">
                  <a:pos x="T30" y="T31"/>
                </a:cxn>
                <a:cxn ang="T80">
                  <a:pos x="T32" y="T33"/>
                </a:cxn>
                <a:cxn ang="T81">
                  <a:pos x="T34" y="T35"/>
                </a:cxn>
                <a:cxn ang="T82">
                  <a:pos x="T36" y="T37"/>
                </a:cxn>
                <a:cxn ang="T83">
                  <a:pos x="T38" y="T39"/>
                </a:cxn>
                <a:cxn ang="T84">
                  <a:pos x="T40" y="T41"/>
                </a:cxn>
                <a:cxn ang="T85">
                  <a:pos x="T42" y="T43"/>
                </a:cxn>
                <a:cxn ang="T86">
                  <a:pos x="T44" y="T45"/>
                </a:cxn>
                <a:cxn ang="T87">
                  <a:pos x="T46" y="T47"/>
                </a:cxn>
                <a:cxn ang="T88">
                  <a:pos x="T48" y="T49"/>
                </a:cxn>
                <a:cxn ang="T89">
                  <a:pos x="T50" y="T51"/>
                </a:cxn>
                <a:cxn ang="T90">
                  <a:pos x="T52" y="T53"/>
                </a:cxn>
                <a:cxn ang="T91">
                  <a:pos x="T54" y="T55"/>
                </a:cxn>
                <a:cxn ang="T92">
                  <a:pos x="T56" y="T57"/>
                </a:cxn>
                <a:cxn ang="T93">
                  <a:pos x="T58" y="T59"/>
                </a:cxn>
                <a:cxn ang="T94">
                  <a:pos x="T60" y="T61"/>
                </a:cxn>
                <a:cxn ang="T95">
                  <a:pos x="T62" y="T63"/>
                </a:cxn>
              </a:cxnLst>
              <a:rect l="0" t="0" r="r" b="b"/>
              <a:pathLst>
                <a:path w="596" h="666">
                  <a:moveTo>
                    <a:pt x="22" y="372"/>
                  </a:moveTo>
                  <a:lnTo>
                    <a:pt x="16" y="370"/>
                  </a:lnTo>
                  <a:lnTo>
                    <a:pt x="10" y="360"/>
                  </a:lnTo>
                  <a:lnTo>
                    <a:pt x="6" y="341"/>
                  </a:lnTo>
                  <a:lnTo>
                    <a:pt x="1" y="318"/>
                  </a:lnTo>
                  <a:lnTo>
                    <a:pt x="0" y="289"/>
                  </a:lnTo>
                  <a:lnTo>
                    <a:pt x="0" y="257"/>
                  </a:lnTo>
                  <a:lnTo>
                    <a:pt x="4" y="222"/>
                  </a:lnTo>
                  <a:lnTo>
                    <a:pt x="13" y="187"/>
                  </a:lnTo>
                  <a:lnTo>
                    <a:pt x="25" y="151"/>
                  </a:lnTo>
                  <a:lnTo>
                    <a:pt x="45" y="116"/>
                  </a:lnTo>
                  <a:lnTo>
                    <a:pt x="69" y="84"/>
                  </a:lnTo>
                  <a:lnTo>
                    <a:pt x="101" y="55"/>
                  </a:lnTo>
                  <a:lnTo>
                    <a:pt x="142" y="31"/>
                  </a:lnTo>
                  <a:lnTo>
                    <a:pt x="190" y="13"/>
                  </a:lnTo>
                  <a:lnTo>
                    <a:pt x="247" y="2"/>
                  </a:lnTo>
                  <a:lnTo>
                    <a:pt x="314" y="0"/>
                  </a:lnTo>
                  <a:lnTo>
                    <a:pt x="380" y="9"/>
                  </a:lnTo>
                  <a:lnTo>
                    <a:pt x="436" y="33"/>
                  </a:lnTo>
                  <a:lnTo>
                    <a:pt x="484" y="68"/>
                  </a:lnTo>
                  <a:lnTo>
                    <a:pt x="524" y="113"/>
                  </a:lnTo>
                  <a:lnTo>
                    <a:pt x="554" y="165"/>
                  </a:lnTo>
                  <a:lnTo>
                    <a:pt x="577" y="222"/>
                  </a:lnTo>
                  <a:lnTo>
                    <a:pt x="591" y="284"/>
                  </a:lnTo>
                  <a:lnTo>
                    <a:pt x="596" y="347"/>
                  </a:lnTo>
                  <a:lnTo>
                    <a:pt x="595" y="409"/>
                  </a:lnTo>
                  <a:lnTo>
                    <a:pt x="585" y="469"/>
                  </a:lnTo>
                  <a:lnTo>
                    <a:pt x="566" y="525"/>
                  </a:lnTo>
                  <a:lnTo>
                    <a:pt x="540" y="574"/>
                  </a:lnTo>
                  <a:lnTo>
                    <a:pt x="507" y="615"/>
                  </a:lnTo>
                  <a:lnTo>
                    <a:pt x="465" y="645"/>
                  </a:lnTo>
                  <a:lnTo>
                    <a:pt x="417" y="663"/>
                  </a:lnTo>
                  <a:lnTo>
                    <a:pt x="360" y="666"/>
                  </a:lnTo>
                  <a:lnTo>
                    <a:pt x="389" y="659"/>
                  </a:lnTo>
                  <a:lnTo>
                    <a:pt x="417" y="642"/>
                  </a:lnTo>
                  <a:lnTo>
                    <a:pt x="441" y="617"/>
                  </a:lnTo>
                  <a:lnTo>
                    <a:pt x="463" y="583"/>
                  </a:lnTo>
                  <a:lnTo>
                    <a:pt x="482" y="544"/>
                  </a:lnTo>
                  <a:lnTo>
                    <a:pt x="497" y="501"/>
                  </a:lnTo>
                  <a:lnTo>
                    <a:pt x="509" y="454"/>
                  </a:lnTo>
                  <a:lnTo>
                    <a:pt x="517" y="404"/>
                  </a:lnTo>
                  <a:lnTo>
                    <a:pt x="520" y="355"/>
                  </a:lnTo>
                  <a:lnTo>
                    <a:pt x="519" y="305"/>
                  </a:lnTo>
                  <a:lnTo>
                    <a:pt x="514" y="258"/>
                  </a:lnTo>
                  <a:lnTo>
                    <a:pt x="502" y="213"/>
                  </a:lnTo>
                  <a:lnTo>
                    <a:pt x="485" y="174"/>
                  </a:lnTo>
                  <a:lnTo>
                    <a:pt x="462" y="139"/>
                  </a:lnTo>
                  <a:lnTo>
                    <a:pt x="433" y="112"/>
                  </a:lnTo>
                  <a:lnTo>
                    <a:pt x="397" y="93"/>
                  </a:lnTo>
                  <a:lnTo>
                    <a:pt x="341" y="75"/>
                  </a:lnTo>
                  <a:lnTo>
                    <a:pt x="290" y="65"/>
                  </a:lnTo>
                  <a:lnTo>
                    <a:pt x="246" y="61"/>
                  </a:lnTo>
                  <a:lnTo>
                    <a:pt x="207" y="63"/>
                  </a:lnTo>
                  <a:lnTo>
                    <a:pt x="174" y="71"/>
                  </a:lnTo>
                  <a:lnTo>
                    <a:pt x="146" y="84"/>
                  </a:lnTo>
                  <a:lnTo>
                    <a:pt x="121" y="101"/>
                  </a:lnTo>
                  <a:lnTo>
                    <a:pt x="101" y="123"/>
                  </a:lnTo>
                  <a:lnTo>
                    <a:pt x="84" y="149"/>
                  </a:lnTo>
                  <a:lnTo>
                    <a:pt x="69" y="176"/>
                  </a:lnTo>
                  <a:lnTo>
                    <a:pt x="57" y="206"/>
                  </a:lnTo>
                  <a:lnTo>
                    <a:pt x="48" y="239"/>
                  </a:lnTo>
                  <a:lnTo>
                    <a:pt x="40" y="272"/>
                  </a:lnTo>
                  <a:lnTo>
                    <a:pt x="33" y="305"/>
                  </a:lnTo>
                  <a:lnTo>
                    <a:pt x="28" y="339"/>
                  </a:lnTo>
                  <a:lnTo>
                    <a:pt x="22" y="372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12333" name="Rectangle 45">
            <a:extLst>
              <a:ext uri="{FF2B5EF4-FFF2-40B4-BE49-F238E27FC236}">
                <a16:creationId xmlns:a16="http://schemas.microsoft.com/office/drawing/2014/main" id="{66C26DC9-F8C5-4253-BD03-3CABC0C187E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42913" y="103188"/>
            <a:ext cx="8243887" cy="131445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b" anchorCtr="0" compatLnSpc="1"/>
          <a:lstStyle/>
          <a:p>
            <a:pPr lvl="0"/>
            <a:r>
              <a:rPr lang="zh-CN" altLang="en-US" noProof="1"/>
              <a:t>单击此处编辑母版标题样式</a:t>
            </a:r>
          </a:p>
        </p:txBody>
      </p:sp>
      <p:sp>
        <p:nvSpPr>
          <p:cNvPr id="1028" name="Rectangle 46">
            <a:extLst>
              <a:ext uri="{FF2B5EF4-FFF2-40B4-BE49-F238E27FC236}">
                <a16:creationId xmlns:a16="http://schemas.microsoft.com/office/drawing/2014/main" id="{C73A2ACA-1349-402B-B471-D4F995C93CAE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 bwMode="auto">
          <a:xfrm>
            <a:off x="457200" y="1600200"/>
            <a:ext cx="8229600" cy="445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12335" name="Rectangle 47">
            <a:extLst>
              <a:ext uri="{FF2B5EF4-FFF2-40B4-BE49-F238E27FC236}">
                <a16:creationId xmlns:a16="http://schemas.microsoft.com/office/drawing/2014/main" id="{943C6B0C-376E-4E72-9571-4DF3BC568C7D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3638"/>
            <a:ext cx="2133600" cy="4572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defRPr sz="1400"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2336" name="Rectangle 48">
            <a:extLst>
              <a:ext uri="{FF2B5EF4-FFF2-40B4-BE49-F238E27FC236}">
                <a16:creationId xmlns:a16="http://schemas.microsoft.com/office/drawing/2014/main" id="{3CBF1359-C257-4654-9C22-F67B5C42368D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 algn="ctr" eaLnBrk="1" hangingPunct="1">
              <a:defRPr sz="1400"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2337" name="Rectangle 49">
            <a:extLst>
              <a:ext uri="{FF2B5EF4-FFF2-40B4-BE49-F238E27FC236}">
                <a16:creationId xmlns:a16="http://schemas.microsoft.com/office/drawing/2014/main" id="{93ED4391-21C2-4B34-B7C4-4FE1BABC39EE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3638"/>
            <a:ext cx="2133600" cy="4572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400" smtClean="0"/>
            </a:lvl1pPr>
          </a:lstStyle>
          <a:p>
            <a:pPr>
              <a:defRPr/>
            </a:pPr>
            <a:fld id="{6580A381-67D7-4B88-98D0-D7E2849535EF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87" r:id="rId2"/>
    <p:sldLayoutId id="2147483688" r:id="rId3"/>
    <p:sldLayoutId id="2147483689" r:id="rId4"/>
    <p:sldLayoutId id="2147483690" r:id="rId5"/>
    <p:sldLayoutId id="2147483691" r:id="rId6"/>
    <p:sldLayoutId id="2147483692" r:id="rId7"/>
    <p:sldLayoutId id="2147483693" r:id="rId8"/>
    <p:sldLayoutId id="2147483694" r:id="rId9"/>
    <p:sldLayoutId id="2147483695" r:id="rId10"/>
    <p:sldLayoutId id="2147483696" r:id="rId11"/>
    <p:sldLayoutId id="2147483698" r:id="rId12"/>
  </p:sldLayoutIdLst>
  <p:txStyles>
    <p:titleStyle>
      <a:lvl1pPr algn="ctr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+mj-lt"/>
          <a:ea typeface="+mj-ea"/>
          <a:cs typeface="+mj-cs"/>
        </a:defRPr>
      </a:lvl1pPr>
      <a:lvl2pPr algn="ctr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Verdana" panose="020B0604030504040204" pitchFamily="34" charset="0"/>
          <a:ea typeface="宋体" panose="02010600030101010101" pitchFamily="2" charset="-122"/>
        </a:defRPr>
      </a:lvl2pPr>
      <a:lvl3pPr algn="ctr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Verdana" panose="020B0604030504040204" pitchFamily="34" charset="0"/>
          <a:ea typeface="宋体" panose="02010600030101010101" pitchFamily="2" charset="-122"/>
        </a:defRPr>
      </a:lvl3pPr>
      <a:lvl4pPr algn="ctr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Verdana" panose="020B0604030504040204" pitchFamily="34" charset="0"/>
          <a:ea typeface="宋体" panose="02010600030101010101" pitchFamily="2" charset="-122"/>
        </a:defRPr>
      </a:lvl4pPr>
      <a:lvl5pPr algn="ctr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Verdana" panose="020B0604030504040204" pitchFamily="34" charset="0"/>
          <a:ea typeface="宋体" panose="02010600030101010101" pitchFamily="2" charset="-122"/>
        </a:defRPr>
      </a:lvl5pPr>
      <a:lvl6pPr marL="457200" algn="ctr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Verdana" panose="020B0604030504040204" pitchFamily="34" charset="0"/>
          <a:ea typeface="宋体" panose="02010600030101010101" pitchFamily="2" charset="-122"/>
        </a:defRPr>
      </a:lvl6pPr>
      <a:lvl7pPr marL="914400" algn="ctr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Verdana" panose="020B0604030504040204" pitchFamily="34" charset="0"/>
          <a:ea typeface="宋体" panose="02010600030101010101" pitchFamily="2" charset="-122"/>
        </a:defRPr>
      </a:lvl7pPr>
      <a:lvl8pPr marL="1371600" algn="ctr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Verdana" panose="020B0604030504040204" pitchFamily="34" charset="0"/>
          <a:ea typeface="宋体" panose="02010600030101010101" pitchFamily="2" charset="-122"/>
        </a:defRPr>
      </a:lvl8pPr>
      <a:lvl9pPr marL="1828800" algn="ctr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Verdana" panose="020B0604030504040204" pitchFamily="34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97946E0-CA46-4B8B-8883-D846F0883E3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75581" y="1916832"/>
            <a:ext cx="6192838" cy="1397000"/>
          </a:xfrm>
        </p:spPr>
        <p:txBody>
          <a:bodyPr/>
          <a:lstStyle/>
          <a:p>
            <a:pPr>
              <a:defRPr/>
            </a:pPr>
            <a:r>
              <a:rPr lang="zh-CN" altLang="en-US" sz="6000" dirty="0"/>
              <a:t>元组和集合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1"/>
          <p:cNvSpPr/>
          <p:nvPr/>
        </p:nvSpPr>
        <p:spPr>
          <a:xfrm>
            <a:off x="2245463" y="2996952"/>
            <a:ext cx="4665345" cy="1477328"/>
          </a:xfrm>
          <a:prstGeom prst="rect">
            <a:avLst/>
          </a:prstGeom>
          <a:solidFill>
            <a:srgbClr val="FFFFFF"/>
          </a:solidFill>
          <a:ln w="9525">
            <a:noFill/>
          </a:ln>
        </p:spPr>
        <p:txBody>
          <a:bodyPr wrap="square" anchor="ctr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indent="0">
              <a:spcBef>
                <a:spcPct val="0"/>
              </a:spcBef>
              <a:buNone/>
            </a:pPr>
            <a:r>
              <a:rPr lang="zh-CN" altLang="zh-CN" sz="1800" dirty="0">
                <a:solidFill>
                  <a:srgbClr val="000000"/>
                </a:solidFill>
                <a:latin typeface="宋体" panose="02010600030101010101" pitchFamily="2" charset="-122"/>
              </a:rPr>
              <a:t>point = (</a:t>
            </a:r>
            <a:r>
              <a:rPr lang="zh-CN" altLang="zh-CN" sz="1800" dirty="0">
                <a:solidFill>
                  <a:srgbClr val="0000FF"/>
                </a:solidFill>
                <a:latin typeface="宋体" panose="02010600030101010101" pitchFamily="2" charset="-122"/>
              </a:rPr>
              <a:t>220</a:t>
            </a:r>
            <a:r>
              <a:rPr lang="zh-CN" altLang="zh-CN" sz="1800" dirty="0">
                <a:solidFill>
                  <a:srgbClr val="000000"/>
                </a:solidFill>
                <a:latin typeface="宋体" panose="02010600030101010101" pitchFamily="2" charset="-122"/>
              </a:rPr>
              <a:t>,</a:t>
            </a:r>
            <a:r>
              <a:rPr lang="zh-CN" altLang="zh-CN" sz="1800" dirty="0">
                <a:solidFill>
                  <a:srgbClr val="0000FF"/>
                </a:solidFill>
                <a:latin typeface="宋体" panose="02010600030101010101" pitchFamily="2" charset="-122"/>
              </a:rPr>
              <a:t>320</a:t>
            </a:r>
            <a:r>
              <a:rPr lang="zh-CN" altLang="zh-CN" sz="1800" dirty="0">
                <a:solidFill>
                  <a:srgbClr val="000000"/>
                </a:solidFill>
                <a:latin typeface="宋体" panose="02010600030101010101" pitchFamily="2" charset="-122"/>
              </a:rPr>
              <a:t>)</a:t>
            </a:r>
            <a:br>
              <a:rPr lang="zh-CN" altLang="zh-CN" sz="1800" dirty="0">
                <a:solidFill>
                  <a:srgbClr val="000000"/>
                </a:solidFill>
                <a:latin typeface="宋体" panose="02010600030101010101" pitchFamily="2" charset="-122"/>
              </a:rPr>
            </a:br>
            <a:r>
              <a:rPr lang="zh-CN" altLang="zh-CN" sz="1800" dirty="0">
                <a:solidFill>
                  <a:srgbClr val="000080"/>
                </a:solidFill>
                <a:latin typeface="宋体" panose="02010600030101010101" pitchFamily="2" charset="-122"/>
              </a:rPr>
              <a:t>print</a:t>
            </a:r>
            <a:r>
              <a:rPr lang="zh-CN" altLang="zh-CN" sz="1800" dirty="0">
                <a:solidFill>
                  <a:srgbClr val="000000"/>
                </a:solidFill>
                <a:latin typeface="宋体" panose="02010600030101010101" pitchFamily="2" charset="-122"/>
              </a:rPr>
              <a:t>(point[</a:t>
            </a:r>
            <a:r>
              <a:rPr lang="zh-CN" altLang="zh-CN" sz="1800" dirty="0">
                <a:solidFill>
                  <a:srgbClr val="0000FF"/>
                </a:solidFill>
                <a:latin typeface="宋体" panose="02010600030101010101" pitchFamily="2" charset="-122"/>
              </a:rPr>
              <a:t>0</a:t>
            </a:r>
            <a:r>
              <a:rPr lang="zh-CN" altLang="zh-CN" sz="1800" dirty="0">
                <a:solidFill>
                  <a:srgbClr val="000000"/>
                </a:solidFill>
                <a:latin typeface="宋体" panose="02010600030101010101" pitchFamily="2" charset="-122"/>
              </a:rPr>
              <a:t>])</a:t>
            </a:r>
            <a:br>
              <a:rPr lang="zh-CN" altLang="zh-CN" sz="1800" dirty="0">
                <a:solidFill>
                  <a:srgbClr val="000000"/>
                </a:solidFill>
                <a:latin typeface="宋体" panose="02010600030101010101" pitchFamily="2" charset="-122"/>
              </a:rPr>
            </a:br>
            <a:r>
              <a:rPr lang="zh-CN" altLang="zh-CN" sz="1800" dirty="0">
                <a:solidFill>
                  <a:srgbClr val="000000"/>
                </a:solidFill>
                <a:latin typeface="宋体" panose="02010600030101010101" pitchFamily="2" charset="-122"/>
              </a:rPr>
              <a:t>point[</a:t>
            </a:r>
            <a:r>
              <a:rPr lang="zh-CN" altLang="zh-CN" sz="1800" dirty="0">
                <a:solidFill>
                  <a:srgbClr val="0000FF"/>
                </a:solidFill>
                <a:latin typeface="宋体" panose="02010600030101010101" pitchFamily="2" charset="-122"/>
              </a:rPr>
              <a:t>0</a:t>
            </a:r>
            <a:r>
              <a:rPr lang="zh-CN" altLang="zh-CN" sz="1800" dirty="0">
                <a:solidFill>
                  <a:srgbClr val="000000"/>
                </a:solidFill>
                <a:latin typeface="宋体" panose="02010600030101010101" pitchFamily="2" charset="-122"/>
              </a:rPr>
              <a:t>] = </a:t>
            </a:r>
            <a:r>
              <a:rPr lang="zh-CN" altLang="zh-CN" sz="1800" dirty="0">
                <a:solidFill>
                  <a:srgbClr val="0000FF"/>
                </a:solidFill>
                <a:latin typeface="宋体" panose="02010600030101010101" pitchFamily="2" charset="-122"/>
              </a:rPr>
              <a:t>550      </a:t>
            </a:r>
            <a:r>
              <a:rPr lang="zh-CN" altLang="zh-CN" sz="1800" i="1" dirty="0">
                <a:solidFill>
                  <a:srgbClr val="808080"/>
                </a:solidFill>
                <a:latin typeface="宋体" panose="02010600030101010101" pitchFamily="2" charset="-122"/>
              </a:rPr>
              <a:t>#WRONG, read only.</a:t>
            </a:r>
            <a:br>
              <a:rPr lang="zh-CN" altLang="zh-CN" sz="1800" i="1" dirty="0">
                <a:solidFill>
                  <a:srgbClr val="808080"/>
                </a:solidFill>
                <a:latin typeface="宋体" panose="02010600030101010101" pitchFamily="2" charset="-122"/>
              </a:rPr>
            </a:br>
            <a:r>
              <a:rPr lang="zh-CN" altLang="zh-CN" sz="1800" b="1" dirty="0">
                <a:solidFill>
                  <a:srgbClr val="000080"/>
                </a:solidFill>
                <a:latin typeface="宋体" panose="02010600030101010101" pitchFamily="2" charset="-122"/>
              </a:rPr>
              <a:t>for </a:t>
            </a:r>
            <a:r>
              <a:rPr lang="zh-CN" altLang="zh-CN" sz="1800" dirty="0">
                <a:solidFill>
                  <a:srgbClr val="000000"/>
                </a:solidFill>
                <a:latin typeface="宋体" panose="02010600030101010101" pitchFamily="2" charset="-122"/>
              </a:rPr>
              <a:t>x </a:t>
            </a:r>
            <a:r>
              <a:rPr lang="zh-CN" altLang="zh-CN" sz="1800" b="1" dirty="0">
                <a:solidFill>
                  <a:srgbClr val="000080"/>
                </a:solidFill>
                <a:latin typeface="宋体" panose="02010600030101010101" pitchFamily="2" charset="-122"/>
              </a:rPr>
              <a:t>in </a:t>
            </a:r>
            <a:r>
              <a:rPr lang="zh-CN" altLang="zh-CN" sz="1800" dirty="0">
                <a:solidFill>
                  <a:srgbClr val="000000"/>
                </a:solidFill>
                <a:latin typeface="宋体" panose="02010600030101010101" pitchFamily="2" charset="-122"/>
              </a:rPr>
              <a:t>point:</a:t>
            </a:r>
            <a:br>
              <a:rPr lang="zh-CN" altLang="zh-CN" sz="1800" dirty="0">
                <a:solidFill>
                  <a:srgbClr val="000000"/>
                </a:solidFill>
                <a:latin typeface="宋体" panose="02010600030101010101" pitchFamily="2" charset="-122"/>
              </a:rPr>
            </a:br>
            <a:r>
              <a:rPr lang="zh-CN" altLang="zh-CN" sz="1800" dirty="0">
                <a:solidFill>
                  <a:srgbClr val="000000"/>
                </a:solidFill>
                <a:latin typeface="宋体" panose="02010600030101010101" pitchFamily="2" charset="-122"/>
              </a:rPr>
              <a:t>    </a:t>
            </a:r>
            <a:r>
              <a:rPr lang="zh-CN" altLang="zh-CN" sz="1800" dirty="0">
                <a:solidFill>
                  <a:srgbClr val="000080"/>
                </a:solidFill>
                <a:latin typeface="宋体" panose="02010600030101010101" pitchFamily="2" charset="-122"/>
              </a:rPr>
              <a:t>print</a:t>
            </a:r>
            <a:r>
              <a:rPr lang="zh-CN" altLang="zh-CN" sz="1800" dirty="0">
                <a:solidFill>
                  <a:srgbClr val="000000"/>
                </a:solidFill>
                <a:latin typeface="宋体" panose="02010600030101010101" pitchFamily="2" charset="-122"/>
              </a:rPr>
              <a:t>(x)</a:t>
            </a:r>
            <a:endParaRPr lang="zh-CN" altLang="zh-CN" sz="4050" dirty="0">
              <a:latin typeface="Arial" panose="020B0604020202020204" pitchFamily="34" charset="0"/>
            </a:endParaRPr>
          </a:p>
        </p:txBody>
      </p:sp>
      <p:sp>
        <p:nvSpPr>
          <p:cNvPr id="5" name="内容占位符 2"/>
          <p:cNvSpPr txBox="1"/>
          <p:nvPr/>
        </p:nvSpPr>
        <p:spPr>
          <a:xfrm>
            <a:off x="1600200" y="3501397"/>
            <a:ext cx="3186113" cy="1753791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257175" indent="539591" defTabSz="685800">
              <a:spcBef>
                <a:spcPct val="0"/>
              </a:spcBef>
              <a:buNone/>
              <a:defRPr/>
            </a:pPr>
            <a:br>
              <a:rPr lang="en-US" altLang="zh-CN" sz="1650" kern="0" dirty="0">
                <a:latin typeface="Arial Unicode MS" pitchFamily="34" charset="-122"/>
                <a:ea typeface="Arial Unicode MS" pitchFamily="34" charset="-122"/>
                <a:cs typeface="Arial Unicode MS" pitchFamily="34" charset="-122"/>
              </a:rPr>
            </a:br>
            <a:br>
              <a:rPr lang="en-US" altLang="zh-CN" sz="1650" kern="0" dirty="0">
                <a:latin typeface="Arial Unicode MS" pitchFamily="34" charset="-122"/>
                <a:ea typeface="Arial Unicode MS" pitchFamily="34" charset="-122"/>
                <a:cs typeface="Arial Unicode MS" pitchFamily="34" charset="-122"/>
              </a:rPr>
            </a:br>
            <a:endParaRPr lang="zh-CN" altLang="en-US" sz="1650" kern="0" dirty="0"/>
          </a:p>
          <a:p>
            <a:pPr marL="257175" indent="539591" defTabSz="685800">
              <a:spcBef>
                <a:spcPct val="0"/>
              </a:spcBef>
              <a:buNone/>
              <a:defRPr/>
            </a:pPr>
            <a:endParaRPr lang="zh-CN" altLang="en-US" sz="1650" kern="0" dirty="0"/>
          </a:p>
        </p:txBody>
      </p:sp>
      <p:sp>
        <p:nvSpPr>
          <p:cNvPr id="30724" name="矩形 5"/>
          <p:cNvSpPr/>
          <p:nvPr/>
        </p:nvSpPr>
        <p:spPr>
          <a:xfrm>
            <a:off x="2247899" y="4653758"/>
            <a:ext cx="1890713" cy="203132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indent="0" eaLnBrk="1" hangingPunct="1">
              <a:spcBef>
                <a:spcPct val="0"/>
              </a:spcBef>
              <a:buNone/>
            </a:pPr>
            <a:r>
              <a:rPr lang="fr-FR" altLang="zh-CN" sz="1800" dirty="0"/>
              <a:t>pair = (3,5)</a:t>
            </a:r>
          </a:p>
          <a:p>
            <a:pPr marL="0" indent="0" eaLnBrk="1" hangingPunct="1">
              <a:spcBef>
                <a:spcPct val="0"/>
              </a:spcBef>
              <a:buNone/>
            </a:pPr>
            <a:r>
              <a:rPr lang="fr-FR" altLang="zh-CN" sz="1800" dirty="0"/>
              <a:t>print(pair[0])</a:t>
            </a:r>
          </a:p>
          <a:p>
            <a:pPr marL="0" indent="0" eaLnBrk="1" hangingPunct="1">
              <a:spcBef>
                <a:spcPct val="0"/>
              </a:spcBef>
              <a:buNone/>
            </a:pPr>
            <a:r>
              <a:rPr lang="fr-FR" altLang="zh-CN" sz="1800" dirty="0"/>
              <a:t>x,y=pair</a:t>
            </a:r>
          </a:p>
          <a:p>
            <a:pPr marL="0" indent="0" eaLnBrk="1" hangingPunct="1">
              <a:spcBef>
                <a:spcPct val="0"/>
              </a:spcBef>
              <a:buNone/>
            </a:pPr>
            <a:r>
              <a:rPr lang="fr-FR" altLang="zh-CN" sz="1800" dirty="0"/>
              <a:t>print(x)</a:t>
            </a:r>
          </a:p>
          <a:p>
            <a:pPr marL="0" indent="0" eaLnBrk="1" hangingPunct="1">
              <a:spcBef>
                <a:spcPct val="0"/>
              </a:spcBef>
              <a:buNone/>
            </a:pPr>
            <a:r>
              <a:rPr lang="fr-FR" altLang="zh-CN" sz="1800" dirty="0"/>
              <a:t>print(y)</a:t>
            </a:r>
          </a:p>
          <a:p>
            <a:pPr marL="0" indent="0" eaLnBrk="1" hangingPunct="1">
              <a:spcBef>
                <a:spcPct val="0"/>
              </a:spcBef>
              <a:buNone/>
            </a:pPr>
            <a:r>
              <a:rPr lang="fr-FR" altLang="zh-CN" sz="1800" dirty="0"/>
              <a:t>pair= (7,9)</a:t>
            </a:r>
          </a:p>
          <a:p>
            <a:pPr marL="0" indent="0" eaLnBrk="1" hangingPunct="1">
              <a:spcBef>
                <a:spcPct val="0"/>
              </a:spcBef>
              <a:buNone/>
            </a:pPr>
            <a:r>
              <a:rPr lang="fr-FR" altLang="zh-CN" sz="1800" dirty="0"/>
              <a:t>print(pair)</a:t>
            </a:r>
          </a:p>
        </p:txBody>
      </p:sp>
      <p:pic>
        <p:nvPicPr>
          <p:cNvPr id="30725" name="Picture 2"/>
          <p:cNvPicPr>
            <a:picLocks noChangeAspect="1"/>
          </p:cNvPicPr>
          <p:nvPr/>
        </p:nvPicPr>
        <p:blipFill>
          <a:blip r:embed="rId2"/>
          <a:srcRect t="37106" r="79803" b="51956"/>
          <a:stretch>
            <a:fillRect/>
          </a:stretch>
        </p:blipFill>
        <p:spPr>
          <a:xfrm>
            <a:off x="5005390" y="4852952"/>
            <a:ext cx="2270522" cy="1440656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" name="标题 1"/>
          <p:cNvSpPr>
            <a:spLocks noGrp="1"/>
          </p:cNvSpPr>
          <p:nvPr/>
        </p:nvSpPr>
        <p:spPr>
          <a:xfrm>
            <a:off x="1331639" y="172917"/>
            <a:ext cx="6182916" cy="766763"/>
          </a:xfrm>
        </p:spPr>
        <p:txBody>
          <a:bodyPr vert="horz" wrap="square" lIns="68580" tIns="34290" rIns="68580" bIns="34290" numCol="1" rtlCol="0" anchor="b" anchorCtr="0" compatLnSpc="1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1" kern="1200" cap="all" spc="-150" baseline="0">
                <a:solidFill>
                  <a:schemeClr val="tx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+mj-cs"/>
              </a:defRPr>
            </a:lvl1pPr>
          </a:lstStyle>
          <a:p>
            <a:pPr algn="ctr" defTabSz="685800" eaLnBrk="0" hangingPunct="0">
              <a:defRPr/>
            </a:pPr>
            <a:r>
              <a:rPr lang="zh-CN" altLang="en-US" sz="3300" b="0" kern="0" cap="none" spc="0" dirty="0">
                <a:solidFill>
                  <a:srgbClr val="99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j-lt"/>
                <a:ea typeface="+mj-ea"/>
              </a:rPr>
              <a:t>元组 </a:t>
            </a:r>
            <a:r>
              <a:rPr lang="en-US" altLang="zh-CN" sz="3300" b="0" kern="0" cap="none" spc="0" dirty="0">
                <a:solidFill>
                  <a:srgbClr val="99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j-lt"/>
                <a:ea typeface="+mj-ea"/>
              </a:rPr>
              <a:t>tuple</a:t>
            </a:r>
            <a:endParaRPr lang="zh-CN" altLang="en-US" sz="3300" b="0" kern="0" cap="none" spc="0" dirty="0">
              <a:solidFill>
                <a:schemeClr val="tx2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+mj-lt"/>
              <a:ea typeface="+mj-ea"/>
            </a:endParaRPr>
          </a:p>
        </p:txBody>
      </p:sp>
      <p:sp>
        <p:nvSpPr>
          <p:cNvPr id="30723" name="内容占位符 2"/>
          <p:cNvSpPr>
            <a:spLocks noGrp="1"/>
          </p:cNvSpPr>
          <p:nvPr/>
        </p:nvSpPr>
        <p:spPr>
          <a:xfrm>
            <a:off x="1163844" y="899646"/>
            <a:ext cx="7244938" cy="919703"/>
          </a:xfrm>
        </p:spPr>
        <p:txBody>
          <a:bodyPr vert="horz" wrap="square" lIns="68580" tIns="34290" rIns="68580" bIns="34290" rtlCol="0" anchor="t"/>
          <a:lstStyle>
            <a:lvl1pPr marL="266700" indent="-2667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+mn-cs"/>
              </a:defRPr>
            </a:lvl1pPr>
            <a:lvl2pPr marL="542925" indent="-27622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+mn-cs"/>
              </a:defRPr>
            </a:lvl2pPr>
            <a:lvl3pPr marL="809625" indent="-2667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+mn-cs"/>
              </a:defRPr>
            </a:lvl3pPr>
            <a:lvl4pPr marL="1076325" indent="-2667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+mn-cs"/>
              </a:defRPr>
            </a:lvl4pPr>
            <a:lvl5pPr marL="1343025" indent="-2667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zh-CN" altLang="en-US" sz="2000" dirty="0"/>
              <a:t>     列表是用于存储在程序运行期间可能变化的数据集。元组</a:t>
            </a:r>
            <a:r>
              <a:rPr lang="en-US" altLang="zh-CN" sz="2000" dirty="0"/>
              <a:t>tuple</a:t>
            </a:r>
            <a:r>
              <a:rPr lang="zh-CN" altLang="en-US" sz="2000" dirty="0"/>
              <a:t>是和列表</a:t>
            </a:r>
            <a:r>
              <a:rPr lang="en-US" altLang="zh-CN" sz="2000" dirty="0"/>
              <a:t>list</a:t>
            </a:r>
            <a:r>
              <a:rPr lang="zh-CN" altLang="en-US" sz="2000" dirty="0"/>
              <a:t>类似的</a:t>
            </a:r>
            <a:r>
              <a:rPr lang="en-US" altLang="zh-CN" sz="2000" dirty="0"/>
              <a:t>Python</a:t>
            </a:r>
            <a:r>
              <a:rPr lang="zh-CN" altLang="en-US" sz="2000" dirty="0"/>
              <a:t>内建数据结构，只不过元组一旦创建，就不可改变；另外元组用圆括号（），而列表用方括号[]。元组一旦创建就不能改变。列表大部分操作同样适用于元组。</a:t>
            </a:r>
            <a:endParaRPr lang="en-US" altLang="zh-CN" sz="2000" dirty="0"/>
          </a:p>
          <a:p>
            <a:pPr marL="0" indent="0">
              <a:lnSpc>
                <a:spcPct val="150000"/>
              </a:lnSpc>
              <a:buNone/>
            </a:pPr>
            <a:endParaRPr lang="zh-CN" altLang="en-US" sz="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724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/>
        </p:nvSpPr>
        <p:spPr>
          <a:xfrm>
            <a:off x="1475656" y="289679"/>
            <a:ext cx="7048884" cy="3139321"/>
          </a:xfrm>
          <a:prstGeom prst="rect">
            <a:avLst/>
          </a:prstGeom>
          <a:noFill/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altLang="zh-CN" dirty="0">
                <a:solidFill>
                  <a:srgbClr val="008000"/>
                </a:solidFill>
                <a:latin typeface="Consolas" panose="020B0609020204030204" pitchFamily="49" charset="0"/>
              </a:rPr>
              <a:t>#tuple.py</a:t>
            </a:r>
            <a:endParaRPr lang="en-US" altLang="zh-CN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patient = (</a:t>
            </a:r>
            <a:r>
              <a:rPr lang="en-US" altLang="zh-CN" dirty="0">
                <a:solidFill>
                  <a:srgbClr val="A31515"/>
                </a:solidFill>
                <a:latin typeface="Consolas" panose="020B0609020204030204" pitchFamily="49" charset="0"/>
              </a:rPr>
              <a:t>'2012011'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altLang="zh-CN" dirty="0">
                <a:solidFill>
                  <a:srgbClr val="A31515"/>
                </a:solidFill>
                <a:latin typeface="Consolas" panose="020B0609020204030204" pitchFamily="49" charset="0"/>
              </a:rPr>
              <a:t>'Eric Zhang'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altLang="zh-CN" dirty="0">
                <a:solidFill>
                  <a:srgbClr val="A31515"/>
                </a:solidFill>
                <a:latin typeface="Consolas" panose="020B0609020204030204" pitchFamily="49" charset="0"/>
              </a:rPr>
              <a:t>'male'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altLang="zh-CN" dirty="0">
                <a:solidFill>
                  <a:srgbClr val="09885A"/>
                </a:solidFill>
                <a:latin typeface="Consolas" panose="020B0609020204030204" pitchFamily="49" charset="0"/>
              </a:rPr>
              <a:t>77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altLang="zh-CN" dirty="0">
                <a:solidFill>
                  <a:srgbClr val="0000FF"/>
                </a:solidFill>
                <a:latin typeface="Consolas" panose="020B0609020204030204" pitchFamily="49" charset="0"/>
              </a:rPr>
              <a:t>True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, (</a:t>
            </a:r>
            <a:r>
              <a:rPr lang="en-US" altLang="zh-CN" dirty="0">
                <a:solidFill>
                  <a:srgbClr val="09885A"/>
                </a:solidFill>
                <a:latin typeface="Consolas" panose="020B0609020204030204" pitchFamily="49" charset="0"/>
              </a:rPr>
              <a:t>67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,</a:t>
            </a:r>
            <a:r>
              <a:rPr lang="en-US" altLang="zh-CN" dirty="0">
                <a:solidFill>
                  <a:srgbClr val="09885A"/>
                </a:solidFill>
                <a:latin typeface="Consolas" panose="020B0609020204030204" pitchFamily="49" charset="0"/>
              </a:rPr>
              <a:t>22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,</a:t>
            </a:r>
            <a:r>
              <a:rPr lang="en-US" altLang="zh-CN" dirty="0">
                <a:solidFill>
                  <a:srgbClr val="09885A"/>
                </a:solidFill>
                <a:latin typeface="Consolas" panose="020B0609020204030204" pitchFamily="49" charset="0"/>
              </a:rPr>
              <a:t>78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))</a:t>
            </a:r>
          </a:p>
          <a:p>
            <a:r>
              <a:rPr lang="en-US" altLang="zh-CN" dirty="0">
                <a:solidFill>
                  <a:srgbClr val="795E26"/>
                </a:solidFill>
                <a:latin typeface="Consolas" panose="020B0609020204030204" pitchFamily="49" charset="0"/>
              </a:rPr>
              <a:t>print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altLang="zh-CN" dirty="0">
                <a:solidFill>
                  <a:srgbClr val="267F99"/>
                </a:solidFill>
                <a:latin typeface="Consolas" panose="020B0609020204030204" pitchFamily="49" charset="0"/>
              </a:rPr>
              <a:t>type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(patient), patient)</a:t>
            </a:r>
          </a:p>
          <a:p>
            <a:r>
              <a:rPr lang="en-US" altLang="zh-CN" dirty="0">
                <a:solidFill>
                  <a:srgbClr val="795E26"/>
                </a:solidFill>
                <a:latin typeface="Consolas" panose="020B0609020204030204" pitchFamily="49" charset="0"/>
              </a:rPr>
              <a:t>print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altLang="zh-CN" dirty="0">
                <a:solidFill>
                  <a:srgbClr val="795E26"/>
                </a:solidFill>
                <a:latin typeface="Consolas" panose="020B0609020204030204" pitchFamily="49" charset="0"/>
              </a:rPr>
              <a:t>len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(patient))</a:t>
            </a:r>
          </a:p>
          <a:p>
            <a:r>
              <a:rPr lang="en-US" altLang="zh-CN" dirty="0">
                <a:solidFill>
                  <a:srgbClr val="795E26"/>
                </a:solidFill>
                <a:latin typeface="Consolas" panose="020B0609020204030204" pitchFamily="49" charset="0"/>
              </a:rPr>
              <a:t>print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(patient[</a:t>
            </a:r>
            <a:r>
              <a:rPr lang="en-US" altLang="zh-CN" dirty="0">
                <a:solidFill>
                  <a:srgbClr val="09885A"/>
                </a:solidFill>
                <a:latin typeface="Consolas" panose="020B0609020204030204" pitchFamily="49" charset="0"/>
              </a:rPr>
              <a:t>1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:</a:t>
            </a:r>
            <a:r>
              <a:rPr lang="en-US" altLang="zh-CN" dirty="0">
                <a:solidFill>
                  <a:srgbClr val="09885A"/>
                </a:solidFill>
                <a:latin typeface="Consolas" panose="020B0609020204030204" pitchFamily="49" charset="0"/>
              </a:rPr>
              <a:t>4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])</a:t>
            </a:r>
          </a:p>
          <a:p>
            <a:r>
              <a:rPr lang="en-US" altLang="zh-CN" dirty="0">
                <a:solidFill>
                  <a:srgbClr val="795E26"/>
                </a:solidFill>
                <a:latin typeface="Consolas" panose="020B0609020204030204" pitchFamily="49" charset="0"/>
              </a:rPr>
              <a:t>print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(patient.count(</a:t>
            </a:r>
            <a:r>
              <a:rPr lang="en-US" altLang="zh-CN" dirty="0">
                <a:solidFill>
                  <a:srgbClr val="0000FF"/>
                </a:solidFill>
                <a:latin typeface="Consolas" panose="020B0609020204030204" pitchFamily="49" charset="0"/>
              </a:rPr>
              <a:t>True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))</a:t>
            </a:r>
          </a:p>
          <a:p>
            <a:r>
              <a:rPr lang="en-US" altLang="zh-CN" dirty="0">
                <a:solidFill>
                  <a:srgbClr val="795E26"/>
                </a:solidFill>
                <a:latin typeface="Consolas" panose="020B0609020204030204" pitchFamily="49" charset="0"/>
              </a:rPr>
              <a:t>print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altLang="zh-CN" dirty="0">
                <a:solidFill>
                  <a:srgbClr val="0000FF"/>
                </a:solidFill>
                <a:latin typeface="Consolas" panose="020B0609020204030204" pitchFamily="49" charset="0"/>
              </a:rPr>
              <a:t>True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altLang="zh-CN" dirty="0">
                <a:solidFill>
                  <a:srgbClr val="AF00DB"/>
                </a:solidFill>
                <a:latin typeface="Consolas" panose="020B0609020204030204" pitchFamily="49" charset="0"/>
              </a:rPr>
              <a:t>in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 patient)</a:t>
            </a:r>
          </a:p>
          <a:p>
            <a:r>
              <a:rPr lang="en-US" altLang="zh-CN" dirty="0">
                <a:solidFill>
                  <a:srgbClr val="795E26"/>
                </a:solidFill>
                <a:latin typeface="Consolas" panose="020B0609020204030204" pitchFamily="49" charset="0"/>
              </a:rPr>
              <a:t>print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altLang="zh-CN" dirty="0">
                <a:solidFill>
                  <a:srgbClr val="795E26"/>
                </a:solidFill>
                <a:latin typeface="Consolas" panose="020B0609020204030204" pitchFamily="49" charset="0"/>
              </a:rPr>
              <a:t>max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((</a:t>
            </a:r>
            <a:r>
              <a:rPr lang="en-US" altLang="zh-CN" dirty="0">
                <a:solidFill>
                  <a:srgbClr val="09885A"/>
                </a:solidFill>
                <a:latin typeface="Consolas" panose="020B0609020204030204" pitchFamily="49" charset="0"/>
              </a:rPr>
              <a:t>1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,</a:t>
            </a:r>
            <a:r>
              <a:rPr lang="en-US" altLang="zh-CN" dirty="0">
                <a:solidFill>
                  <a:srgbClr val="09885A"/>
                </a:solidFill>
                <a:latin typeface="Consolas" panose="020B0609020204030204" pitchFamily="49" charset="0"/>
              </a:rPr>
              <a:t>3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,</a:t>
            </a:r>
            <a:r>
              <a:rPr lang="en-US" altLang="zh-CN" dirty="0">
                <a:solidFill>
                  <a:srgbClr val="09885A"/>
                </a:solidFill>
                <a:latin typeface="Consolas" panose="020B0609020204030204" pitchFamily="49" charset="0"/>
              </a:rPr>
              <a:t>5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)))</a:t>
            </a:r>
          </a:p>
          <a:p>
            <a:r>
              <a:rPr lang="en-US" altLang="zh-CN" dirty="0">
                <a:solidFill>
                  <a:srgbClr val="795E26"/>
                </a:solidFill>
                <a:latin typeface="Consolas" panose="020B0609020204030204" pitchFamily="49" charset="0"/>
              </a:rPr>
              <a:t>print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((</a:t>
            </a:r>
            <a:r>
              <a:rPr lang="en-US" altLang="zh-CN" dirty="0">
                <a:solidFill>
                  <a:srgbClr val="09885A"/>
                </a:solidFill>
                <a:latin typeface="Consolas" panose="020B0609020204030204" pitchFamily="49" charset="0"/>
              </a:rPr>
              <a:t>1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,</a:t>
            </a:r>
            <a:r>
              <a:rPr lang="en-US" altLang="zh-CN" dirty="0">
                <a:solidFill>
                  <a:srgbClr val="09885A"/>
                </a:solidFill>
                <a:latin typeface="Consolas" panose="020B0609020204030204" pitchFamily="49" charset="0"/>
              </a:rPr>
              <a:t>2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) + (</a:t>
            </a:r>
            <a:r>
              <a:rPr lang="en-US" altLang="zh-CN" dirty="0">
                <a:solidFill>
                  <a:srgbClr val="09885A"/>
                </a:solidFill>
                <a:latin typeface="Consolas" panose="020B0609020204030204" pitchFamily="49" charset="0"/>
              </a:rPr>
              <a:t>2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,</a:t>
            </a:r>
            <a:r>
              <a:rPr lang="en-US" altLang="zh-CN" dirty="0">
                <a:solidFill>
                  <a:srgbClr val="09885A"/>
                </a:solidFill>
                <a:latin typeface="Consolas" panose="020B0609020204030204" pitchFamily="49" charset="0"/>
              </a:rPr>
              <a:t>3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) + (</a:t>
            </a:r>
            <a:r>
              <a:rPr lang="en-US" altLang="zh-CN" dirty="0">
                <a:solidFill>
                  <a:srgbClr val="09885A"/>
                </a:solidFill>
                <a:latin typeface="Consolas" panose="020B0609020204030204" pitchFamily="49" charset="0"/>
              </a:rPr>
              <a:t>4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,))</a:t>
            </a:r>
          </a:p>
          <a:p>
            <a:r>
              <a:rPr lang="en-US" altLang="zh-CN" dirty="0">
                <a:solidFill>
                  <a:srgbClr val="795E26"/>
                </a:solidFill>
                <a:latin typeface="Consolas" panose="020B0609020204030204" pitchFamily="49" charset="0"/>
              </a:rPr>
              <a:t>print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((</a:t>
            </a:r>
            <a:r>
              <a:rPr lang="en-US" altLang="zh-CN" dirty="0">
                <a:solidFill>
                  <a:srgbClr val="09885A"/>
                </a:solidFill>
                <a:latin typeface="Consolas" panose="020B0609020204030204" pitchFamily="49" charset="0"/>
              </a:rPr>
              <a:t>1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,</a:t>
            </a:r>
            <a:r>
              <a:rPr lang="en-US" altLang="zh-CN" dirty="0">
                <a:solidFill>
                  <a:srgbClr val="09885A"/>
                </a:solidFill>
                <a:latin typeface="Consolas" panose="020B0609020204030204" pitchFamily="49" charset="0"/>
              </a:rPr>
              <a:t>2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) * </a:t>
            </a:r>
            <a:r>
              <a:rPr lang="en-US" altLang="zh-CN" dirty="0">
                <a:solidFill>
                  <a:srgbClr val="09885A"/>
                </a:solidFill>
                <a:latin typeface="Consolas" panose="020B0609020204030204" pitchFamily="49" charset="0"/>
              </a:rPr>
              <a:t>5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</p:txBody>
      </p:sp>
      <p:sp>
        <p:nvSpPr>
          <p:cNvPr id="15" name="矩形 14"/>
          <p:cNvSpPr/>
          <p:nvPr/>
        </p:nvSpPr>
        <p:spPr>
          <a:xfrm>
            <a:off x="1475656" y="3717032"/>
            <a:ext cx="7048884" cy="2585323"/>
          </a:xfrm>
          <a:prstGeom prst="rect">
            <a:avLst/>
          </a:prstGeom>
          <a:noFill/>
          <a:ln w="12700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zh-CN" altLang="en-US" dirty="0">
                <a:latin typeface="Consolas" panose="020B0609020204030204" pitchFamily="49" charset="0"/>
                <a:ea typeface="阿里巴巴普惠体 R" panose="00020600040101010101" pitchFamily="18" charset="-122"/>
                <a:cs typeface="阿里巴巴普惠体 R" panose="00020600040101010101" pitchFamily="18" charset="-122"/>
              </a:rPr>
              <a:t>&lt;class 'tuple'&gt; ('2012011', 'Eric Zhang', 'male', 77, True, (67, 22, 78))</a:t>
            </a:r>
          </a:p>
          <a:p>
            <a:r>
              <a:rPr lang="zh-CN" altLang="en-US" dirty="0">
                <a:latin typeface="Consolas" panose="020B0609020204030204" pitchFamily="49" charset="0"/>
                <a:ea typeface="阿里巴巴普惠体 R" panose="00020600040101010101" pitchFamily="18" charset="-122"/>
                <a:cs typeface="阿里巴巴普惠体 R" panose="00020600040101010101" pitchFamily="18" charset="-122"/>
              </a:rPr>
              <a:t>6</a:t>
            </a:r>
          </a:p>
          <a:p>
            <a:r>
              <a:rPr lang="zh-CN" altLang="en-US" dirty="0">
                <a:latin typeface="Consolas" panose="020B0609020204030204" pitchFamily="49" charset="0"/>
                <a:ea typeface="阿里巴巴普惠体 R" panose="00020600040101010101" pitchFamily="18" charset="-122"/>
                <a:cs typeface="阿里巴巴普惠体 R" panose="00020600040101010101" pitchFamily="18" charset="-122"/>
              </a:rPr>
              <a:t>('Eric Zhang', 'male', 77)</a:t>
            </a:r>
          </a:p>
          <a:p>
            <a:r>
              <a:rPr lang="zh-CN" altLang="en-US" dirty="0">
                <a:latin typeface="Consolas" panose="020B0609020204030204" pitchFamily="49" charset="0"/>
                <a:ea typeface="阿里巴巴普惠体 R" panose="00020600040101010101" pitchFamily="18" charset="-122"/>
                <a:cs typeface="阿里巴巴普惠体 R" panose="00020600040101010101" pitchFamily="18" charset="-122"/>
              </a:rPr>
              <a:t>1</a:t>
            </a:r>
          </a:p>
          <a:p>
            <a:r>
              <a:rPr lang="zh-CN" altLang="en-US" dirty="0">
                <a:latin typeface="Consolas" panose="020B0609020204030204" pitchFamily="49" charset="0"/>
                <a:ea typeface="阿里巴巴普惠体 R" panose="00020600040101010101" pitchFamily="18" charset="-122"/>
                <a:cs typeface="阿里巴巴普惠体 R" panose="00020600040101010101" pitchFamily="18" charset="-122"/>
              </a:rPr>
              <a:t>True</a:t>
            </a:r>
          </a:p>
          <a:p>
            <a:r>
              <a:rPr lang="zh-CN" altLang="en-US" dirty="0">
                <a:latin typeface="Consolas" panose="020B0609020204030204" pitchFamily="49" charset="0"/>
                <a:ea typeface="阿里巴巴普惠体 R" panose="00020600040101010101" pitchFamily="18" charset="-122"/>
                <a:cs typeface="阿里巴巴普惠体 R" panose="00020600040101010101" pitchFamily="18" charset="-122"/>
              </a:rPr>
              <a:t>5</a:t>
            </a:r>
          </a:p>
          <a:p>
            <a:r>
              <a:rPr lang="zh-CN" altLang="en-US" dirty="0">
                <a:latin typeface="Consolas" panose="020B0609020204030204" pitchFamily="49" charset="0"/>
                <a:ea typeface="阿里巴巴普惠体 R" panose="00020600040101010101" pitchFamily="18" charset="-122"/>
                <a:cs typeface="阿里巴巴普惠体 R" panose="00020600040101010101" pitchFamily="18" charset="-122"/>
              </a:rPr>
              <a:t>(1, 2, 2, 3, 4)</a:t>
            </a:r>
          </a:p>
          <a:p>
            <a:r>
              <a:rPr lang="zh-CN" altLang="en-US" dirty="0">
                <a:latin typeface="Consolas" panose="020B0609020204030204" pitchFamily="49" charset="0"/>
                <a:ea typeface="阿里巴巴普惠体 R" panose="00020600040101010101" pitchFamily="18" charset="-122"/>
                <a:cs typeface="阿里巴巴普惠体 R" panose="00020600040101010101" pitchFamily="18" charset="-122"/>
              </a:rPr>
              <a:t>(1, 2, 1, 2, 1, 2, 1, 2, 1, 2)</a:t>
            </a:r>
          </a:p>
        </p:txBody>
      </p:sp>
      <p:sp>
        <p:nvSpPr>
          <p:cNvPr id="65" name="文本框 64"/>
          <p:cNvSpPr txBox="1"/>
          <p:nvPr/>
        </p:nvSpPr>
        <p:spPr>
          <a:xfrm>
            <a:off x="2235585" y="5402698"/>
            <a:ext cx="6045964" cy="369332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altLang="zh-CN" dirty="0"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</a:rPr>
              <a:t>type(patient)</a:t>
            </a:r>
            <a:r>
              <a:rPr lang="zh-CN" altLang="en-US" dirty="0"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</a:rPr>
              <a:t>返回</a:t>
            </a:r>
            <a:r>
              <a:rPr lang="en-US" altLang="zh-CN" dirty="0"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</a:rPr>
              <a:t>patient</a:t>
            </a:r>
            <a:r>
              <a:rPr lang="zh-CN" altLang="en-US" dirty="0"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</a:rPr>
              <a:t>的类型，为</a:t>
            </a:r>
            <a:r>
              <a:rPr lang="en-US" altLang="zh-CN" dirty="0"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</a:rPr>
              <a:t>tuple – </a:t>
            </a:r>
            <a:r>
              <a:rPr lang="zh-CN" altLang="en-US" dirty="0"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</a:rPr>
              <a:t>元组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/>
    </mc:Choice>
    <mc:Fallback xmlns="">
      <p:transition advClick="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文本框 64"/>
          <p:cNvSpPr txBox="1"/>
          <p:nvPr/>
        </p:nvSpPr>
        <p:spPr>
          <a:xfrm>
            <a:off x="1835696" y="5085184"/>
            <a:ext cx="7000668" cy="1015663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altLang="zh-CN" sz="2000" dirty="0">
                <a:latin typeface="+mn-ea"/>
                <a:cs typeface="阿里巴巴普惠体 R" panose="00020600040101010101" pitchFamily="18" charset="-122"/>
              </a:rPr>
              <a:t>tuple()</a:t>
            </a:r>
            <a:r>
              <a:rPr lang="zh-CN" altLang="en-US" sz="2000" dirty="0">
                <a:latin typeface="+mn-ea"/>
                <a:cs typeface="阿里巴巴普惠体 R" panose="00020600040101010101" pitchFamily="18" charset="-122"/>
              </a:rPr>
              <a:t>接受一个</a:t>
            </a:r>
            <a:r>
              <a:rPr lang="en-US" altLang="zh-CN" sz="2000" dirty="0">
                <a:latin typeface="+mn-ea"/>
                <a:cs typeface="阿里巴巴普惠体 R" panose="00020600040101010101" pitchFamily="18" charset="-122"/>
              </a:rPr>
              <a:t>list, str, </a:t>
            </a:r>
            <a:r>
              <a:rPr lang="zh-CN" altLang="en-US" sz="2000" dirty="0">
                <a:latin typeface="+mn-ea"/>
                <a:cs typeface="阿里巴巴普惠体 R" panose="00020600040101010101" pitchFamily="18" charset="-122"/>
              </a:rPr>
              <a:t>甚至生成者对象作为参数，将其转换成元组。</a:t>
            </a:r>
            <a:r>
              <a:rPr lang="en-US" altLang="zh-CN" sz="2000" dirty="0">
                <a:latin typeface="+mn-ea"/>
                <a:cs typeface="阿里巴巴普惠体 R" panose="00020600040101010101" pitchFamily="18" charset="-122"/>
              </a:rPr>
              <a:t>digits1</a:t>
            </a:r>
            <a:r>
              <a:rPr lang="zh-CN" altLang="en-US" sz="2000" dirty="0">
                <a:latin typeface="+mn-ea"/>
                <a:cs typeface="阿里巴巴普惠体 R" panose="00020600040101010101" pitchFamily="18" charset="-122"/>
              </a:rPr>
              <a:t>是一个生成者对象</a:t>
            </a:r>
            <a:r>
              <a:rPr lang="en-US" altLang="zh-CN" sz="2000" dirty="0">
                <a:latin typeface="+mn-ea"/>
                <a:cs typeface="阿里巴巴普惠体 R" panose="00020600040101010101" pitchFamily="18" charset="-122"/>
              </a:rPr>
              <a:t>- generator object.</a:t>
            </a:r>
            <a:endParaRPr lang="zh-CN" altLang="en-US" sz="2000" dirty="0">
              <a:latin typeface="+mn-ea"/>
              <a:cs typeface="阿里巴巴普惠体 R" panose="00020600040101010101" pitchFamily="18" charset="-122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1691680" y="343346"/>
            <a:ext cx="7000668" cy="2585323"/>
          </a:xfrm>
          <a:prstGeom prst="rect">
            <a:avLst/>
          </a:prstGeom>
          <a:ln w="1905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altLang="zh-CN" dirty="0">
                <a:solidFill>
                  <a:srgbClr val="AB5500"/>
                </a:solidFill>
                <a:latin typeface="Consolas" panose="020B0609020204030204" pitchFamily="49" charset="0"/>
              </a:rPr>
              <a:t>#tuple2.py</a:t>
            </a:r>
          </a:p>
          <a:p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numbers </a:t>
            </a:r>
            <a:r>
              <a:rPr lang="en-US" altLang="zh-CN" dirty="0">
                <a:solidFill>
                  <a:srgbClr val="333333"/>
                </a:solidFill>
                <a:latin typeface="Consolas" panose="020B0609020204030204" pitchFamily="49" charset="0"/>
              </a:rPr>
              <a:t>= </a:t>
            </a:r>
            <a:r>
              <a:rPr lang="en-US" altLang="zh-CN" dirty="0">
                <a:solidFill>
                  <a:srgbClr val="3300AB"/>
                </a:solidFill>
                <a:latin typeface="Consolas" panose="020B0609020204030204" pitchFamily="49" charset="0"/>
              </a:rPr>
              <a:t>tuple</a:t>
            </a:r>
            <a:r>
              <a:rPr lang="en-US" altLang="zh-CN" dirty="0">
                <a:solidFill>
                  <a:srgbClr val="333333"/>
                </a:solidFill>
                <a:latin typeface="Consolas" panose="020B0609020204030204" pitchFamily="49" charset="0"/>
              </a:rPr>
              <a:t>([</a:t>
            </a:r>
            <a:r>
              <a:rPr lang="en-US" altLang="zh-CN" dirty="0">
                <a:solidFill>
                  <a:srgbClr val="116644"/>
                </a:solidFill>
                <a:latin typeface="Consolas" panose="020B0609020204030204" pitchFamily="49" charset="0"/>
              </a:rPr>
              <a:t>1</a:t>
            </a:r>
            <a:r>
              <a:rPr lang="en-US" altLang="zh-CN" dirty="0">
                <a:solidFill>
                  <a:srgbClr val="333333"/>
                </a:solidFill>
                <a:latin typeface="Consolas" panose="020B0609020204030204" pitchFamily="49" charset="0"/>
              </a:rPr>
              <a:t>,</a:t>
            </a:r>
            <a:r>
              <a:rPr lang="en-US" altLang="zh-CN" dirty="0">
                <a:solidFill>
                  <a:srgbClr val="116644"/>
                </a:solidFill>
                <a:latin typeface="Consolas" panose="020B0609020204030204" pitchFamily="49" charset="0"/>
              </a:rPr>
              <a:t>2</a:t>
            </a:r>
            <a:r>
              <a:rPr lang="en-US" altLang="zh-CN" dirty="0">
                <a:solidFill>
                  <a:srgbClr val="333333"/>
                </a:solidFill>
                <a:latin typeface="Consolas" panose="020B0609020204030204" pitchFamily="49" charset="0"/>
              </a:rPr>
              <a:t>,</a:t>
            </a:r>
            <a:r>
              <a:rPr lang="en-US" altLang="zh-CN" dirty="0">
                <a:solidFill>
                  <a:srgbClr val="116644"/>
                </a:solidFill>
                <a:latin typeface="Consolas" panose="020B0609020204030204" pitchFamily="49" charset="0"/>
              </a:rPr>
              <a:t>3</a:t>
            </a:r>
            <a:r>
              <a:rPr lang="en-US" altLang="zh-CN" dirty="0">
                <a:solidFill>
                  <a:srgbClr val="333333"/>
                </a:solidFill>
                <a:latin typeface="Consolas" panose="020B0609020204030204" pitchFamily="49" charset="0"/>
              </a:rPr>
              <a:t>])</a:t>
            </a:r>
          </a:p>
          <a:p>
            <a:r>
              <a:rPr lang="en-US" altLang="zh-CN" dirty="0">
                <a:solidFill>
                  <a:srgbClr val="3300AB"/>
                </a:solidFill>
                <a:latin typeface="Consolas" panose="020B0609020204030204" pitchFamily="49" charset="0"/>
              </a:rPr>
              <a:t>print</a:t>
            </a:r>
            <a:r>
              <a:rPr lang="en-US" altLang="zh-CN" dirty="0">
                <a:solidFill>
                  <a:srgbClr val="333333"/>
                </a:solidFill>
                <a:latin typeface="Consolas" panose="020B0609020204030204" pitchFamily="49" charset="0"/>
              </a:rPr>
              <a:t>(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numbers</a:t>
            </a:r>
            <a:r>
              <a:rPr lang="en-US" altLang="zh-CN" dirty="0">
                <a:solidFill>
                  <a:srgbClr val="333333"/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chars </a:t>
            </a:r>
            <a:r>
              <a:rPr lang="en-US" altLang="zh-CN" dirty="0">
                <a:solidFill>
                  <a:srgbClr val="333333"/>
                </a:solidFill>
                <a:latin typeface="Consolas" panose="020B0609020204030204" pitchFamily="49" charset="0"/>
              </a:rPr>
              <a:t>= </a:t>
            </a:r>
            <a:r>
              <a:rPr lang="en-US" altLang="zh-CN" dirty="0">
                <a:solidFill>
                  <a:srgbClr val="3300AB"/>
                </a:solidFill>
                <a:latin typeface="Consolas" panose="020B0609020204030204" pitchFamily="49" charset="0"/>
              </a:rPr>
              <a:t>tuple</a:t>
            </a:r>
            <a:r>
              <a:rPr lang="en-US" altLang="zh-CN" dirty="0">
                <a:solidFill>
                  <a:srgbClr val="333333"/>
                </a:solidFill>
                <a:latin typeface="Consolas" panose="020B0609020204030204" pitchFamily="49" charset="0"/>
              </a:rPr>
              <a:t>(</a:t>
            </a:r>
            <a:r>
              <a:rPr lang="en-US" altLang="zh-CN" dirty="0">
                <a:solidFill>
                  <a:srgbClr val="AB1111"/>
                </a:solidFill>
                <a:latin typeface="Consolas" panose="020B0609020204030204" pitchFamily="49" charset="0"/>
              </a:rPr>
              <a:t>'</a:t>
            </a:r>
            <a:r>
              <a:rPr lang="en-US" altLang="zh-CN" dirty="0" err="1">
                <a:solidFill>
                  <a:srgbClr val="AB1111"/>
                </a:solidFill>
                <a:latin typeface="Consolas" panose="020B0609020204030204" pitchFamily="49" charset="0"/>
              </a:rPr>
              <a:t>abc</a:t>
            </a:r>
            <a:r>
              <a:rPr lang="en-US" altLang="zh-CN" dirty="0">
                <a:solidFill>
                  <a:srgbClr val="AB1111"/>
                </a:solidFill>
                <a:latin typeface="Consolas" panose="020B0609020204030204" pitchFamily="49" charset="0"/>
              </a:rPr>
              <a:t>'</a:t>
            </a:r>
            <a:r>
              <a:rPr lang="en-US" altLang="zh-CN" dirty="0">
                <a:solidFill>
                  <a:srgbClr val="333333"/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en-US" altLang="zh-CN" dirty="0">
                <a:solidFill>
                  <a:srgbClr val="3300AB"/>
                </a:solidFill>
                <a:latin typeface="Consolas" panose="020B0609020204030204" pitchFamily="49" charset="0"/>
              </a:rPr>
              <a:t>print</a:t>
            </a:r>
            <a:r>
              <a:rPr lang="en-US" altLang="zh-CN" dirty="0">
                <a:solidFill>
                  <a:srgbClr val="333333"/>
                </a:solidFill>
                <a:latin typeface="Consolas" panose="020B0609020204030204" pitchFamily="49" charset="0"/>
              </a:rPr>
              <a:t>(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chars</a:t>
            </a:r>
            <a:r>
              <a:rPr lang="en-US" altLang="zh-CN" dirty="0">
                <a:solidFill>
                  <a:srgbClr val="333333"/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digits1 </a:t>
            </a:r>
            <a:r>
              <a:rPr lang="en-US" altLang="zh-CN" dirty="0">
                <a:solidFill>
                  <a:srgbClr val="333333"/>
                </a:solidFill>
                <a:latin typeface="Consolas" panose="020B0609020204030204" pitchFamily="49" charset="0"/>
              </a:rPr>
              <a:t>= (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x </a:t>
            </a:r>
            <a:r>
              <a:rPr lang="en-US" altLang="zh-CN" dirty="0">
                <a:solidFill>
                  <a:srgbClr val="770089"/>
                </a:solidFill>
                <a:latin typeface="Consolas" panose="020B0609020204030204" pitchFamily="49" charset="0"/>
              </a:rPr>
              <a:t>for 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x </a:t>
            </a:r>
            <a:r>
              <a:rPr lang="en-US" altLang="zh-CN" dirty="0">
                <a:solidFill>
                  <a:srgbClr val="770089"/>
                </a:solidFill>
                <a:latin typeface="Consolas" panose="020B0609020204030204" pitchFamily="49" charset="0"/>
              </a:rPr>
              <a:t>in </a:t>
            </a:r>
            <a:r>
              <a:rPr lang="en-US" altLang="zh-CN" dirty="0">
                <a:solidFill>
                  <a:srgbClr val="3300AB"/>
                </a:solidFill>
                <a:latin typeface="Consolas" panose="020B0609020204030204" pitchFamily="49" charset="0"/>
              </a:rPr>
              <a:t>range</a:t>
            </a:r>
            <a:r>
              <a:rPr lang="en-US" altLang="zh-CN" dirty="0">
                <a:solidFill>
                  <a:srgbClr val="333333"/>
                </a:solidFill>
                <a:latin typeface="Consolas" panose="020B0609020204030204" pitchFamily="49" charset="0"/>
              </a:rPr>
              <a:t>(</a:t>
            </a:r>
            <a:r>
              <a:rPr lang="en-US" altLang="zh-CN" dirty="0">
                <a:solidFill>
                  <a:srgbClr val="116644"/>
                </a:solidFill>
                <a:latin typeface="Consolas" panose="020B0609020204030204" pitchFamily="49" charset="0"/>
              </a:rPr>
              <a:t>9</a:t>
            </a:r>
            <a:r>
              <a:rPr lang="en-US" altLang="zh-CN" dirty="0">
                <a:solidFill>
                  <a:srgbClr val="333333"/>
                </a:solidFill>
                <a:latin typeface="Consolas" panose="020B0609020204030204" pitchFamily="49" charset="0"/>
              </a:rPr>
              <a:t>))</a:t>
            </a:r>
          </a:p>
          <a:p>
            <a:r>
              <a:rPr lang="en-US" altLang="zh-CN" dirty="0">
                <a:solidFill>
                  <a:srgbClr val="3300AB"/>
                </a:solidFill>
                <a:latin typeface="Consolas" panose="020B0609020204030204" pitchFamily="49" charset="0"/>
              </a:rPr>
              <a:t>print</a:t>
            </a:r>
            <a:r>
              <a:rPr lang="en-US" altLang="zh-CN" dirty="0">
                <a:solidFill>
                  <a:srgbClr val="333333"/>
                </a:solidFill>
                <a:latin typeface="Consolas" panose="020B0609020204030204" pitchFamily="49" charset="0"/>
              </a:rPr>
              <a:t>(</a:t>
            </a:r>
            <a:r>
              <a:rPr lang="en-US" altLang="zh-CN" dirty="0">
                <a:solidFill>
                  <a:srgbClr val="AB1111"/>
                </a:solidFill>
                <a:latin typeface="Consolas" panose="020B0609020204030204" pitchFamily="49" charset="0"/>
              </a:rPr>
              <a:t>"digits1:"</a:t>
            </a:r>
            <a:r>
              <a:rPr lang="en-US" altLang="zh-CN" dirty="0">
                <a:solidFill>
                  <a:srgbClr val="333333"/>
                </a:solidFill>
                <a:latin typeface="Consolas" panose="020B0609020204030204" pitchFamily="49" charset="0"/>
              </a:rPr>
              <a:t>, 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digits1</a:t>
            </a:r>
            <a:r>
              <a:rPr lang="en-US" altLang="zh-CN" dirty="0">
                <a:solidFill>
                  <a:srgbClr val="333333"/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digits2 </a:t>
            </a:r>
            <a:r>
              <a:rPr lang="en-US" altLang="zh-CN" dirty="0">
                <a:solidFill>
                  <a:srgbClr val="333333"/>
                </a:solidFill>
                <a:latin typeface="Consolas" panose="020B0609020204030204" pitchFamily="49" charset="0"/>
              </a:rPr>
              <a:t>= </a:t>
            </a:r>
            <a:r>
              <a:rPr lang="en-US" altLang="zh-CN" dirty="0">
                <a:solidFill>
                  <a:srgbClr val="3300AB"/>
                </a:solidFill>
                <a:latin typeface="Consolas" panose="020B0609020204030204" pitchFamily="49" charset="0"/>
              </a:rPr>
              <a:t>tuple</a:t>
            </a:r>
            <a:r>
              <a:rPr lang="en-US" altLang="zh-CN" dirty="0">
                <a:solidFill>
                  <a:srgbClr val="333333"/>
                </a:solidFill>
                <a:latin typeface="Consolas" panose="020B0609020204030204" pitchFamily="49" charset="0"/>
              </a:rPr>
              <a:t>(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x </a:t>
            </a:r>
            <a:r>
              <a:rPr lang="en-US" altLang="zh-CN" dirty="0">
                <a:solidFill>
                  <a:srgbClr val="770089"/>
                </a:solidFill>
                <a:latin typeface="Consolas" panose="020B0609020204030204" pitchFamily="49" charset="0"/>
              </a:rPr>
              <a:t>for 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x </a:t>
            </a:r>
            <a:r>
              <a:rPr lang="en-US" altLang="zh-CN" dirty="0">
                <a:solidFill>
                  <a:srgbClr val="770089"/>
                </a:solidFill>
                <a:latin typeface="Consolas" panose="020B0609020204030204" pitchFamily="49" charset="0"/>
              </a:rPr>
              <a:t>in </a:t>
            </a:r>
            <a:r>
              <a:rPr lang="en-US" altLang="zh-CN" dirty="0">
                <a:solidFill>
                  <a:srgbClr val="3300AB"/>
                </a:solidFill>
                <a:latin typeface="Consolas" panose="020B0609020204030204" pitchFamily="49" charset="0"/>
              </a:rPr>
              <a:t>range</a:t>
            </a:r>
            <a:r>
              <a:rPr lang="en-US" altLang="zh-CN" dirty="0">
                <a:solidFill>
                  <a:srgbClr val="333333"/>
                </a:solidFill>
                <a:latin typeface="Consolas" panose="020B0609020204030204" pitchFamily="49" charset="0"/>
              </a:rPr>
              <a:t>(</a:t>
            </a:r>
            <a:r>
              <a:rPr lang="en-US" altLang="zh-CN" dirty="0">
                <a:solidFill>
                  <a:srgbClr val="116644"/>
                </a:solidFill>
                <a:latin typeface="Consolas" panose="020B0609020204030204" pitchFamily="49" charset="0"/>
              </a:rPr>
              <a:t>9</a:t>
            </a:r>
            <a:r>
              <a:rPr lang="en-US" altLang="zh-CN" dirty="0">
                <a:solidFill>
                  <a:srgbClr val="333333"/>
                </a:solidFill>
                <a:latin typeface="Consolas" panose="020B0609020204030204" pitchFamily="49" charset="0"/>
              </a:rPr>
              <a:t>))</a:t>
            </a:r>
          </a:p>
          <a:p>
            <a:r>
              <a:rPr lang="en-US" altLang="zh-CN" dirty="0">
                <a:solidFill>
                  <a:srgbClr val="3300AB"/>
                </a:solidFill>
                <a:latin typeface="Consolas" panose="020B0609020204030204" pitchFamily="49" charset="0"/>
              </a:rPr>
              <a:t>print</a:t>
            </a:r>
            <a:r>
              <a:rPr lang="en-US" altLang="zh-CN" dirty="0">
                <a:solidFill>
                  <a:srgbClr val="333333"/>
                </a:solidFill>
                <a:latin typeface="Consolas" panose="020B0609020204030204" pitchFamily="49" charset="0"/>
              </a:rPr>
              <a:t>(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digits2</a:t>
            </a:r>
            <a:r>
              <a:rPr lang="en-US" altLang="zh-CN" dirty="0">
                <a:solidFill>
                  <a:srgbClr val="333333"/>
                </a:solidFill>
                <a:latin typeface="Consolas" panose="020B0609020204030204" pitchFamily="49" charset="0"/>
              </a:rPr>
              <a:t>)</a:t>
            </a:r>
            <a:endParaRPr lang="zh-CN" altLang="en-US" dirty="0">
              <a:latin typeface="Consolas" panose="020B0609020204030204" pitchFamily="49" charset="0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1835696" y="3356992"/>
            <a:ext cx="7000668" cy="1477328"/>
          </a:xfrm>
          <a:prstGeom prst="rect">
            <a:avLst/>
          </a:prstGeom>
          <a:ln w="1270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altLang="zh-CN" dirty="0">
                <a:solidFill>
                  <a:srgbClr val="333333"/>
                </a:solidFill>
                <a:latin typeface="Consolas" panose="020B0609020204030204" pitchFamily="49" charset="0"/>
              </a:rPr>
              <a:t>(1, 2, 3)</a:t>
            </a:r>
          </a:p>
          <a:p>
            <a:r>
              <a:rPr lang="en-US" altLang="zh-CN" dirty="0">
                <a:solidFill>
                  <a:srgbClr val="333333"/>
                </a:solidFill>
                <a:latin typeface="Consolas" panose="020B0609020204030204" pitchFamily="49" charset="0"/>
              </a:rPr>
              <a:t>('a', 'b', 'c')</a:t>
            </a:r>
          </a:p>
          <a:p>
            <a:r>
              <a:rPr lang="en-US" altLang="zh-CN" dirty="0">
                <a:solidFill>
                  <a:srgbClr val="333333"/>
                </a:solidFill>
                <a:latin typeface="Consolas" panose="020B0609020204030204" pitchFamily="49" charset="0"/>
              </a:rPr>
              <a:t>digits1: &lt;generator object &lt;</a:t>
            </a:r>
            <a:r>
              <a:rPr lang="en-US" altLang="zh-CN" dirty="0" err="1">
                <a:solidFill>
                  <a:srgbClr val="333333"/>
                </a:solidFill>
                <a:latin typeface="Consolas" panose="020B0609020204030204" pitchFamily="49" charset="0"/>
              </a:rPr>
              <a:t>genexpr</a:t>
            </a:r>
            <a:r>
              <a:rPr lang="en-US" altLang="zh-CN" dirty="0">
                <a:solidFill>
                  <a:srgbClr val="333333"/>
                </a:solidFill>
                <a:latin typeface="Consolas" panose="020B0609020204030204" pitchFamily="49" charset="0"/>
              </a:rPr>
              <a:t>&gt; at 0x0000019D5458BA20&gt;</a:t>
            </a:r>
          </a:p>
          <a:p>
            <a:r>
              <a:rPr lang="en-US" altLang="zh-CN" dirty="0">
                <a:solidFill>
                  <a:srgbClr val="333333"/>
                </a:solidFill>
                <a:latin typeface="Consolas" panose="020B0609020204030204" pitchFamily="49" charset="0"/>
              </a:rPr>
              <a:t>(0, 1, 2, 3, 4, 5, 6, 7, 8)</a:t>
            </a:r>
            <a:endParaRPr lang="zh-CN" altLang="en-US" dirty="0">
              <a:latin typeface="Consolas" panose="020B0609020204030204" pitchFamily="49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/>
    </mc:Choice>
    <mc:Fallback xmlns="">
      <p:transition advClick="0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0163" name="图片 4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184672" y="1038225"/>
            <a:ext cx="920354" cy="923925"/>
          </a:xfrm>
          <a:prstGeom prst="rect">
            <a:avLst/>
          </a:prstGeom>
          <a:noFill/>
          <a:ln>
            <a:noFill/>
          </a:ln>
          <a:effectLst>
            <a:outerShdw blurRad="63500" dist="38100" dir="2700000" algn="ctr" rotWithShape="0">
              <a:srgbClr val="000000">
                <a:alpha val="7999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20164" name="TextBox 2"/>
          <p:cNvSpPr txBox="1">
            <a:spLocks noChangeArrowheads="1"/>
          </p:cNvSpPr>
          <p:nvPr/>
        </p:nvSpPr>
        <p:spPr bwMode="auto">
          <a:xfrm>
            <a:off x="3923928" y="484227"/>
            <a:ext cx="1723549" cy="553998"/>
          </a:xfrm>
          <a:prstGeom prst="rect">
            <a:avLst/>
          </a:prstGeom>
          <a:noFill/>
          <a:ln>
            <a:noFill/>
          </a:ln>
          <a:effectLst>
            <a:outerShdw blurRad="63500" dist="38100" dir="2700000" algn="ctr" rotWithShape="0">
              <a:srgbClr val="000000">
                <a:alpha val="10999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defTabSz="685800" eaLnBrk="1" hangingPunct="1">
              <a:spcBef>
                <a:spcPct val="0"/>
              </a:spcBef>
              <a:buNone/>
              <a:defRPr/>
            </a:pPr>
            <a:r>
              <a:rPr lang="zh-CN" altLang="en-US" sz="3000" dirty="0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</a:rPr>
              <a:t>集合类型</a:t>
            </a:r>
            <a:endParaRPr lang="zh-CN" altLang="zh-CN" sz="3000" dirty="0">
              <a:solidFill>
                <a:srgbClr val="26262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6628" name="矩形 1"/>
          <p:cNvSpPr/>
          <p:nvPr/>
        </p:nvSpPr>
        <p:spPr>
          <a:xfrm>
            <a:off x="1788899" y="1628800"/>
            <a:ext cx="5993606" cy="3351046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indent="202406" algn="just">
              <a:lnSpc>
                <a:spcPct val="150000"/>
              </a:lnSpc>
              <a:spcBef>
                <a:spcPct val="0"/>
              </a:spcBef>
              <a:buNone/>
            </a:pPr>
            <a:r>
              <a:rPr lang="zh-CN" altLang="zh-CN" sz="2400" dirty="0">
                <a:latin typeface="微软雅黑" panose="020B0503020204020204" charset="-122"/>
                <a:ea typeface="微软雅黑" panose="020B0503020204020204" charset="-122"/>
              </a:rPr>
              <a:t>集合类型与数学中集合的概念一致，即包含</a:t>
            </a:r>
            <a:r>
              <a:rPr lang="en-US" altLang="zh-CN" sz="2400" dirty="0">
                <a:latin typeface="微软雅黑" panose="020B0503020204020204" charset="-122"/>
                <a:ea typeface="微软雅黑" panose="020B0503020204020204" charset="-122"/>
              </a:rPr>
              <a:t>0</a:t>
            </a:r>
            <a:r>
              <a:rPr lang="zh-CN" altLang="zh-CN" sz="2400" dirty="0">
                <a:latin typeface="微软雅黑" panose="020B0503020204020204" charset="-122"/>
                <a:ea typeface="微软雅黑" panose="020B0503020204020204" charset="-122"/>
              </a:rPr>
              <a:t>个或多个数据项的无序组合。集合中元素不可重复，元素类型只能是固定数据类型，例如：整数、浮点数、字符串、元组等，列表、字典和集合类型本身都是可变数据类型，不能作为集合的元素出现。</a:t>
            </a:r>
            <a:endParaRPr lang="zh-CN" altLang="zh-CN" sz="1600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0163" name="图片 4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184672" y="1038225"/>
            <a:ext cx="920354" cy="923925"/>
          </a:xfrm>
          <a:prstGeom prst="rect">
            <a:avLst/>
          </a:prstGeom>
          <a:noFill/>
          <a:ln>
            <a:noFill/>
          </a:ln>
          <a:effectLst>
            <a:outerShdw blurRad="63500" dist="38100" dir="2700000" algn="ctr" rotWithShape="0">
              <a:srgbClr val="000000">
                <a:alpha val="7999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20164" name="TextBox 2"/>
          <p:cNvSpPr txBox="1">
            <a:spLocks noChangeArrowheads="1"/>
          </p:cNvSpPr>
          <p:nvPr/>
        </p:nvSpPr>
        <p:spPr bwMode="auto">
          <a:xfrm>
            <a:off x="3681650" y="481350"/>
            <a:ext cx="1723549" cy="553998"/>
          </a:xfrm>
          <a:prstGeom prst="rect">
            <a:avLst/>
          </a:prstGeom>
          <a:noFill/>
          <a:ln>
            <a:noFill/>
          </a:ln>
          <a:effectLst>
            <a:outerShdw blurRad="63500" dist="38100" dir="2700000" algn="ctr" rotWithShape="0">
              <a:srgbClr val="000000">
                <a:alpha val="10999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defTabSz="685800" eaLnBrk="1" hangingPunct="1">
              <a:spcBef>
                <a:spcPct val="0"/>
              </a:spcBef>
              <a:buNone/>
              <a:defRPr/>
            </a:pPr>
            <a:r>
              <a:rPr lang="zh-CN" altLang="en-US" sz="3000" dirty="0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</a:rPr>
              <a:t>集合类型</a:t>
            </a:r>
            <a:endParaRPr lang="zh-CN" altLang="zh-CN" sz="3000" dirty="0">
              <a:solidFill>
                <a:srgbClr val="26262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7652" name="矩形 1"/>
          <p:cNvSpPr/>
          <p:nvPr/>
        </p:nvSpPr>
        <p:spPr>
          <a:xfrm>
            <a:off x="1691680" y="1185950"/>
            <a:ext cx="6119813" cy="22430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indent="202406" algn="just">
              <a:lnSpc>
                <a:spcPct val="150000"/>
              </a:lnSpc>
              <a:spcBef>
                <a:spcPct val="0"/>
              </a:spcBef>
              <a:buNone/>
            </a:pPr>
            <a:r>
              <a:rPr lang="zh-CN" altLang="zh-CN" sz="2400" dirty="0">
                <a:latin typeface="微软雅黑" panose="020B0503020204020204" charset="-122"/>
                <a:ea typeface="微软雅黑" panose="020B0503020204020204" charset="-122"/>
              </a:rPr>
              <a:t>由于集合是无序组合，它没有索引和位置的概念，不能分片，集合中元素可以动态增加或删除。集合用大括号（</a:t>
            </a:r>
            <a:r>
              <a:rPr lang="en-US" altLang="zh-CN" sz="2400" dirty="0">
                <a:latin typeface="微软雅黑" panose="020B0503020204020204" charset="-122"/>
                <a:ea typeface="微软雅黑" panose="020B0503020204020204" charset="-122"/>
              </a:rPr>
              <a:t>{}</a:t>
            </a:r>
            <a:r>
              <a:rPr lang="zh-CN" altLang="zh-CN" sz="2400" dirty="0">
                <a:latin typeface="微软雅黑" panose="020B0503020204020204" charset="-122"/>
                <a:ea typeface="微软雅黑" panose="020B0503020204020204" charset="-122"/>
              </a:rPr>
              <a:t>）表示，可以用赋值语句生成一个集合。</a:t>
            </a:r>
            <a:endParaRPr lang="zh-CN" altLang="zh-CN" sz="1600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graphicFrame>
        <p:nvGraphicFramePr>
          <p:cNvPr id="3" name="表格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16331288"/>
              </p:ext>
            </p:extLst>
          </p:nvPr>
        </p:nvGraphicFramePr>
        <p:xfrm>
          <a:off x="2195736" y="3717032"/>
          <a:ext cx="4032448" cy="1783080"/>
        </p:xfrm>
        <a:graphic>
          <a:graphicData uri="http://schemas.openxmlformats.org/drawingml/2006/table">
            <a:tbl>
              <a:tblPr firstRow="1" firstCol="1" bandRow="1"/>
              <a:tblGrid>
                <a:gridCol w="403244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508760">
                <a:tc>
                  <a:txBody>
                    <a:bodyPr/>
                    <a:lstStyle/>
                    <a:p>
                      <a:pPr algn="just" fontAlgn="auto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100" b="1" kern="0" dirty="0"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&gt;&gt;&gt;S = {425, "BIT", (10, "CS"), 424}</a:t>
                      </a:r>
                      <a:endParaRPr lang="zh-CN" sz="1100" kern="1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  <a:p>
                      <a:pPr algn="just" fontAlgn="base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100" b="1" kern="0" dirty="0"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&gt;&gt;&gt;S</a:t>
                      </a:r>
                      <a:endParaRPr lang="zh-CN" sz="1100" kern="1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  <a:p>
                      <a:pPr algn="just" fontAlgn="base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 kern="0" dirty="0"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{424, 425, (10, 'CS'), 'BIT'}</a:t>
                      </a:r>
                      <a:endParaRPr lang="zh-CN" sz="1100" kern="1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  <a:p>
                      <a:pPr algn="just" fontAlgn="auto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100" b="1" kern="0" dirty="0"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&gt;&gt;&gt;T = {425, "BIT", (10, "CS"), 424, 425, "BIT"}</a:t>
                      </a:r>
                      <a:endParaRPr lang="zh-CN" sz="1100" kern="1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  <a:p>
                      <a:pPr algn="just" fontAlgn="base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100" b="1" kern="0" dirty="0"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&gt;&gt;&gt;T</a:t>
                      </a:r>
                      <a:endParaRPr lang="zh-CN" sz="1100" kern="1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  <a:p>
                      <a:pPr algn="just" fontAlgn="base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 kern="0" dirty="0"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{424, 425, (10, 'CS'), 'BIT'}</a:t>
                      </a:r>
                      <a:endParaRPr lang="zh-CN" sz="1100" kern="1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1435" marR="51435" marT="0" marB="0">
                    <a:lnL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pattFill prst="pct10">
                      <a:fgClr>
                        <a:srgbClr val="FFFFFF"/>
                      </a:fgClr>
                      <a:bgClr>
                        <a:srgbClr val="E5E5E5"/>
                      </a:bgClr>
                    </a:patt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0163" name="图片 4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184672" y="1038225"/>
            <a:ext cx="920354" cy="923925"/>
          </a:xfrm>
          <a:prstGeom prst="rect">
            <a:avLst/>
          </a:prstGeom>
          <a:noFill/>
          <a:ln>
            <a:noFill/>
          </a:ln>
          <a:effectLst>
            <a:outerShdw blurRad="63500" dist="38100" dir="2700000" algn="ctr" rotWithShape="0">
              <a:srgbClr val="000000">
                <a:alpha val="7999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20164" name="TextBox 2"/>
          <p:cNvSpPr txBox="1">
            <a:spLocks noChangeArrowheads="1"/>
          </p:cNvSpPr>
          <p:nvPr/>
        </p:nvSpPr>
        <p:spPr bwMode="auto">
          <a:xfrm>
            <a:off x="1639491" y="1357312"/>
            <a:ext cx="1723549" cy="553998"/>
          </a:xfrm>
          <a:prstGeom prst="rect">
            <a:avLst/>
          </a:prstGeom>
          <a:noFill/>
          <a:ln>
            <a:noFill/>
          </a:ln>
          <a:effectLst>
            <a:outerShdw blurRad="63500" dist="38100" dir="2700000" algn="ctr" rotWithShape="0">
              <a:srgbClr val="000000">
                <a:alpha val="10999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defTabSz="685800" eaLnBrk="1" hangingPunct="1">
              <a:spcBef>
                <a:spcPct val="0"/>
              </a:spcBef>
              <a:buNone/>
              <a:defRPr/>
            </a:pPr>
            <a:r>
              <a:rPr lang="zh-CN" altLang="en-US" sz="3000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</a:rPr>
              <a:t>集合类型</a:t>
            </a:r>
            <a:endParaRPr lang="zh-CN" altLang="zh-CN" sz="3000">
              <a:solidFill>
                <a:srgbClr val="26262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8676" name="矩形 1"/>
          <p:cNvSpPr/>
          <p:nvPr/>
        </p:nvSpPr>
        <p:spPr>
          <a:xfrm>
            <a:off x="1494235" y="2130145"/>
            <a:ext cx="6190059" cy="128990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indent="200025" algn="just">
              <a:lnSpc>
                <a:spcPct val="150000"/>
              </a:lnSpc>
              <a:spcBef>
                <a:spcPct val="0"/>
              </a:spcBef>
              <a:buNone/>
            </a:pPr>
            <a:r>
              <a:rPr lang="zh-CN" altLang="zh-CN" sz="1800" dirty="0">
                <a:latin typeface="微软雅黑" panose="020B0503020204020204" charset="-122"/>
                <a:ea typeface="微软雅黑" panose="020B0503020204020204" charset="-122"/>
              </a:rPr>
              <a:t>由于集合元素是无序的，集合的打印效果与定义顺序可以不一致。由于集合元素独一无二，使用集合类型能够过滤掉重复元素。</a:t>
            </a:r>
            <a:r>
              <a:rPr lang="en-US" altLang="zh-CN" sz="1800" dirty="0">
                <a:latin typeface="微软雅黑" panose="020B0503020204020204" charset="-122"/>
                <a:ea typeface="微软雅黑" panose="020B0503020204020204" charset="-122"/>
              </a:rPr>
              <a:t>set(x)</a:t>
            </a:r>
            <a:r>
              <a:rPr lang="zh-CN" altLang="zh-CN" sz="1800" dirty="0">
                <a:latin typeface="微软雅黑" panose="020B0503020204020204" charset="-122"/>
                <a:ea typeface="微软雅黑" panose="020B0503020204020204" charset="-122"/>
              </a:rPr>
              <a:t>函数可以用于生成集合。</a:t>
            </a:r>
            <a:endParaRPr lang="zh-CN" altLang="zh-CN" sz="1350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graphicFrame>
        <p:nvGraphicFramePr>
          <p:cNvPr id="3" name="表格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79211806"/>
              </p:ext>
            </p:extLst>
          </p:nvPr>
        </p:nvGraphicFramePr>
        <p:xfrm>
          <a:off x="1494235" y="4013995"/>
          <a:ext cx="7128792" cy="1763712"/>
        </p:xfrm>
        <a:graphic>
          <a:graphicData uri="http://schemas.openxmlformats.org/drawingml/2006/table">
            <a:tbl>
              <a:tblPr firstRow="1" firstCol="1" bandRow="1"/>
              <a:tblGrid>
                <a:gridCol w="712879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763712">
                <a:tc>
                  <a:txBody>
                    <a:bodyPr/>
                    <a:lstStyle/>
                    <a:p>
                      <a:pPr algn="just" fontAlgn="auto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800" b="1" kern="0" dirty="0"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&gt;&gt;&gt;W = set(‘apple’)</a:t>
                      </a:r>
                      <a:endParaRPr lang="zh-CN" sz="1800" kern="1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  <a:p>
                      <a:pPr algn="just" fontAlgn="auto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800" b="1" kern="0" dirty="0"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{'e', 'p', 'a', 'l'}</a:t>
                      </a:r>
                      <a:endParaRPr lang="zh-CN" sz="1800" kern="1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  <a:p>
                      <a:pPr algn="just" fontAlgn="base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800" b="1" kern="0" dirty="0"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&gt;&gt;&gt;V = set(("cat", "dog", "tiger", "human"))</a:t>
                      </a:r>
                      <a:endParaRPr lang="zh-CN" sz="1800" kern="1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  <a:p>
                      <a:pPr algn="just" fontAlgn="auto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800" kern="0" dirty="0"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{'cat', 'human', 'dog', 'tiger'}</a:t>
                      </a:r>
                      <a:endParaRPr lang="zh-CN" sz="1800" kern="1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1435" marR="51435" marT="0" marB="0">
                    <a:lnL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pattFill prst="pct10">
                      <a:fgClr>
                        <a:srgbClr val="FFFFFF"/>
                      </a:fgClr>
                      <a:bgClr>
                        <a:srgbClr val="E5E5E5"/>
                      </a:bgClr>
                    </a:patt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0163" name="图片 4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184672" y="1038225"/>
            <a:ext cx="920354" cy="923925"/>
          </a:xfrm>
          <a:prstGeom prst="rect">
            <a:avLst/>
          </a:prstGeom>
          <a:noFill/>
          <a:ln>
            <a:noFill/>
          </a:ln>
          <a:effectLst>
            <a:outerShdw blurRad="63500" dist="38100" dir="2700000" algn="ctr" rotWithShape="0">
              <a:srgbClr val="000000">
                <a:alpha val="7999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20164" name="TextBox 2"/>
          <p:cNvSpPr txBox="1">
            <a:spLocks noChangeArrowheads="1"/>
          </p:cNvSpPr>
          <p:nvPr/>
        </p:nvSpPr>
        <p:spPr bwMode="auto">
          <a:xfrm>
            <a:off x="2250282" y="954881"/>
            <a:ext cx="1723549" cy="553998"/>
          </a:xfrm>
          <a:prstGeom prst="rect">
            <a:avLst/>
          </a:prstGeom>
          <a:noFill/>
          <a:ln>
            <a:noFill/>
          </a:ln>
          <a:effectLst>
            <a:outerShdw blurRad="63500" dist="38100" dir="2700000" algn="ctr" rotWithShape="0">
              <a:srgbClr val="000000">
                <a:alpha val="10999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defTabSz="685800" eaLnBrk="1" hangingPunct="1">
              <a:spcBef>
                <a:spcPct val="0"/>
              </a:spcBef>
              <a:buNone/>
              <a:defRPr/>
            </a:pPr>
            <a:r>
              <a:rPr lang="zh-CN" altLang="en-US" sz="3000" dirty="0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</a:rPr>
              <a:t>集合类型</a:t>
            </a:r>
            <a:endParaRPr lang="zh-CN" altLang="zh-CN" sz="3000" dirty="0">
              <a:solidFill>
                <a:srgbClr val="26262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9700" name="矩形 1"/>
          <p:cNvSpPr/>
          <p:nvPr/>
        </p:nvSpPr>
        <p:spPr>
          <a:xfrm>
            <a:off x="4410075" y="1047750"/>
            <a:ext cx="2600392" cy="369332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indent="0">
              <a:spcBef>
                <a:spcPct val="0"/>
              </a:spcBef>
              <a:buNone/>
            </a:pPr>
            <a:r>
              <a:rPr lang="zh-CN" altLang="zh-CN" sz="1800" dirty="0">
                <a:latin typeface="微软雅黑" panose="020B0503020204020204" charset="-122"/>
                <a:ea typeface="微软雅黑" panose="020B0503020204020204" charset="-122"/>
              </a:rPr>
              <a:t>集合类型有</a:t>
            </a:r>
            <a:r>
              <a:rPr lang="en-US" altLang="zh-CN" sz="1800" dirty="0">
                <a:latin typeface="微软雅黑" panose="020B0503020204020204" charset="-122"/>
                <a:ea typeface="微软雅黑" panose="020B0503020204020204" charset="-122"/>
              </a:rPr>
              <a:t>10</a:t>
            </a:r>
            <a:r>
              <a:rPr lang="zh-CN" altLang="zh-CN" sz="1800" dirty="0">
                <a:latin typeface="微软雅黑" panose="020B0503020204020204" charset="-122"/>
                <a:ea typeface="微软雅黑" panose="020B0503020204020204" charset="-122"/>
              </a:rPr>
              <a:t>个操作符 </a:t>
            </a:r>
            <a:endParaRPr lang="zh-CN" altLang="en-US" sz="1800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graphicFrame>
        <p:nvGraphicFramePr>
          <p:cNvPr id="3" name="表格 2"/>
          <p:cNvGraphicFramePr>
            <a:graphicFrameLocks noGrp="1"/>
          </p:cNvGraphicFramePr>
          <p:nvPr/>
        </p:nvGraphicFramePr>
        <p:xfrm>
          <a:off x="1666875" y="1612106"/>
          <a:ext cx="5994559" cy="4389120"/>
        </p:xfrm>
        <a:graphic>
          <a:graphicData uri="http://schemas.openxmlformats.org/drawingml/2006/table">
            <a:tbl>
              <a:tblPr/>
              <a:tblGrid>
                <a:gridCol w="222218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7237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7432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zh-CN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操作符</a:t>
                      </a:r>
                      <a:endParaRPr kumimoji="0" lang="zh-CN" altLang="zh-CN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1439" marR="51439" marT="0" marB="0" horzOverflow="overflow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zh-CN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描述</a:t>
                      </a:r>
                      <a:endParaRPr kumimoji="0" lang="zh-CN" altLang="zh-CN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1439" marR="51439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864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S – T </a:t>
                      </a:r>
                      <a:r>
                        <a:rPr kumimoji="0" lang="zh-CN" altLang="zh-CN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或</a:t>
                      </a:r>
                      <a:r>
                        <a:rPr kumimoji="0" lang="zh-CN" altLang="zh-CN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kumimoji="0" lang="en-US" altLang="zh-CN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S.difference(T)</a:t>
                      </a:r>
                      <a:endParaRPr kumimoji="0" lang="zh-CN" altLang="zh-CN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1439" marR="51439" marT="0" marB="0" horzOverflow="overflow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zh-CN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返回一个新集合，包括在集合</a:t>
                      </a:r>
                      <a:r>
                        <a:rPr kumimoji="0" lang="en-US" altLang="zh-CN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S</a:t>
                      </a:r>
                      <a:r>
                        <a:rPr kumimoji="0" lang="zh-CN" altLang="zh-CN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中但不在集合</a:t>
                      </a:r>
                      <a:r>
                        <a:rPr kumimoji="0" lang="en-US" altLang="zh-CN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T</a:t>
                      </a:r>
                      <a:r>
                        <a:rPr kumimoji="0" lang="zh-CN" altLang="zh-CN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中的元素</a:t>
                      </a:r>
                      <a:endParaRPr kumimoji="0" lang="zh-CN" altLang="zh-CN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1439" marR="51439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2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S-=T</a:t>
                      </a:r>
                      <a:r>
                        <a:rPr kumimoji="0" lang="zh-CN" altLang="zh-CN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或</a:t>
                      </a:r>
                      <a:r>
                        <a:rPr kumimoji="0" lang="en-US" altLang="zh-CN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S.difference_update(T)</a:t>
                      </a:r>
                      <a:endParaRPr kumimoji="0" lang="zh-CN" altLang="zh-CN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1439" marR="51439" marT="0" marB="0" horzOverflow="overflow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zh-CN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更新集合</a:t>
                      </a:r>
                      <a:r>
                        <a:rPr kumimoji="0" lang="en-US" altLang="zh-CN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S</a:t>
                      </a:r>
                      <a:r>
                        <a:rPr kumimoji="0" lang="zh-CN" altLang="zh-CN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，包括在集合</a:t>
                      </a:r>
                      <a:r>
                        <a:rPr kumimoji="0" lang="en-US" altLang="zh-CN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S</a:t>
                      </a:r>
                      <a:r>
                        <a:rPr kumimoji="0" lang="zh-CN" altLang="zh-CN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中但不在集合</a:t>
                      </a:r>
                      <a:r>
                        <a:rPr kumimoji="0" lang="en-US" altLang="zh-CN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T</a:t>
                      </a:r>
                      <a:r>
                        <a:rPr kumimoji="0" lang="zh-CN" altLang="zh-CN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中的元素</a:t>
                      </a:r>
                      <a:endParaRPr kumimoji="0" lang="zh-CN" altLang="zh-CN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1439" marR="51439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32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S &amp; T</a:t>
                      </a:r>
                      <a:r>
                        <a:rPr kumimoji="0" lang="zh-CN" altLang="zh-CN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或</a:t>
                      </a:r>
                      <a:r>
                        <a:rPr kumimoji="0" lang="en-US" altLang="zh-CN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S.intersection(T)</a:t>
                      </a:r>
                      <a:endParaRPr kumimoji="0" lang="zh-CN" altLang="zh-CN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1439" marR="51439" marT="0" marB="0" horzOverflow="overflow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zh-CN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返回一个新集合，包括同时在集合</a:t>
                      </a:r>
                      <a:r>
                        <a:rPr kumimoji="0" lang="en-US" altLang="zh-CN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S</a:t>
                      </a:r>
                      <a:r>
                        <a:rPr kumimoji="0" lang="zh-CN" altLang="zh-CN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和</a:t>
                      </a:r>
                      <a:r>
                        <a:rPr kumimoji="0" lang="en-US" altLang="zh-CN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T</a:t>
                      </a:r>
                      <a:r>
                        <a:rPr kumimoji="0" lang="zh-CN" altLang="zh-CN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中的元素</a:t>
                      </a:r>
                      <a:endParaRPr kumimoji="0" lang="zh-CN" altLang="zh-CN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1439" marR="51439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432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S&amp;=T</a:t>
                      </a:r>
                      <a:r>
                        <a:rPr kumimoji="0" lang="zh-CN" altLang="zh-CN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或</a:t>
                      </a:r>
                      <a:r>
                        <a:rPr kumimoji="0" lang="en-US" altLang="zh-CN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S.intersection_update(T)</a:t>
                      </a:r>
                      <a:endParaRPr kumimoji="0" lang="zh-CN" altLang="zh-CN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1439" marR="51439" marT="0" marB="0" horzOverflow="overflow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zh-CN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更新集合</a:t>
                      </a:r>
                      <a:r>
                        <a:rPr kumimoji="0" lang="en-US" altLang="zh-CN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S</a:t>
                      </a:r>
                      <a:r>
                        <a:rPr kumimoji="0" lang="zh-CN" altLang="zh-CN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，包括同时在集合</a:t>
                      </a:r>
                      <a:r>
                        <a:rPr kumimoji="0" lang="en-US" altLang="zh-CN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S</a:t>
                      </a:r>
                      <a:r>
                        <a:rPr kumimoji="0" lang="zh-CN" altLang="zh-CN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和</a:t>
                      </a:r>
                      <a:r>
                        <a:rPr kumimoji="0" lang="en-US" altLang="zh-CN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T</a:t>
                      </a:r>
                      <a:r>
                        <a:rPr kumimoji="0" lang="zh-CN" altLang="zh-CN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中的元素。</a:t>
                      </a:r>
                      <a:endParaRPr kumimoji="0" lang="zh-CN" altLang="zh-CN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1439" marR="51439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4864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S^T</a:t>
                      </a:r>
                      <a:r>
                        <a:rPr kumimoji="0" lang="zh-CN" altLang="zh-CN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或</a:t>
                      </a:r>
                      <a:r>
                        <a:rPr kumimoji="0" lang="en-US" altLang="zh-CN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s.symmetric_difference(T)</a:t>
                      </a:r>
                      <a:endParaRPr kumimoji="0" lang="zh-CN" altLang="zh-CN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1439" marR="51439" marT="0" marB="0" horzOverflow="overflow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zh-CN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返回一个新集合，包括集合</a:t>
                      </a:r>
                      <a:r>
                        <a:rPr kumimoji="0" lang="en-US" altLang="zh-CN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S</a:t>
                      </a:r>
                      <a:r>
                        <a:rPr kumimoji="0" lang="zh-CN" altLang="zh-CN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和</a:t>
                      </a:r>
                      <a:r>
                        <a:rPr kumimoji="0" lang="en-US" altLang="zh-CN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T</a:t>
                      </a:r>
                      <a:r>
                        <a:rPr kumimoji="0" lang="zh-CN" altLang="zh-CN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中元素，但不包括同时在其中的元素</a:t>
                      </a:r>
                      <a:endParaRPr kumimoji="0" lang="zh-CN" altLang="zh-CN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1439" marR="51439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4864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S=^T</a:t>
                      </a:r>
                      <a:r>
                        <a:rPr kumimoji="0" lang="zh-CN" altLang="zh-CN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或</a:t>
                      </a:r>
                      <a:r>
                        <a:rPr kumimoji="0" lang="en-US" altLang="zh-CN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s.symmetric_difference_update(T)</a:t>
                      </a:r>
                      <a:endParaRPr kumimoji="0" lang="zh-CN" altLang="zh-CN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1439" marR="51439" marT="0" marB="0" horzOverflow="overflow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zh-CN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更新集合</a:t>
                      </a:r>
                      <a:r>
                        <a:rPr kumimoji="0" lang="en-US" altLang="zh-CN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S</a:t>
                      </a:r>
                      <a:r>
                        <a:rPr kumimoji="0" lang="zh-CN" altLang="zh-CN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，包括集合</a:t>
                      </a:r>
                      <a:r>
                        <a:rPr kumimoji="0" lang="en-US" altLang="zh-CN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S</a:t>
                      </a:r>
                      <a:r>
                        <a:rPr kumimoji="0" lang="zh-CN" altLang="zh-CN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和</a:t>
                      </a:r>
                      <a:r>
                        <a:rPr kumimoji="0" lang="en-US" altLang="zh-CN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T</a:t>
                      </a:r>
                      <a:r>
                        <a:rPr kumimoji="0" lang="zh-CN" altLang="zh-CN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中元素，但不包括同时在其中的元素</a:t>
                      </a:r>
                      <a:endParaRPr kumimoji="0" lang="zh-CN" altLang="zh-CN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1439" marR="51439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7432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S|T</a:t>
                      </a:r>
                      <a:r>
                        <a:rPr kumimoji="0" lang="zh-CN" altLang="zh-CN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或</a:t>
                      </a:r>
                      <a:r>
                        <a:rPr kumimoji="0" lang="en-US" altLang="zh-CN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S.union(T)</a:t>
                      </a:r>
                      <a:endParaRPr kumimoji="0" lang="zh-CN" altLang="zh-CN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1439" marR="51439" marT="0" marB="0" horzOverflow="overflow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zh-CN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返回一个新集合，包括集合</a:t>
                      </a:r>
                      <a:r>
                        <a:rPr kumimoji="0" lang="en-US" altLang="zh-CN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S</a:t>
                      </a:r>
                      <a:r>
                        <a:rPr kumimoji="0" lang="zh-CN" altLang="zh-CN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和</a:t>
                      </a:r>
                      <a:r>
                        <a:rPr kumimoji="0" lang="en-US" altLang="zh-CN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T</a:t>
                      </a:r>
                      <a:r>
                        <a:rPr kumimoji="0" lang="zh-CN" altLang="zh-CN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中所有元素</a:t>
                      </a:r>
                      <a:endParaRPr kumimoji="0" lang="zh-CN" altLang="zh-CN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1439" marR="51439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7432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S=|T</a:t>
                      </a:r>
                      <a:r>
                        <a:rPr kumimoji="0" lang="zh-CN" altLang="zh-CN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或</a:t>
                      </a:r>
                      <a:r>
                        <a:rPr kumimoji="0" lang="en-US" altLang="zh-CN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S.update(T)</a:t>
                      </a:r>
                      <a:endParaRPr kumimoji="0" lang="zh-CN" altLang="zh-CN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1439" marR="51439" marT="0" marB="0" horzOverflow="overflow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zh-CN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更新集合</a:t>
                      </a:r>
                      <a:r>
                        <a:rPr kumimoji="0" lang="en-US" altLang="zh-CN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S</a:t>
                      </a:r>
                      <a:r>
                        <a:rPr kumimoji="0" lang="zh-CN" altLang="zh-CN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，包括集合</a:t>
                      </a:r>
                      <a:r>
                        <a:rPr kumimoji="0" lang="en-US" altLang="zh-CN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S</a:t>
                      </a:r>
                      <a:r>
                        <a:rPr kumimoji="0" lang="zh-CN" altLang="zh-CN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和</a:t>
                      </a:r>
                      <a:r>
                        <a:rPr kumimoji="0" lang="en-US" altLang="zh-CN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T</a:t>
                      </a:r>
                      <a:r>
                        <a:rPr kumimoji="0" lang="zh-CN" altLang="zh-CN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中所有元素</a:t>
                      </a:r>
                      <a:endParaRPr kumimoji="0" lang="zh-CN" altLang="zh-CN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1439" marR="51439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54864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S&lt;=T</a:t>
                      </a:r>
                      <a:r>
                        <a:rPr kumimoji="0" lang="zh-CN" altLang="zh-CN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或</a:t>
                      </a:r>
                      <a:r>
                        <a:rPr kumimoji="0" lang="en-US" altLang="zh-CN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S.issubset(T)</a:t>
                      </a:r>
                      <a:endParaRPr kumimoji="0" lang="zh-CN" altLang="zh-CN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1439" marR="51439" marT="0" marB="0" horzOverflow="overflow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zh-CN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如果</a:t>
                      </a:r>
                      <a:r>
                        <a:rPr kumimoji="0" lang="en-US" altLang="zh-CN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S</a:t>
                      </a:r>
                      <a:r>
                        <a:rPr kumimoji="0" lang="zh-CN" altLang="zh-CN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与</a:t>
                      </a:r>
                      <a:r>
                        <a:rPr kumimoji="0" lang="en-US" altLang="zh-CN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T</a:t>
                      </a:r>
                      <a:r>
                        <a:rPr kumimoji="0" lang="zh-CN" altLang="zh-CN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相同或</a:t>
                      </a:r>
                      <a:r>
                        <a:rPr kumimoji="0" lang="en-US" altLang="zh-CN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S</a:t>
                      </a:r>
                      <a:r>
                        <a:rPr kumimoji="0" lang="zh-CN" altLang="zh-CN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是</a:t>
                      </a:r>
                      <a:r>
                        <a:rPr kumimoji="0" lang="en-US" altLang="zh-CN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T</a:t>
                      </a:r>
                      <a:r>
                        <a:rPr kumimoji="0" lang="zh-CN" altLang="zh-CN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的子集，返回</a:t>
                      </a:r>
                      <a:r>
                        <a:rPr kumimoji="0" lang="en-US" altLang="zh-CN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True</a:t>
                      </a:r>
                      <a:r>
                        <a:rPr kumimoji="0" lang="zh-CN" altLang="zh-CN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，否则返回</a:t>
                      </a:r>
                      <a:r>
                        <a:rPr kumimoji="0" lang="en-US" altLang="zh-CN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False</a:t>
                      </a:r>
                      <a:r>
                        <a:rPr kumimoji="0" lang="zh-CN" altLang="zh-CN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，可以用</a:t>
                      </a:r>
                      <a:r>
                        <a:rPr kumimoji="0" lang="en-US" altLang="zh-CN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S&lt;T</a:t>
                      </a:r>
                      <a:r>
                        <a:rPr kumimoji="0" lang="zh-CN" altLang="zh-CN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判断</a:t>
                      </a:r>
                      <a:r>
                        <a:rPr kumimoji="0" lang="en-US" altLang="zh-CN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S</a:t>
                      </a:r>
                      <a:r>
                        <a:rPr kumimoji="0" lang="zh-CN" altLang="zh-CN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是否是</a:t>
                      </a:r>
                      <a:r>
                        <a:rPr kumimoji="0" lang="en-US" altLang="zh-CN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T</a:t>
                      </a:r>
                      <a:r>
                        <a:rPr kumimoji="0" lang="zh-CN" altLang="zh-CN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的真子集</a:t>
                      </a:r>
                      <a:endParaRPr kumimoji="0" lang="zh-CN" altLang="zh-CN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1439" marR="51439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54864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S&gt;=T</a:t>
                      </a:r>
                      <a:r>
                        <a:rPr kumimoji="0" lang="zh-CN" altLang="zh-CN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或</a:t>
                      </a:r>
                      <a:r>
                        <a:rPr kumimoji="0" lang="en-US" altLang="zh-CN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S.issuperset(T)</a:t>
                      </a:r>
                      <a:endParaRPr kumimoji="0" lang="zh-CN" altLang="zh-CN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1439" marR="51439" marT="0" marB="0" horzOverflow="overflow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zh-CN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如果</a:t>
                      </a:r>
                      <a:r>
                        <a:rPr kumimoji="0" lang="en-US" altLang="zh-CN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S</a:t>
                      </a:r>
                      <a:r>
                        <a:rPr kumimoji="0" lang="zh-CN" altLang="zh-CN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与</a:t>
                      </a:r>
                      <a:r>
                        <a:rPr kumimoji="0" lang="en-US" altLang="zh-CN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T</a:t>
                      </a:r>
                      <a:r>
                        <a:rPr kumimoji="0" lang="zh-CN" altLang="zh-CN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相同或</a:t>
                      </a:r>
                      <a:r>
                        <a:rPr kumimoji="0" lang="en-US" altLang="zh-CN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S</a:t>
                      </a:r>
                      <a:r>
                        <a:rPr kumimoji="0" lang="zh-CN" altLang="zh-CN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是</a:t>
                      </a:r>
                      <a:r>
                        <a:rPr kumimoji="0" lang="en-US" altLang="zh-CN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T</a:t>
                      </a:r>
                      <a:r>
                        <a:rPr kumimoji="0" lang="zh-CN" altLang="zh-CN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的超集，返回</a:t>
                      </a:r>
                      <a:r>
                        <a:rPr kumimoji="0" lang="en-US" altLang="zh-CN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True</a:t>
                      </a:r>
                      <a:r>
                        <a:rPr kumimoji="0" lang="zh-CN" altLang="zh-CN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，否则返回</a:t>
                      </a:r>
                      <a:r>
                        <a:rPr kumimoji="0" lang="en-US" altLang="zh-CN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False</a:t>
                      </a:r>
                      <a:r>
                        <a:rPr kumimoji="0" lang="zh-CN" altLang="zh-CN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，可以用</a:t>
                      </a:r>
                      <a:r>
                        <a:rPr kumimoji="0" lang="en-US" altLang="zh-CN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S&gt;T</a:t>
                      </a:r>
                      <a:r>
                        <a:rPr kumimoji="0" lang="zh-CN" altLang="zh-CN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判断</a:t>
                      </a:r>
                      <a:r>
                        <a:rPr kumimoji="0" lang="en-US" altLang="zh-CN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S</a:t>
                      </a:r>
                      <a:r>
                        <a:rPr kumimoji="0" lang="zh-CN" altLang="zh-CN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是否是</a:t>
                      </a:r>
                      <a:r>
                        <a:rPr kumimoji="0" lang="en-US" altLang="zh-CN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T</a:t>
                      </a:r>
                      <a:r>
                        <a:rPr kumimoji="0" lang="zh-CN" altLang="zh-CN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的真超集</a:t>
                      </a:r>
                      <a:endParaRPr kumimoji="0" lang="zh-CN" altLang="zh-CN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1439" marR="51439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0163" name="图片 4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184672" y="1038225"/>
            <a:ext cx="920354" cy="923925"/>
          </a:xfrm>
          <a:prstGeom prst="rect">
            <a:avLst/>
          </a:prstGeom>
          <a:noFill/>
          <a:ln>
            <a:noFill/>
          </a:ln>
          <a:effectLst>
            <a:outerShdw blurRad="63500" dist="38100" dir="2700000" algn="ctr" rotWithShape="0">
              <a:srgbClr val="000000">
                <a:alpha val="7999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20164" name="TextBox 2"/>
          <p:cNvSpPr txBox="1">
            <a:spLocks noChangeArrowheads="1"/>
          </p:cNvSpPr>
          <p:nvPr/>
        </p:nvSpPr>
        <p:spPr bwMode="auto">
          <a:xfrm>
            <a:off x="1639491" y="1357312"/>
            <a:ext cx="1723549" cy="553998"/>
          </a:xfrm>
          <a:prstGeom prst="rect">
            <a:avLst/>
          </a:prstGeom>
          <a:noFill/>
          <a:ln>
            <a:noFill/>
          </a:ln>
          <a:effectLst>
            <a:outerShdw blurRad="63500" dist="38100" dir="2700000" algn="ctr" rotWithShape="0">
              <a:srgbClr val="000000">
                <a:alpha val="10999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defTabSz="685800" eaLnBrk="1" hangingPunct="1">
              <a:spcBef>
                <a:spcPct val="0"/>
              </a:spcBef>
              <a:buNone/>
              <a:defRPr/>
            </a:pPr>
            <a:r>
              <a:rPr lang="zh-CN" altLang="en-US" sz="3000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</a:rPr>
              <a:t>集合类型</a:t>
            </a:r>
            <a:endParaRPr lang="zh-CN" altLang="zh-CN" sz="3000">
              <a:solidFill>
                <a:srgbClr val="26262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0724" name="矩形 1"/>
          <p:cNvSpPr/>
          <p:nvPr/>
        </p:nvSpPr>
        <p:spPr>
          <a:xfrm>
            <a:off x="1390651" y="2168129"/>
            <a:ext cx="6604397" cy="874407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indent="0">
              <a:lnSpc>
                <a:spcPct val="150000"/>
              </a:lnSpc>
              <a:spcBef>
                <a:spcPct val="0"/>
              </a:spcBef>
              <a:buNone/>
            </a:pPr>
            <a:r>
              <a:rPr lang="zh-CN" altLang="en-US" sz="1800" dirty="0">
                <a:latin typeface="微软雅黑" panose="020B0503020204020204" charset="-122"/>
                <a:ea typeface="微软雅黑" panose="020B0503020204020204" charset="-122"/>
              </a:rPr>
              <a:t>     </a:t>
            </a:r>
            <a:r>
              <a:rPr lang="zh-CN" altLang="zh-CN" sz="1800" dirty="0">
                <a:latin typeface="微软雅黑" panose="020B0503020204020204" charset="-122"/>
                <a:ea typeface="微软雅黑" panose="020B0503020204020204" charset="-122"/>
              </a:rPr>
              <a:t>上述操作符表达了集合类型的</a:t>
            </a:r>
            <a:r>
              <a:rPr lang="en-US" altLang="zh-CN" sz="1800" dirty="0">
                <a:latin typeface="微软雅黑" panose="020B0503020204020204" charset="-122"/>
                <a:ea typeface="微软雅黑" panose="020B0503020204020204" charset="-122"/>
              </a:rPr>
              <a:t>4</a:t>
            </a:r>
            <a:r>
              <a:rPr lang="zh-CN" altLang="zh-CN" sz="1800" dirty="0">
                <a:latin typeface="微软雅黑" panose="020B0503020204020204" charset="-122"/>
                <a:ea typeface="微软雅黑" panose="020B0503020204020204" charset="-122"/>
              </a:rPr>
              <a:t>种基本操作，交集（</a:t>
            </a:r>
            <a:r>
              <a:rPr lang="en-US" altLang="zh-CN" sz="1800" dirty="0">
                <a:latin typeface="微软雅黑" panose="020B0503020204020204" charset="-122"/>
                <a:ea typeface="微软雅黑" panose="020B0503020204020204" charset="-122"/>
              </a:rPr>
              <a:t>&amp;</a:t>
            </a:r>
            <a:r>
              <a:rPr lang="zh-CN" altLang="zh-CN" sz="1800" dirty="0">
                <a:latin typeface="微软雅黑" panose="020B0503020204020204" charset="-122"/>
                <a:ea typeface="微软雅黑" panose="020B0503020204020204" charset="-122"/>
              </a:rPr>
              <a:t>）、并集（</a:t>
            </a:r>
            <a:r>
              <a:rPr lang="en-US" altLang="zh-CN" sz="1800" dirty="0">
                <a:latin typeface="微软雅黑" panose="020B0503020204020204" charset="-122"/>
                <a:ea typeface="微软雅黑" panose="020B0503020204020204" charset="-122"/>
              </a:rPr>
              <a:t>|</a:t>
            </a:r>
            <a:r>
              <a:rPr lang="zh-CN" altLang="zh-CN" sz="1800" dirty="0">
                <a:latin typeface="微软雅黑" panose="020B0503020204020204" charset="-122"/>
                <a:ea typeface="微软雅黑" panose="020B0503020204020204" charset="-122"/>
              </a:rPr>
              <a:t>）、差集（</a:t>
            </a:r>
            <a:r>
              <a:rPr lang="en-US" altLang="zh-CN" sz="1800" dirty="0">
                <a:latin typeface="微软雅黑" panose="020B0503020204020204" charset="-122"/>
                <a:ea typeface="微软雅黑" panose="020B0503020204020204" charset="-122"/>
              </a:rPr>
              <a:t>-</a:t>
            </a:r>
            <a:r>
              <a:rPr lang="zh-CN" altLang="zh-CN" sz="1800" dirty="0">
                <a:latin typeface="微软雅黑" panose="020B0503020204020204" charset="-122"/>
                <a:ea typeface="微软雅黑" panose="020B0503020204020204" charset="-122"/>
              </a:rPr>
              <a:t>）、补集（</a:t>
            </a:r>
            <a:r>
              <a:rPr lang="en-US" altLang="zh-CN" sz="1800" dirty="0">
                <a:latin typeface="微软雅黑" panose="020B0503020204020204" charset="-122"/>
                <a:ea typeface="微软雅黑" panose="020B0503020204020204" charset="-122"/>
              </a:rPr>
              <a:t>^</a:t>
            </a:r>
            <a:r>
              <a:rPr lang="zh-CN" altLang="zh-CN" sz="1800" dirty="0">
                <a:latin typeface="微软雅黑" panose="020B0503020204020204" charset="-122"/>
                <a:ea typeface="微软雅黑" panose="020B0503020204020204" charset="-122"/>
              </a:rPr>
              <a:t>），操作逻辑与数学定义相同</a:t>
            </a:r>
            <a:endParaRPr lang="zh-CN" altLang="en-US" sz="1800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3072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95513" y="3275410"/>
            <a:ext cx="4626769" cy="2196703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0163" name="图片 4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184672" y="1038225"/>
            <a:ext cx="920354" cy="923925"/>
          </a:xfrm>
          <a:prstGeom prst="rect">
            <a:avLst/>
          </a:prstGeom>
          <a:noFill/>
          <a:ln>
            <a:noFill/>
          </a:ln>
          <a:effectLst>
            <a:outerShdw blurRad="63500" dist="38100" dir="2700000" algn="ctr" rotWithShape="0">
              <a:srgbClr val="000000">
                <a:alpha val="7999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20164" name="TextBox 2"/>
          <p:cNvSpPr txBox="1">
            <a:spLocks noChangeArrowheads="1"/>
          </p:cNvSpPr>
          <p:nvPr/>
        </p:nvSpPr>
        <p:spPr bwMode="auto">
          <a:xfrm>
            <a:off x="1925241" y="1091803"/>
            <a:ext cx="1723549" cy="553998"/>
          </a:xfrm>
          <a:prstGeom prst="rect">
            <a:avLst/>
          </a:prstGeom>
          <a:noFill/>
          <a:ln>
            <a:noFill/>
          </a:ln>
          <a:effectLst>
            <a:outerShdw blurRad="63500" dist="38100" dir="2700000" algn="ctr" rotWithShape="0">
              <a:srgbClr val="000000">
                <a:alpha val="10999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defTabSz="685800" eaLnBrk="1" hangingPunct="1">
              <a:spcBef>
                <a:spcPct val="0"/>
              </a:spcBef>
              <a:buNone/>
              <a:defRPr/>
            </a:pPr>
            <a:r>
              <a:rPr lang="zh-CN" altLang="en-US" sz="3000" dirty="0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</a:rPr>
              <a:t>集合类型</a:t>
            </a:r>
            <a:endParaRPr lang="zh-CN" altLang="zh-CN" sz="3000" dirty="0">
              <a:solidFill>
                <a:srgbClr val="26262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1748" name="矩形 1"/>
          <p:cNvSpPr/>
          <p:nvPr/>
        </p:nvSpPr>
        <p:spPr>
          <a:xfrm>
            <a:off x="3969544" y="1276350"/>
            <a:ext cx="3523722" cy="369332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indent="0">
              <a:spcBef>
                <a:spcPct val="0"/>
              </a:spcBef>
              <a:buNone/>
            </a:pPr>
            <a:r>
              <a:rPr lang="zh-CN" altLang="zh-CN" sz="1800" dirty="0">
                <a:latin typeface="微软雅黑" panose="020B0503020204020204" charset="-122"/>
                <a:ea typeface="微软雅黑" panose="020B0503020204020204" charset="-122"/>
              </a:rPr>
              <a:t>集合类型有</a:t>
            </a:r>
            <a:r>
              <a:rPr lang="en-US" altLang="zh-CN" sz="1800" dirty="0">
                <a:latin typeface="微软雅黑" panose="020B0503020204020204" charset="-122"/>
                <a:ea typeface="微软雅黑" panose="020B0503020204020204" charset="-122"/>
              </a:rPr>
              <a:t>10</a:t>
            </a:r>
            <a:r>
              <a:rPr lang="zh-CN" altLang="zh-CN" sz="1800" dirty="0">
                <a:latin typeface="微软雅黑" panose="020B0503020204020204" charset="-122"/>
                <a:ea typeface="微软雅黑" panose="020B0503020204020204" charset="-122"/>
              </a:rPr>
              <a:t>个操作函数或方法 </a:t>
            </a:r>
            <a:endParaRPr lang="zh-CN" altLang="en-US" sz="1800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graphicFrame>
        <p:nvGraphicFramePr>
          <p:cNvPr id="3" name="表格 2"/>
          <p:cNvGraphicFramePr>
            <a:graphicFrameLocks noGrp="1"/>
          </p:cNvGraphicFramePr>
          <p:nvPr/>
        </p:nvGraphicFramePr>
        <p:xfrm>
          <a:off x="1709738" y="2015729"/>
          <a:ext cx="5756434" cy="4055718"/>
        </p:xfrm>
        <a:graphic>
          <a:graphicData uri="http://schemas.openxmlformats.org/drawingml/2006/table">
            <a:tbl>
              <a:tblPr/>
              <a:tblGrid>
                <a:gridCol w="152685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2957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14989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函数或方法</a:t>
                      </a:r>
                      <a:endParaRPr kumimoji="0" lang="zh-CN" altLang="zh-CN" sz="15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1440" marR="51440" marT="0" marB="0" horzOverflow="overflow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描述</a:t>
                      </a:r>
                      <a:endParaRPr kumimoji="0" lang="zh-CN" altLang="zh-CN" sz="15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1440" marR="5144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4989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S.add</a:t>
                      </a:r>
                      <a:r>
                        <a:rPr kumimoji="0" lang="en-US" altLang="zh-CN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(x)</a:t>
                      </a:r>
                      <a:endParaRPr kumimoji="0" lang="zh-CN" altLang="zh-CN" sz="15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1440" marR="51440" marT="0" marB="0" horzOverflow="overflow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如果数据项</a:t>
                      </a: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x</a:t>
                      </a:r>
                      <a:r>
                        <a:rPr kumimoji="0" lang="zh-CN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不在集合</a:t>
                      </a: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S</a:t>
                      </a:r>
                      <a:r>
                        <a:rPr kumimoji="0" lang="zh-CN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中，将</a:t>
                      </a: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x</a:t>
                      </a:r>
                      <a:r>
                        <a:rPr kumimoji="0" lang="zh-CN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增加到</a:t>
                      </a: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s</a:t>
                      </a:r>
                      <a:endParaRPr kumimoji="0" lang="zh-CN" altLang="zh-CN" sz="15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1440" marR="5144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4989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S.clear()</a:t>
                      </a:r>
                      <a:endParaRPr kumimoji="0" lang="zh-CN" altLang="zh-CN" sz="15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1440" marR="51440" marT="0" marB="0" horzOverflow="overflow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移除</a:t>
                      </a: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S</a:t>
                      </a:r>
                      <a:r>
                        <a:rPr kumimoji="0" lang="zh-CN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中所有数据项</a:t>
                      </a:r>
                      <a:endParaRPr kumimoji="0" lang="zh-CN" altLang="zh-CN" sz="15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1440" marR="5144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4989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S.copy()</a:t>
                      </a:r>
                      <a:endParaRPr kumimoji="0" lang="zh-CN" altLang="zh-CN" sz="15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1440" marR="51440" marT="0" marB="0" horzOverflow="overflow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返回集合</a:t>
                      </a: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S</a:t>
                      </a:r>
                      <a:r>
                        <a:rPr kumimoji="0" lang="zh-CN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的一个拷贝</a:t>
                      </a:r>
                      <a:endParaRPr kumimoji="0" lang="zh-CN" altLang="zh-CN" sz="15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1440" marR="5144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17249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S.pop()</a:t>
                      </a:r>
                      <a:endParaRPr kumimoji="0" lang="zh-CN" altLang="zh-CN" sz="15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1440" marR="51440" marT="0" marB="0" horzOverflow="overflow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随机返回集合</a:t>
                      </a: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S</a:t>
                      </a:r>
                      <a:r>
                        <a:rPr kumimoji="0" lang="zh-CN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中的一个元素，如果</a:t>
                      </a: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S</a:t>
                      </a:r>
                      <a:r>
                        <a:rPr kumimoji="0" lang="zh-CN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为空，产生</a:t>
                      </a: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KeyError</a:t>
                      </a:r>
                      <a:r>
                        <a:rPr kumimoji="0" lang="zh-CN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异常</a:t>
                      </a:r>
                      <a:endParaRPr kumimoji="0" lang="zh-CN" altLang="zh-CN" sz="15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1440" marR="5144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14989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S.discard(x)</a:t>
                      </a:r>
                      <a:endParaRPr kumimoji="0" lang="zh-CN" altLang="zh-CN" sz="15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1440" marR="51440" marT="0" marB="0" horzOverflow="overflow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如果</a:t>
                      </a: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x</a:t>
                      </a:r>
                      <a:r>
                        <a:rPr kumimoji="0" lang="zh-CN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在集合</a:t>
                      </a: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S</a:t>
                      </a:r>
                      <a:r>
                        <a:rPr kumimoji="0" lang="zh-CN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中，移除该元素；如果</a:t>
                      </a: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x</a:t>
                      </a:r>
                      <a:r>
                        <a:rPr kumimoji="0" lang="zh-CN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不在，不报错</a:t>
                      </a:r>
                      <a:endParaRPr kumimoji="0" lang="zh-CN" altLang="zh-CN" sz="15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1440" marR="5144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14989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S.remove(x)</a:t>
                      </a:r>
                      <a:endParaRPr kumimoji="0" lang="zh-CN" altLang="zh-CN" sz="15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1440" marR="51440" marT="0" marB="0" horzOverflow="overflow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如果</a:t>
                      </a: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x</a:t>
                      </a:r>
                      <a:r>
                        <a:rPr kumimoji="0" lang="zh-CN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在集合</a:t>
                      </a: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S</a:t>
                      </a:r>
                      <a:r>
                        <a:rPr kumimoji="0" lang="zh-CN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中，移除该元素；不在产生</a:t>
                      </a: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KeyError</a:t>
                      </a:r>
                      <a:r>
                        <a:rPr kumimoji="0" lang="zh-CN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异常</a:t>
                      </a:r>
                      <a:endParaRPr kumimoji="0" lang="zh-CN" altLang="zh-CN" sz="15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1440" marR="5144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14989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S.isdisjoint(T)</a:t>
                      </a:r>
                      <a:endParaRPr kumimoji="0" lang="zh-CN" altLang="zh-CN" sz="15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1440" marR="51440" marT="0" marB="0" horzOverflow="overflow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如果集合</a:t>
                      </a: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S</a:t>
                      </a:r>
                      <a:r>
                        <a:rPr kumimoji="0" lang="zh-CN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与</a:t>
                      </a: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T</a:t>
                      </a:r>
                      <a:r>
                        <a:rPr kumimoji="0" lang="zh-CN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没有相同元素，返回</a:t>
                      </a: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True</a:t>
                      </a:r>
                      <a:endParaRPr kumimoji="0" lang="zh-CN" altLang="zh-CN" sz="15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1440" marR="5144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14989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len(S)</a:t>
                      </a:r>
                      <a:endParaRPr kumimoji="0" lang="zh-CN" altLang="zh-CN" sz="15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1440" marR="51440" marT="0" marB="0" horzOverflow="overflow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返回集合</a:t>
                      </a: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S</a:t>
                      </a:r>
                      <a:r>
                        <a:rPr kumimoji="0" lang="zh-CN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元素个数</a:t>
                      </a:r>
                      <a:endParaRPr kumimoji="0" lang="zh-CN" altLang="zh-CN" sz="15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1440" marR="5144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14989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x in S</a:t>
                      </a:r>
                      <a:endParaRPr kumimoji="0" lang="zh-CN" altLang="zh-CN" sz="15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1440" marR="51440" marT="0" marB="0" horzOverflow="overflow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如果</a:t>
                      </a: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x</a:t>
                      </a:r>
                      <a:r>
                        <a:rPr kumimoji="0" lang="zh-CN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是</a:t>
                      </a: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S</a:t>
                      </a:r>
                      <a:r>
                        <a:rPr kumimoji="0" lang="zh-CN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的元素，返回</a:t>
                      </a: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True</a:t>
                      </a:r>
                      <a:r>
                        <a:rPr kumimoji="0" lang="zh-CN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，否则返回</a:t>
                      </a: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False</a:t>
                      </a:r>
                      <a:endParaRPr kumimoji="0" lang="zh-CN" altLang="zh-CN" sz="15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1440" marR="5144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14989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x not in S</a:t>
                      </a:r>
                      <a:endParaRPr kumimoji="0" lang="zh-CN" altLang="zh-CN" sz="15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1440" marR="51440" marT="0" marB="0" horzOverflow="overflow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zh-CN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如果</a:t>
                      </a:r>
                      <a:r>
                        <a:rPr kumimoji="0" lang="en-US" altLang="zh-CN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x</a:t>
                      </a:r>
                      <a:r>
                        <a:rPr kumimoji="0" lang="zh-CN" altLang="zh-CN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不是</a:t>
                      </a:r>
                      <a:r>
                        <a:rPr kumimoji="0" lang="en-US" altLang="zh-CN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S</a:t>
                      </a:r>
                      <a:r>
                        <a:rPr kumimoji="0" lang="zh-CN" altLang="zh-CN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的元素，返回</a:t>
                      </a:r>
                      <a:r>
                        <a:rPr kumimoji="0" lang="en-US" altLang="zh-CN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True</a:t>
                      </a:r>
                      <a:r>
                        <a:rPr kumimoji="0" lang="zh-CN" altLang="zh-CN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，否则返回</a:t>
                      </a:r>
                      <a:r>
                        <a:rPr kumimoji="0" lang="en-US" altLang="zh-CN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False</a:t>
                      </a:r>
                      <a:endParaRPr kumimoji="0" lang="zh-CN" altLang="zh-CN" sz="15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1440" marR="5144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0163" name="图片 4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184672" y="1038225"/>
            <a:ext cx="920354" cy="923925"/>
          </a:xfrm>
          <a:prstGeom prst="rect">
            <a:avLst/>
          </a:prstGeom>
          <a:noFill/>
          <a:ln>
            <a:noFill/>
          </a:ln>
          <a:effectLst>
            <a:outerShdw blurRad="63500" dist="38100" dir="2700000" algn="ctr" rotWithShape="0">
              <a:srgbClr val="000000">
                <a:alpha val="7999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20164" name="TextBox 2"/>
          <p:cNvSpPr txBox="1">
            <a:spLocks noChangeArrowheads="1"/>
          </p:cNvSpPr>
          <p:nvPr/>
        </p:nvSpPr>
        <p:spPr bwMode="auto">
          <a:xfrm>
            <a:off x="1475656" y="456032"/>
            <a:ext cx="1723549" cy="553998"/>
          </a:xfrm>
          <a:prstGeom prst="rect">
            <a:avLst/>
          </a:prstGeom>
          <a:noFill/>
          <a:ln>
            <a:noFill/>
          </a:ln>
          <a:effectLst>
            <a:outerShdw blurRad="63500" dist="38100" dir="2700000" algn="ctr" rotWithShape="0">
              <a:srgbClr val="000000">
                <a:alpha val="10999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defTabSz="685800" eaLnBrk="1" hangingPunct="1">
              <a:spcBef>
                <a:spcPct val="0"/>
              </a:spcBef>
              <a:buNone/>
              <a:defRPr/>
            </a:pPr>
            <a:r>
              <a:rPr lang="zh-CN" altLang="en-US" sz="3000" dirty="0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</a:rPr>
              <a:t>集合类型</a:t>
            </a:r>
            <a:endParaRPr lang="zh-CN" altLang="zh-CN" sz="3000" dirty="0">
              <a:solidFill>
                <a:srgbClr val="26262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2772" name="矩形 1"/>
          <p:cNvSpPr/>
          <p:nvPr/>
        </p:nvSpPr>
        <p:spPr>
          <a:xfrm>
            <a:off x="1561505" y="1201219"/>
            <a:ext cx="6101954" cy="874407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indent="202406" algn="just">
              <a:lnSpc>
                <a:spcPct val="150000"/>
              </a:lnSpc>
              <a:spcBef>
                <a:spcPct val="0"/>
              </a:spcBef>
              <a:buNone/>
            </a:pPr>
            <a:r>
              <a:rPr lang="zh-CN" altLang="zh-CN" sz="1800" dirty="0">
                <a:latin typeface="微软雅黑" panose="020B0503020204020204" charset="-122"/>
                <a:ea typeface="微软雅黑" panose="020B0503020204020204" charset="-122"/>
              </a:rPr>
              <a:t>集合类型主要用于三个场景：成员关系测试、元素去重和删除数据项，例子如下。</a:t>
            </a:r>
            <a:endParaRPr lang="zh-CN" altLang="zh-CN" sz="1350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graphicFrame>
        <p:nvGraphicFramePr>
          <p:cNvPr id="3" name="表格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6286360"/>
              </p:ext>
            </p:extLst>
          </p:nvPr>
        </p:nvGraphicFramePr>
        <p:xfrm>
          <a:off x="1644849" y="2296701"/>
          <a:ext cx="6959599" cy="1924388"/>
        </p:xfrm>
        <a:graphic>
          <a:graphicData uri="http://schemas.openxmlformats.org/drawingml/2006/table">
            <a:tbl>
              <a:tblPr/>
              <a:tblGrid>
                <a:gridCol w="695959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92438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ts val="2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</a:rPr>
                        <a:t>&gt;&gt;&gt;"BIT" in {"PYTHON", "BIT", 123, "GOOD"} #</a:t>
                      </a:r>
                      <a:r>
                        <a:rPr kumimoji="0" lang="zh-CN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</a:rPr>
                        <a:t>成员关系测试</a:t>
                      </a:r>
                      <a:endParaRPr kumimoji="0" lang="zh-CN" altLang="zh-CN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ts val="2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</a:rPr>
                        <a:t>True</a:t>
                      </a:r>
                      <a:endParaRPr kumimoji="0" lang="zh-CN" altLang="zh-CN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ts val="2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</a:rPr>
                        <a:t>&gt;&gt;&gt;</a:t>
                      </a:r>
                      <a:r>
                        <a:rPr kumimoji="0" lang="en-US" altLang="zh-CN" sz="16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</a:rPr>
                        <a:t>tup</a:t>
                      </a:r>
                      <a:r>
                        <a:rPr kumimoji="0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</a:rPr>
                        <a:t> = ("PYTHON", "BIT", 123, "GOOD", 123) #</a:t>
                      </a:r>
                      <a:r>
                        <a:rPr kumimoji="0" lang="zh-CN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</a:rPr>
                        <a:t>元素去重</a:t>
                      </a:r>
                      <a:endParaRPr kumimoji="0" lang="zh-CN" altLang="zh-CN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ts val="2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</a:rPr>
                        <a:t>&gt;&gt;&gt;set(</a:t>
                      </a:r>
                      <a:r>
                        <a:rPr kumimoji="0" lang="en-US" altLang="zh-CN" sz="16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</a:rPr>
                        <a:t>tup</a:t>
                      </a:r>
                      <a:r>
                        <a:rPr kumimoji="0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</a:rPr>
                        <a:t>)</a:t>
                      </a:r>
                      <a:endParaRPr kumimoji="0" lang="zh-CN" altLang="zh-CN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ts val="2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</a:rPr>
                        <a:t>{123, 'GOOD', 'BIT', 'PYTHON'}</a:t>
                      </a:r>
                      <a:endParaRPr kumimoji="0" lang="zh-CN" altLang="zh-CN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ts val="2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</a:rPr>
                        <a:t>&gt;&gt;&gt;</a:t>
                      </a:r>
                      <a:r>
                        <a:rPr kumimoji="0" lang="en-US" altLang="zh-CN" sz="16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</a:rPr>
                        <a:t>newtup</a:t>
                      </a:r>
                      <a:r>
                        <a:rPr kumimoji="0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</a:rPr>
                        <a:t> = tuple(set(</a:t>
                      </a:r>
                      <a:r>
                        <a:rPr kumimoji="0" lang="en-US" altLang="zh-CN" sz="16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</a:rPr>
                        <a:t>tup</a:t>
                      </a:r>
                      <a:r>
                        <a:rPr kumimoji="0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</a:rPr>
                        <a:t>)–{</a:t>
                      </a: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</a:rPr>
                        <a:t>'PYTHON'</a:t>
                      </a:r>
                      <a:r>
                        <a:rPr kumimoji="0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</a:rPr>
                        <a:t>}) # </a:t>
                      </a:r>
                      <a:r>
                        <a:rPr kumimoji="0" lang="zh-CN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</a:rPr>
                        <a:t>去重同时删除数据项</a:t>
                      </a:r>
                      <a:endParaRPr kumimoji="0" lang="zh-CN" altLang="zh-CN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ts val="2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</a:rPr>
                        <a:t>('GOOD', 123, 'BIT') </a:t>
                      </a:r>
                      <a:endParaRPr kumimoji="0" lang="zh-CN" altLang="zh-CN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</a:endParaRPr>
                    </a:p>
                  </a:txBody>
                  <a:tcPr marL="51435" marR="51435" marT="0" marB="0" horzOverflow="overflow">
                    <a:lnL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pattFill prst="pct10">
                      <a:fgClr>
                        <a:srgbClr val="FFFFFF"/>
                      </a:fgClr>
                      <a:bgClr>
                        <a:srgbClr val="E5E5E5"/>
                      </a:bgClr>
                    </a:patt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32779" name="矩形 3"/>
          <p:cNvSpPr/>
          <p:nvPr/>
        </p:nvSpPr>
        <p:spPr>
          <a:xfrm>
            <a:off x="1979712" y="4725144"/>
            <a:ext cx="6074569" cy="128990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indent="202406" algn="just">
              <a:lnSpc>
                <a:spcPct val="150000"/>
              </a:lnSpc>
              <a:spcBef>
                <a:spcPct val="0"/>
              </a:spcBef>
              <a:buNone/>
            </a:pPr>
            <a:r>
              <a:rPr lang="zh-CN" altLang="zh-CN" sz="1800" dirty="0">
                <a:latin typeface="微软雅黑" panose="020B0503020204020204" charset="-122"/>
                <a:ea typeface="微软雅黑" panose="020B0503020204020204" charset="-122"/>
              </a:rPr>
              <a:t>集合类型与其他类型最大的不同在于它不包含重复元素，因此，当需要对一维数据进行去重或进行数据重复处理时，一般通过集合来完成。</a:t>
            </a:r>
            <a:endParaRPr lang="zh-CN" altLang="zh-CN" sz="1350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文本框 64"/>
          <p:cNvSpPr txBox="1"/>
          <p:nvPr/>
        </p:nvSpPr>
        <p:spPr>
          <a:xfrm>
            <a:off x="1763688" y="5805264"/>
            <a:ext cx="8586580" cy="369332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zh-CN" altLang="en-US" dirty="0"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</a:rPr>
              <a:t>集合可以通过大括号</a:t>
            </a:r>
            <a:r>
              <a:rPr lang="en-US" altLang="zh-CN" dirty="0"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</a:rPr>
              <a:t>{}</a:t>
            </a:r>
            <a:r>
              <a:rPr lang="zh-CN" altLang="en-US" dirty="0"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</a:rPr>
              <a:t>来定义，类型名为</a:t>
            </a:r>
            <a:r>
              <a:rPr lang="en-US" altLang="zh-CN" dirty="0"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</a:rPr>
              <a:t>set</a:t>
            </a:r>
            <a:r>
              <a:rPr lang="zh-CN" altLang="en-US" dirty="0"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</a:rPr>
              <a:t>。</a:t>
            </a:r>
          </a:p>
        </p:txBody>
      </p:sp>
      <p:sp>
        <p:nvSpPr>
          <p:cNvPr id="3" name="矩形 2"/>
          <p:cNvSpPr/>
          <p:nvPr/>
        </p:nvSpPr>
        <p:spPr>
          <a:xfrm>
            <a:off x="1763688" y="3683813"/>
            <a:ext cx="7000668" cy="1754326"/>
          </a:xfrm>
          <a:prstGeom prst="rect">
            <a:avLst/>
          </a:prstGeom>
          <a:ln w="1270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altLang="zh-CN" dirty="0">
                <a:latin typeface="Consolas" panose="020B0609020204030204" pitchFamily="49" charset="0"/>
              </a:rPr>
              <a:t>countries: &lt;class 'set'&gt; {'Japan', 'France', 'China', 'USA'}</a:t>
            </a:r>
          </a:p>
          <a:p>
            <a:r>
              <a:rPr lang="en-US" altLang="zh-CN" dirty="0">
                <a:latin typeface="Consolas" panose="020B0609020204030204" pitchFamily="49" charset="0"/>
              </a:rPr>
              <a:t>d1: &lt;class '</a:t>
            </a:r>
            <a:r>
              <a:rPr lang="en-US" altLang="zh-CN" dirty="0" err="1">
                <a:latin typeface="Consolas" panose="020B0609020204030204" pitchFamily="49" charset="0"/>
              </a:rPr>
              <a:t>dict</a:t>
            </a:r>
            <a:r>
              <a:rPr lang="en-US" altLang="zh-CN" dirty="0">
                <a:latin typeface="Consolas" panose="020B0609020204030204" pitchFamily="49" charset="0"/>
              </a:rPr>
              <a:t>'&gt;</a:t>
            </a:r>
          </a:p>
          <a:p>
            <a:r>
              <a:rPr lang="nl-NL" altLang="zh-CN" dirty="0">
                <a:latin typeface="Consolas" panose="020B0609020204030204" pitchFamily="49" charset="0"/>
              </a:rPr>
              <a:t>s1: {'e', 'H', 'o', 'l'}</a:t>
            </a:r>
          </a:p>
          <a:p>
            <a:r>
              <a:rPr lang="en-US" altLang="zh-CN" dirty="0">
                <a:latin typeface="Consolas" panose="020B0609020204030204" pitchFamily="49" charset="0"/>
              </a:rPr>
              <a:t>s2: {1, 2, 3, 6, 7}</a:t>
            </a:r>
          </a:p>
          <a:p>
            <a:r>
              <a:rPr lang="en-US" altLang="zh-CN" dirty="0">
                <a:latin typeface="Consolas" panose="020B0609020204030204" pitchFamily="49" charset="0"/>
              </a:rPr>
              <a:t>values: [1, 2, 3, 6, 7]</a:t>
            </a:r>
            <a:endParaRPr lang="zh-CN" altLang="en-US" dirty="0">
              <a:latin typeface="Consolas" panose="020B0609020204030204" pitchFamily="49" charset="0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1691680" y="384441"/>
            <a:ext cx="7000667" cy="3139321"/>
          </a:xfrm>
          <a:prstGeom prst="rect">
            <a:avLst/>
          </a:prstGeom>
          <a:ln w="1905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altLang="zh-CN" dirty="0">
                <a:solidFill>
                  <a:srgbClr val="AB5500"/>
                </a:solidFill>
                <a:latin typeface="Consolas" panose="020B0609020204030204" pitchFamily="49" charset="0"/>
              </a:rPr>
              <a:t>#createset.py</a:t>
            </a:r>
          </a:p>
          <a:p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countries </a:t>
            </a:r>
            <a:r>
              <a:rPr lang="en-US" altLang="zh-CN" dirty="0">
                <a:solidFill>
                  <a:srgbClr val="333333"/>
                </a:solidFill>
                <a:latin typeface="Consolas" panose="020B0609020204030204" pitchFamily="49" charset="0"/>
              </a:rPr>
              <a:t>= {</a:t>
            </a:r>
            <a:r>
              <a:rPr lang="en-US" altLang="zh-CN" dirty="0">
                <a:solidFill>
                  <a:srgbClr val="AB1111"/>
                </a:solidFill>
                <a:latin typeface="Consolas" panose="020B0609020204030204" pitchFamily="49" charset="0"/>
              </a:rPr>
              <a:t>"</a:t>
            </a:r>
            <a:r>
              <a:rPr lang="en-US" altLang="zh-CN" dirty="0" err="1">
                <a:solidFill>
                  <a:srgbClr val="AB1111"/>
                </a:solidFill>
                <a:latin typeface="Consolas" panose="020B0609020204030204" pitchFamily="49" charset="0"/>
              </a:rPr>
              <a:t>China"</a:t>
            </a:r>
            <a:r>
              <a:rPr lang="en-US" altLang="zh-CN" dirty="0" err="1">
                <a:solidFill>
                  <a:srgbClr val="333333"/>
                </a:solidFill>
                <a:latin typeface="Consolas" panose="020B0609020204030204" pitchFamily="49" charset="0"/>
              </a:rPr>
              <a:t>,</a:t>
            </a:r>
            <a:r>
              <a:rPr lang="en-US" altLang="zh-CN" dirty="0" err="1">
                <a:solidFill>
                  <a:srgbClr val="AB1111"/>
                </a:solidFill>
                <a:latin typeface="Consolas" panose="020B0609020204030204" pitchFamily="49" charset="0"/>
              </a:rPr>
              <a:t>"USA"</a:t>
            </a:r>
            <a:r>
              <a:rPr lang="en-US" altLang="zh-CN" dirty="0" err="1">
                <a:solidFill>
                  <a:srgbClr val="333333"/>
                </a:solidFill>
                <a:latin typeface="Consolas" panose="020B0609020204030204" pitchFamily="49" charset="0"/>
              </a:rPr>
              <a:t>,</a:t>
            </a:r>
            <a:r>
              <a:rPr lang="en-US" altLang="zh-CN" dirty="0" err="1">
                <a:solidFill>
                  <a:srgbClr val="AB1111"/>
                </a:solidFill>
                <a:latin typeface="Consolas" panose="020B0609020204030204" pitchFamily="49" charset="0"/>
              </a:rPr>
              <a:t>"Japan"</a:t>
            </a:r>
            <a:r>
              <a:rPr lang="en-US" altLang="zh-CN" dirty="0" err="1">
                <a:solidFill>
                  <a:srgbClr val="333333"/>
                </a:solidFill>
                <a:latin typeface="Consolas" panose="020B0609020204030204" pitchFamily="49" charset="0"/>
              </a:rPr>
              <a:t>,</a:t>
            </a:r>
            <a:r>
              <a:rPr lang="en-US" altLang="zh-CN" dirty="0" err="1">
                <a:solidFill>
                  <a:srgbClr val="AB1111"/>
                </a:solidFill>
                <a:latin typeface="Consolas" panose="020B0609020204030204" pitchFamily="49" charset="0"/>
              </a:rPr>
              <a:t>"France</a:t>
            </a:r>
            <a:r>
              <a:rPr lang="en-US" altLang="zh-CN" dirty="0">
                <a:solidFill>
                  <a:srgbClr val="AB1111"/>
                </a:solidFill>
                <a:latin typeface="Consolas" panose="020B0609020204030204" pitchFamily="49" charset="0"/>
              </a:rPr>
              <a:t>"</a:t>
            </a:r>
            <a:r>
              <a:rPr lang="en-US" altLang="zh-CN" dirty="0">
                <a:solidFill>
                  <a:srgbClr val="333333"/>
                </a:solidFill>
                <a:latin typeface="Consolas" panose="020B0609020204030204" pitchFamily="49" charset="0"/>
              </a:rPr>
              <a:t>}</a:t>
            </a:r>
          </a:p>
          <a:p>
            <a:r>
              <a:rPr lang="en-US" altLang="zh-CN" dirty="0">
                <a:solidFill>
                  <a:srgbClr val="3300AB"/>
                </a:solidFill>
                <a:latin typeface="Consolas" panose="020B0609020204030204" pitchFamily="49" charset="0"/>
              </a:rPr>
              <a:t>print</a:t>
            </a:r>
            <a:r>
              <a:rPr lang="en-US" altLang="zh-CN" dirty="0">
                <a:solidFill>
                  <a:srgbClr val="333333"/>
                </a:solidFill>
                <a:latin typeface="Consolas" panose="020B0609020204030204" pitchFamily="49" charset="0"/>
              </a:rPr>
              <a:t>(</a:t>
            </a:r>
            <a:r>
              <a:rPr lang="en-US" altLang="zh-CN" dirty="0">
                <a:solidFill>
                  <a:srgbClr val="AB1111"/>
                </a:solidFill>
                <a:latin typeface="Consolas" panose="020B0609020204030204" pitchFamily="49" charset="0"/>
              </a:rPr>
              <a:t>"</a:t>
            </a:r>
            <a:r>
              <a:rPr lang="en-US" altLang="zh-CN" dirty="0" err="1">
                <a:solidFill>
                  <a:srgbClr val="AB1111"/>
                </a:solidFill>
                <a:latin typeface="Consolas" panose="020B0609020204030204" pitchFamily="49" charset="0"/>
              </a:rPr>
              <a:t>countries:"</a:t>
            </a:r>
            <a:r>
              <a:rPr lang="en-US" altLang="zh-CN" dirty="0" err="1">
                <a:solidFill>
                  <a:srgbClr val="333333"/>
                </a:solidFill>
                <a:latin typeface="Consolas" panose="020B0609020204030204" pitchFamily="49" charset="0"/>
              </a:rPr>
              <a:t>,</a:t>
            </a:r>
            <a:r>
              <a:rPr lang="en-US" altLang="zh-CN" dirty="0" err="1">
                <a:solidFill>
                  <a:srgbClr val="3300AB"/>
                </a:solidFill>
                <a:latin typeface="Consolas" panose="020B0609020204030204" pitchFamily="49" charset="0"/>
              </a:rPr>
              <a:t>type</a:t>
            </a:r>
            <a:r>
              <a:rPr lang="en-US" altLang="zh-CN" dirty="0">
                <a:solidFill>
                  <a:srgbClr val="333333"/>
                </a:solidFill>
                <a:latin typeface="Consolas" panose="020B0609020204030204" pitchFamily="49" charset="0"/>
              </a:rPr>
              <a:t>(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countries</a:t>
            </a:r>
            <a:r>
              <a:rPr lang="en-US" altLang="zh-CN" dirty="0">
                <a:solidFill>
                  <a:srgbClr val="333333"/>
                </a:solidFill>
                <a:latin typeface="Consolas" panose="020B0609020204030204" pitchFamily="49" charset="0"/>
              </a:rPr>
              <a:t>),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countries</a:t>
            </a:r>
            <a:r>
              <a:rPr lang="en-US" altLang="zh-CN" dirty="0">
                <a:solidFill>
                  <a:srgbClr val="333333"/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d1 </a:t>
            </a:r>
            <a:r>
              <a:rPr lang="en-US" altLang="zh-CN" dirty="0">
                <a:solidFill>
                  <a:srgbClr val="333333"/>
                </a:solidFill>
                <a:latin typeface="Consolas" panose="020B0609020204030204" pitchFamily="49" charset="0"/>
              </a:rPr>
              <a:t>= {}</a:t>
            </a:r>
          </a:p>
          <a:p>
            <a:r>
              <a:rPr lang="en-US" altLang="zh-CN" dirty="0">
                <a:solidFill>
                  <a:srgbClr val="3300AB"/>
                </a:solidFill>
                <a:latin typeface="Consolas" panose="020B0609020204030204" pitchFamily="49" charset="0"/>
              </a:rPr>
              <a:t>print</a:t>
            </a:r>
            <a:r>
              <a:rPr lang="en-US" altLang="zh-CN" dirty="0">
                <a:solidFill>
                  <a:srgbClr val="333333"/>
                </a:solidFill>
                <a:latin typeface="Consolas" panose="020B0609020204030204" pitchFamily="49" charset="0"/>
              </a:rPr>
              <a:t>(</a:t>
            </a:r>
            <a:r>
              <a:rPr lang="en-US" altLang="zh-CN" dirty="0">
                <a:solidFill>
                  <a:srgbClr val="AB1111"/>
                </a:solidFill>
                <a:latin typeface="Consolas" panose="020B0609020204030204" pitchFamily="49" charset="0"/>
              </a:rPr>
              <a:t>"d1:"</a:t>
            </a:r>
            <a:r>
              <a:rPr lang="en-US" altLang="zh-CN" dirty="0">
                <a:solidFill>
                  <a:srgbClr val="333333"/>
                </a:solidFill>
                <a:latin typeface="Consolas" panose="020B0609020204030204" pitchFamily="49" charset="0"/>
              </a:rPr>
              <a:t>,</a:t>
            </a:r>
            <a:r>
              <a:rPr lang="en-US" altLang="zh-CN" dirty="0">
                <a:solidFill>
                  <a:srgbClr val="3300AB"/>
                </a:solidFill>
                <a:latin typeface="Consolas" panose="020B0609020204030204" pitchFamily="49" charset="0"/>
              </a:rPr>
              <a:t>type</a:t>
            </a:r>
            <a:r>
              <a:rPr lang="en-US" altLang="zh-CN" dirty="0">
                <a:solidFill>
                  <a:srgbClr val="333333"/>
                </a:solidFill>
                <a:latin typeface="Consolas" panose="020B0609020204030204" pitchFamily="49" charset="0"/>
              </a:rPr>
              <a:t>(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d1</a:t>
            </a:r>
            <a:r>
              <a:rPr lang="en-US" altLang="zh-CN" dirty="0">
                <a:solidFill>
                  <a:srgbClr val="333333"/>
                </a:solidFill>
                <a:latin typeface="Consolas" panose="020B0609020204030204" pitchFamily="49" charset="0"/>
              </a:rPr>
              <a:t>))</a:t>
            </a:r>
          </a:p>
          <a:p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s1 </a:t>
            </a:r>
            <a:r>
              <a:rPr lang="en-US" altLang="zh-CN" dirty="0">
                <a:solidFill>
                  <a:srgbClr val="333333"/>
                </a:solidFill>
                <a:latin typeface="Consolas" panose="020B0609020204030204" pitchFamily="49" charset="0"/>
              </a:rPr>
              <a:t>= </a:t>
            </a:r>
            <a:r>
              <a:rPr lang="en-US" altLang="zh-CN" dirty="0">
                <a:solidFill>
                  <a:srgbClr val="3300AB"/>
                </a:solidFill>
                <a:latin typeface="Consolas" panose="020B0609020204030204" pitchFamily="49" charset="0"/>
              </a:rPr>
              <a:t>set</a:t>
            </a:r>
            <a:r>
              <a:rPr lang="en-US" altLang="zh-CN" dirty="0">
                <a:solidFill>
                  <a:srgbClr val="333333"/>
                </a:solidFill>
                <a:latin typeface="Consolas" panose="020B0609020204030204" pitchFamily="49" charset="0"/>
              </a:rPr>
              <a:t>(</a:t>
            </a:r>
            <a:r>
              <a:rPr lang="en-US" altLang="zh-CN" dirty="0">
                <a:solidFill>
                  <a:srgbClr val="AB1111"/>
                </a:solidFill>
                <a:latin typeface="Consolas" panose="020B0609020204030204" pitchFamily="49" charset="0"/>
              </a:rPr>
              <a:t>"Hello"</a:t>
            </a:r>
            <a:r>
              <a:rPr lang="en-US" altLang="zh-CN" dirty="0">
                <a:solidFill>
                  <a:srgbClr val="333333"/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en-US" altLang="zh-CN" dirty="0">
                <a:solidFill>
                  <a:srgbClr val="3300AB"/>
                </a:solidFill>
                <a:latin typeface="Consolas" panose="020B0609020204030204" pitchFamily="49" charset="0"/>
              </a:rPr>
              <a:t>print</a:t>
            </a:r>
            <a:r>
              <a:rPr lang="en-US" altLang="zh-CN" dirty="0">
                <a:solidFill>
                  <a:srgbClr val="333333"/>
                </a:solidFill>
                <a:latin typeface="Consolas" panose="020B0609020204030204" pitchFamily="49" charset="0"/>
              </a:rPr>
              <a:t>(</a:t>
            </a:r>
            <a:r>
              <a:rPr lang="en-US" altLang="zh-CN" dirty="0">
                <a:solidFill>
                  <a:srgbClr val="AB1111"/>
                </a:solidFill>
                <a:latin typeface="Consolas" panose="020B0609020204030204" pitchFamily="49" charset="0"/>
              </a:rPr>
              <a:t>"s1:"</a:t>
            </a:r>
            <a:r>
              <a:rPr lang="en-US" altLang="zh-CN" dirty="0">
                <a:solidFill>
                  <a:srgbClr val="333333"/>
                </a:solidFill>
                <a:latin typeface="Consolas" panose="020B0609020204030204" pitchFamily="49" charset="0"/>
              </a:rPr>
              <a:t>,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s1</a:t>
            </a:r>
            <a:r>
              <a:rPr lang="en-US" altLang="zh-CN" dirty="0">
                <a:solidFill>
                  <a:srgbClr val="333333"/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s2 </a:t>
            </a:r>
            <a:r>
              <a:rPr lang="en-US" altLang="zh-CN" dirty="0">
                <a:solidFill>
                  <a:srgbClr val="333333"/>
                </a:solidFill>
                <a:latin typeface="Consolas" panose="020B0609020204030204" pitchFamily="49" charset="0"/>
              </a:rPr>
              <a:t>= </a:t>
            </a:r>
            <a:r>
              <a:rPr lang="en-US" altLang="zh-CN" dirty="0">
                <a:solidFill>
                  <a:srgbClr val="3300AB"/>
                </a:solidFill>
                <a:latin typeface="Consolas" panose="020B0609020204030204" pitchFamily="49" charset="0"/>
              </a:rPr>
              <a:t>set</a:t>
            </a:r>
            <a:r>
              <a:rPr lang="en-US" altLang="zh-CN" dirty="0">
                <a:solidFill>
                  <a:srgbClr val="333333"/>
                </a:solidFill>
                <a:latin typeface="Consolas" panose="020B0609020204030204" pitchFamily="49" charset="0"/>
              </a:rPr>
              <a:t>([</a:t>
            </a:r>
            <a:r>
              <a:rPr lang="en-US" altLang="zh-CN" dirty="0">
                <a:solidFill>
                  <a:srgbClr val="116644"/>
                </a:solidFill>
                <a:latin typeface="Consolas" panose="020B0609020204030204" pitchFamily="49" charset="0"/>
              </a:rPr>
              <a:t>1</a:t>
            </a:r>
            <a:r>
              <a:rPr lang="en-US" altLang="zh-CN" dirty="0">
                <a:solidFill>
                  <a:srgbClr val="333333"/>
                </a:solidFill>
                <a:latin typeface="Consolas" panose="020B0609020204030204" pitchFamily="49" charset="0"/>
              </a:rPr>
              <a:t>,</a:t>
            </a:r>
            <a:r>
              <a:rPr lang="en-US" altLang="zh-CN" dirty="0">
                <a:solidFill>
                  <a:srgbClr val="116644"/>
                </a:solidFill>
                <a:latin typeface="Consolas" panose="020B0609020204030204" pitchFamily="49" charset="0"/>
              </a:rPr>
              <a:t>3</a:t>
            </a:r>
            <a:r>
              <a:rPr lang="en-US" altLang="zh-CN" dirty="0">
                <a:solidFill>
                  <a:srgbClr val="333333"/>
                </a:solidFill>
                <a:latin typeface="Consolas" panose="020B0609020204030204" pitchFamily="49" charset="0"/>
              </a:rPr>
              <a:t>,</a:t>
            </a:r>
            <a:r>
              <a:rPr lang="en-US" altLang="zh-CN" dirty="0">
                <a:solidFill>
                  <a:srgbClr val="116644"/>
                </a:solidFill>
                <a:latin typeface="Consolas" panose="020B0609020204030204" pitchFamily="49" charset="0"/>
              </a:rPr>
              <a:t>1</a:t>
            </a:r>
            <a:r>
              <a:rPr lang="en-US" altLang="zh-CN" dirty="0">
                <a:solidFill>
                  <a:srgbClr val="333333"/>
                </a:solidFill>
                <a:latin typeface="Consolas" panose="020B0609020204030204" pitchFamily="49" charset="0"/>
              </a:rPr>
              <a:t>,</a:t>
            </a:r>
            <a:r>
              <a:rPr lang="en-US" altLang="zh-CN" dirty="0">
                <a:solidFill>
                  <a:srgbClr val="116644"/>
                </a:solidFill>
                <a:latin typeface="Consolas" panose="020B0609020204030204" pitchFamily="49" charset="0"/>
              </a:rPr>
              <a:t>2</a:t>
            </a:r>
            <a:r>
              <a:rPr lang="en-US" altLang="zh-CN" dirty="0">
                <a:solidFill>
                  <a:srgbClr val="333333"/>
                </a:solidFill>
                <a:latin typeface="Consolas" panose="020B0609020204030204" pitchFamily="49" charset="0"/>
              </a:rPr>
              <a:t>,</a:t>
            </a:r>
            <a:r>
              <a:rPr lang="en-US" altLang="zh-CN" dirty="0">
                <a:solidFill>
                  <a:srgbClr val="116644"/>
                </a:solidFill>
                <a:latin typeface="Consolas" panose="020B0609020204030204" pitchFamily="49" charset="0"/>
              </a:rPr>
              <a:t>7</a:t>
            </a:r>
            <a:r>
              <a:rPr lang="en-US" altLang="zh-CN" dirty="0">
                <a:solidFill>
                  <a:srgbClr val="333333"/>
                </a:solidFill>
                <a:latin typeface="Consolas" panose="020B0609020204030204" pitchFamily="49" charset="0"/>
              </a:rPr>
              <a:t>,</a:t>
            </a:r>
            <a:r>
              <a:rPr lang="en-US" altLang="zh-CN" dirty="0">
                <a:solidFill>
                  <a:srgbClr val="116644"/>
                </a:solidFill>
                <a:latin typeface="Consolas" panose="020B0609020204030204" pitchFamily="49" charset="0"/>
              </a:rPr>
              <a:t>6</a:t>
            </a:r>
            <a:r>
              <a:rPr lang="en-US" altLang="zh-CN" dirty="0">
                <a:solidFill>
                  <a:srgbClr val="333333"/>
                </a:solidFill>
                <a:latin typeface="Consolas" panose="020B0609020204030204" pitchFamily="49" charset="0"/>
              </a:rPr>
              <a:t>])</a:t>
            </a:r>
          </a:p>
          <a:p>
            <a:r>
              <a:rPr lang="en-US" altLang="zh-CN" dirty="0">
                <a:solidFill>
                  <a:srgbClr val="3300AB"/>
                </a:solidFill>
                <a:latin typeface="Consolas" panose="020B0609020204030204" pitchFamily="49" charset="0"/>
              </a:rPr>
              <a:t>print</a:t>
            </a:r>
            <a:r>
              <a:rPr lang="en-US" altLang="zh-CN" dirty="0">
                <a:solidFill>
                  <a:srgbClr val="333333"/>
                </a:solidFill>
                <a:latin typeface="Consolas" panose="020B0609020204030204" pitchFamily="49" charset="0"/>
              </a:rPr>
              <a:t>(</a:t>
            </a:r>
            <a:r>
              <a:rPr lang="en-US" altLang="zh-CN" dirty="0">
                <a:solidFill>
                  <a:srgbClr val="AB1111"/>
                </a:solidFill>
                <a:latin typeface="Consolas" panose="020B0609020204030204" pitchFamily="49" charset="0"/>
              </a:rPr>
              <a:t>"s2:"</a:t>
            </a:r>
            <a:r>
              <a:rPr lang="en-US" altLang="zh-CN" dirty="0">
                <a:solidFill>
                  <a:srgbClr val="333333"/>
                </a:solidFill>
                <a:latin typeface="Consolas" panose="020B0609020204030204" pitchFamily="49" charset="0"/>
              </a:rPr>
              <a:t>,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s2</a:t>
            </a:r>
            <a:r>
              <a:rPr lang="en-US" altLang="zh-CN" dirty="0">
                <a:solidFill>
                  <a:srgbClr val="333333"/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values </a:t>
            </a:r>
            <a:r>
              <a:rPr lang="en-US" altLang="zh-CN" dirty="0">
                <a:solidFill>
                  <a:srgbClr val="333333"/>
                </a:solidFill>
                <a:latin typeface="Consolas" panose="020B0609020204030204" pitchFamily="49" charset="0"/>
              </a:rPr>
              <a:t>= </a:t>
            </a:r>
            <a:r>
              <a:rPr lang="en-US" altLang="zh-CN" dirty="0">
                <a:solidFill>
                  <a:srgbClr val="3300AB"/>
                </a:solidFill>
                <a:latin typeface="Consolas" panose="020B0609020204030204" pitchFamily="49" charset="0"/>
              </a:rPr>
              <a:t>list</a:t>
            </a:r>
            <a:r>
              <a:rPr lang="en-US" altLang="zh-CN" dirty="0">
                <a:solidFill>
                  <a:srgbClr val="333333"/>
                </a:solidFill>
                <a:latin typeface="Consolas" panose="020B0609020204030204" pitchFamily="49" charset="0"/>
              </a:rPr>
              <a:t>(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s2</a:t>
            </a:r>
            <a:r>
              <a:rPr lang="en-US" altLang="zh-CN" dirty="0">
                <a:solidFill>
                  <a:srgbClr val="333333"/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en-US" altLang="zh-CN" dirty="0">
                <a:solidFill>
                  <a:srgbClr val="3300AB"/>
                </a:solidFill>
                <a:latin typeface="Consolas" panose="020B0609020204030204" pitchFamily="49" charset="0"/>
              </a:rPr>
              <a:t>print</a:t>
            </a:r>
            <a:r>
              <a:rPr lang="en-US" altLang="zh-CN" dirty="0">
                <a:solidFill>
                  <a:srgbClr val="333333"/>
                </a:solidFill>
                <a:latin typeface="Consolas" panose="020B0609020204030204" pitchFamily="49" charset="0"/>
              </a:rPr>
              <a:t>(</a:t>
            </a:r>
            <a:r>
              <a:rPr lang="en-US" altLang="zh-CN" dirty="0">
                <a:solidFill>
                  <a:srgbClr val="AB1111"/>
                </a:solidFill>
                <a:latin typeface="Consolas" panose="020B0609020204030204" pitchFamily="49" charset="0"/>
              </a:rPr>
              <a:t>"</a:t>
            </a:r>
            <a:r>
              <a:rPr lang="en-US" altLang="zh-CN" dirty="0" err="1">
                <a:solidFill>
                  <a:srgbClr val="AB1111"/>
                </a:solidFill>
                <a:latin typeface="Consolas" panose="020B0609020204030204" pitchFamily="49" charset="0"/>
              </a:rPr>
              <a:t>values:"</a:t>
            </a:r>
            <a:r>
              <a:rPr lang="en-US" altLang="zh-CN" dirty="0" err="1">
                <a:solidFill>
                  <a:srgbClr val="333333"/>
                </a:solidFill>
                <a:latin typeface="Consolas" panose="020B0609020204030204" pitchFamily="49" charset="0"/>
              </a:rPr>
              <a:t>,</a:t>
            </a:r>
            <a:r>
              <a:rPr lang="en-US" altLang="zh-CN" dirty="0" err="1">
                <a:solidFill>
                  <a:srgbClr val="000000"/>
                </a:solidFill>
                <a:latin typeface="Consolas" panose="020B0609020204030204" pitchFamily="49" charset="0"/>
              </a:rPr>
              <a:t>values</a:t>
            </a:r>
            <a:r>
              <a:rPr lang="en-US" altLang="zh-CN" dirty="0">
                <a:solidFill>
                  <a:srgbClr val="333333"/>
                </a:solidFill>
                <a:latin typeface="Consolas" panose="020B0609020204030204" pitchFamily="49" charset="0"/>
              </a:rPr>
              <a:t>)</a:t>
            </a:r>
            <a:endParaRPr lang="zh-CN" altLang="en-US" dirty="0">
              <a:latin typeface="Consolas" panose="020B0609020204030204" pitchFamily="49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/>
    </mc:Choice>
    <mc:Fallback xmlns="">
      <p:transition advClick="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文本框 64"/>
          <p:cNvSpPr txBox="1"/>
          <p:nvPr/>
        </p:nvSpPr>
        <p:spPr>
          <a:xfrm>
            <a:off x="1663772" y="4437112"/>
            <a:ext cx="6969212" cy="92333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rgbClr val="333333"/>
                </a:solidFill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</a:rPr>
              <a:t>如果集合</a:t>
            </a:r>
            <a:r>
              <a:rPr lang="en-US" altLang="zh-CN" dirty="0">
                <a:solidFill>
                  <a:srgbClr val="333333"/>
                </a:solidFill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</a:rPr>
              <a:t>s1</a:t>
            </a:r>
            <a:r>
              <a:rPr lang="zh-CN" altLang="en-US" dirty="0">
                <a:solidFill>
                  <a:srgbClr val="333333"/>
                </a:solidFill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</a:rPr>
              <a:t>包含了集合</a:t>
            </a:r>
            <a:r>
              <a:rPr lang="en-US" altLang="zh-CN" dirty="0">
                <a:solidFill>
                  <a:srgbClr val="333333"/>
                </a:solidFill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</a:rPr>
              <a:t>s2</a:t>
            </a:r>
            <a:r>
              <a:rPr lang="zh-CN" altLang="en-US" dirty="0">
                <a:solidFill>
                  <a:srgbClr val="333333"/>
                </a:solidFill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</a:rPr>
              <a:t>中的全部元素，</a:t>
            </a:r>
            <a:r>
              <a:rPr lang="en-US" altLang="zh-CN" dirty="0">
                <a:solidFill>
                  <a:srgbClr val="333333"/>
                </a:solidFill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</a:rPr>
              <a:t>s1</a:t>
            </a:r>
            <a:r>
              <a:rPr lang="zh-CN" altLang="en-US" dirty="0">
                <a:solidFill>
                  <a:srgbClr val="333333"/>
                </a:solidFill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</a:rPr>
              <a:t>是</a:t>
            </a:r>
            <a:r>
              <a:rPr lang="en-US" altLang="zh-CN" dirty="0">
                <a:solidFill>
                  <a:srgbClr val="333333"/>
                </a:solidFill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</a:rPr>
              <a:t>s2</a:t>
            </a:r>
            <a:r>
              <a:rPr lang="zh-CN" altLang="en-US" dirty="0">
                <a:solidFill>
                  <a:srgbClr val="333333"/>
                </a:solidFill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</a:rPr>
              <a:t>的</a:t>
            </a:r>
            <a:r>
              <a:rPr lang="zh-CN" altLang="en-US" dirty="0">
                <a:solidFill>
                  <a:srgbClr val="FF0000"/>
                </a:solidFill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</a:rPr>
              <a:t>超集</a:t>
            </a:r>
            <a:r>
              <a:rPr lang="zh-CN" altLang="en-US" dirty="0">
                <a:solidFill>
                  <a:srgbClr val="333333"/>
                </a:solidFill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</a:rPr>
              <a:t>， </a:t>
            </a:r>
            <a:r>
              <a:rPr lang="en-US" altLang="zh-CN" dirty="0">
                <a:solidFill>
                  <a:srgbClr val="333333"/>
                </a:solidFill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</a:rPr>
              <a:t>s2</a:t>
            </a:r>
            <a:r>
              <a:rPr lang="zh-CN" altLang="en-US" dirty="0">
                <a:solidFill>
                  <a:srgbClr val="333333"/>
                </a:solidFill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</a:rPr>
              <a:t>是</a:t>
            </a:r>
            <a:r>
              <a:rPr lang="en-US" altLang="zh-CN" dirty="0">
                <a:solidFill>
                  <a:srgbClr val="333333"/>
                </a:solidFill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</a:rPr>
              <a:t>s1</a:t>
            </a:r>
            <a:r>
              <a:rPr lang="zh-CN" altLang="en-US" dirty="0">
                <a:solidFill>
                  <a:srgbClr val="333333"/>
                </a:solidFill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</a:rPr>
              <a:t>的</a:t>
            </a:r>
            <a:r>
              <a:rPr lang="zh-CN" altLang="en-US" dirty="0">
                <a:solidFill>
                  <a:srgbClr val="FF0000"/>
                </a:solidFill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</a:rPr>
              <a:t>子集</a:t>
            </a:r>
            <a:r>
              <a:rPr lang="zh-CN" altLang="en-US" dirty="0">
                <a:solidFill>
                  <a:srgbClr val="333333"/>
                </a:solidFill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</a:rPr>
              <a:t>。</a:t>
            </a:r>
            <a:r>
              <a:rPr lang="en-US" altLang="zh-CN" dirty="0">
                <a:solidFill>
                  <a:srgbClr val="333333"/>
                </a:solidFill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</a:rPr>
              <a:t>s2.issubset(s1)</a:t>
            </a:r>
            <a:r>
              <a:rPr lang="zh-CN" altLang="en-US" dirty="0">
                <a:solidFill>
                  <a:srgbClr val="333333"/>
                </a:solidFill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</a:rPr>
              <a:t>判断</a:t>
            </a:r>
            <a:r>
              <a:rPr lang="en-US" altLang="zh-CN" dirty="0">
                <a:solidFill>
                  <a:srgbClr val="333333"/>
                </a:solidFill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</a:rPr>
              <a:t>s2</a:t>
            </a:r>
            <a:r>
              <a:rPr lang="zh-CN" altLang="en-US" dirty="0">
                <a:solidFill>
                  <a:srgbClr val="333333"/>
                </a:solidFill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</a:rPr>
              <a:t>是否是</a:t>
            </a:r>
            <a:r>
              <a:rPr lang="en-US" altLang="zh-CN" dirty="0">
                <a:solidFill>
                  <a:srgbClr val="333333"/>
                </a:solidFill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</a:rPr>
              <a:t>s1</a:t>
            </a:r>
            <a:r>
              <a:rPr lang="zh-CN" altLang="en-US" dirty="0">
                <a:solidFill>
                  <a:srgbClr val="333333"/>
                </a:solidFill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</a:rPr>
              <a:t>的子集；</a:t>
            </a:r>
            <a:r>
              <a:rPr lang="en-US" altLang="zh-CN" dirty="0">
                <a:solidFill>
                  <a:srgbClr val="333333"/>
                </a:solidFill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</a:rPr>
              <a:t>s1.issuperset(s2)</a:t>
            </a:r>
            <a:r>
              <a:rPr lang="zh-CN" altLang="en-US" dirty="0">
                <a:solidFill>
                  <a:srgbClr val="333333"/>
                </a:solidFill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</a:rPr>
              <a:t>判断</a:t>
            </a:r>
            <a:r>
              <a:rPr lang="en-US" altLang="zh-CN" dirty="0">
                <a:solidFill>
                  <a:srgbClr val="333333"/>
                </a:solidFill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</a:rPr>
              <a:t>s1</a:t>
            </a:r>
            <a:r>
              <a:rPr lang="zh-CN" altLang="en-US" dirty="0">
                <a:solidFill>
                  <a:srgbClr val="333333"/>
                </a:solidFill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</a:rPr>
              <a:t>是否是</a:t>
            </a:r>
            <a:r>
              <a:rPr lang="en-US" altLang="zh-CN" dirty="0">
                <a:solidFill>
                  <a:srgbClr val="333333"/>
                </a:solidFill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</a:rPr>
              <a:t>s2</a:t>
            </a:r>
            <a:r>
              <a:rPr lang="zh-CN" altLang="en-US" dirty="0">
                <a:solidFill>
                  <a:srgbClr val="333333"/>
                </a:solidFill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</a:rPr>
              <a:t>的超集。</a:t>
            </a:r>
            <a:endParaRPr lang="zh-CN" altLang="en-US" dirty="0">
              <a:latin typeface="阿里巴巴普惠体 R" panose="00020600040101010101" pitchFamily="18" charset="-122"/>
              <a:ea typeface="阿里巴巴普惠体 R" panose="00020600040101010101" pitchFamily="18" charset="-122"/>
              <a:cs typeface="阿里巴巴普惠体 R" panose="00020600040101010101" pitchFamily="18" charset="-122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1763688" y="3140968"/>
            <a:ext cx="7057412" cy="646331"/>
          </a:xfrm>
          <a:prstGeom prst="rect">
            <a:avLst/>
          </a:prstGeom>
          <a:ln w="1270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altLang="zh-CN" dirty="0">
                <a:latin typeface="Consolas" panose="020B0609020204030204" pitchFamily="49" charset="0"/>
              </a:rPr>
              <a:t>True False</a:t>
            </a:r>
          </a:p>
          <a:p>
            <a:r>
              <a:rPr lang="en-US" altLang="zh-CN" dirty="0">
                <a:latin typeface="Consolas" panose="020B0609020204030204" pitchFamily="49" charset="0"/>
              </a:rPr>
              <a:t>True False</a:t>
            </a:r>
          </a:p>
        </p:txBody>
      </p:sp>
      <p:sp>
        <p:nvSpPr>
          <p:cNvPr id="6" name="矩形 5"/>
          <p:cNvSpPr/>
          <p:nvPr/>
        </p:nvSpPr>
        <p:spPr>
          <a:xfrm>
            <a:off x="1619672" y="548680"/>
            <a:ext cx="7057412" cy="2031325"/>
          </a:xfrm>
          <a:prstGeom prst="rect">
            <a:avLst/>
          </a:prstGeom>
          <a:ln w="1905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altLang="zh-CN" dirty="0">
                <a:solidFill>
                  <a:srgbClr val="008000"/>
                </a:solidFill>
                <a:latin typeface="Consolas" panose="020B0609020204030204" pitchFamily="49" charset="0"/>
              </a:rPr>
              <a:t>#supersubset.py</a:t>
            </a:r>
            <a:endParaRPr lang="en-US" altLang="zh-CN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s1 = {</a:t>
            </a:r>
            <a:r>
              <a:rPr lang="en-US" altLang="zh-CN" dirty="0">
                <a:solidFill>
                  <a:srgbClr val="A31515"/>
                </a:solidFill>
                <a:latin typeface="Consolas" panose="020B0609020204030204" pitchFamily="49" charset="0"/>
              </a:rPr>
              <a:t>"CQU"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,</a:t>
            </a:r>
            <a:r>
              <a:rPr lang="en-US" altLang="zh-CN" dirty="0">
                <a:solidFill>
                  <a:srgbClr val="A31515"/>
                </a:solidFill>
                <a:latin typeface="Consolas" panose="020B0609020204030204" pitchFamily="49" charset="0"/>
              </a:rPr>
              <a:t>"NKU"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,</a:t>
            </a:r>
            <a:r>
              <a:rPr lang="en-US" altLang="zh-CN" dirty="0">
                <a:solidFill>
                  <a:srgbClr val="A31515"/>
                </a:solidFill>
                <a:latin typeface="Consolas" panose="020B0609020204030204" pitchFamily="49" charset="0"/>
              </a:rPr>
              <a:t>"THU"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,</a:t>
            </a:r>
            <a:r>
              <a:rPr lang="en-US" altLang="zh-CN" dirty="0">
                <a:solidFill>
                  <a:srgbClr val="A31515"/>
                </a:solidFill>
                <a:latin typeface="Consolas" panose="020B0609020204030204" pitchFamily="49" charset="0"/>
              </a:rPr>
              <a:t>"PKU"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s2 = {</a:t>
            </a:r>
            <a:r>
              <a:rPr lang="en-US" altLang="zh-CN" dirty="0">
                <a:solidFill>
                  <a:srgbClr val="A31515"/>
                </a:solidFill>
                <a:latin typeface="Consolas" panose="020B0609020204030204" pitchFamily="49" charset="0"/>
              </a:rPr>
              <a:t>"CQU"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,</a:t>
            </a:r>
            <a:r>
              <a:rPr lang="en-US" altLang="zh-CN" dirty="0">
                <a:solidFill>
                  <a:srgbClr val="A31515"/>
                </a:solidFill>
                <a:latin typeface="Consolas" panose="020B0609020204030204" pitchFamily="49" charset="0"/>
              </a:rPr>
              <a:t>"THU"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r>
              <a:rPr lang="en-US" altLang="zh-CN" dirty="0">
                <a:solidFill>
                  <a:srgbClr val="795E26"/>
                </a:solidFill>
                <a:latin typeface="Consolas" panose="020B0609020204030204" pitchFamily="49" charset="0"/>
              </a:rPr>
              <a:t>print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(s2.issubset(s1),s1.issubset(s2))     </a:t>
            </a:r>
            <a:r>
              <a:rPr lang="en-US" altLang="zh-CN" dirty="0">
                <a:solidFill>
                  <a:srgbClr val="008000"/>
                </a:solidFill>
                <a:latin typeface="Consolas" panose="020B0609020204030204" pitchFamily="49" charset="0"/>
              </a:rPr>
              <a:t>#s2</a:t>
            </a:r>
            <a:r>
              <a:rPr lang="zh-CN" altLang="en-US" dirty="0">
                <a:solidFill>
                  <a:srgbClr val="008000"/>
                </a:solidFill>
                <a:latin typeface="Consolas" panose="020B0609020204030204" pitchFamily="49" charset="0"/>
              </a:rPr>
              <a:t>是</a:t>
            </a:r>
            <a:r>
              <a:rPr lang="en-US" altLang="zh-CN" dirty="0">
                <a:solidFill>
                  <a:srgbClr val="008000"/>
                </a:solidFill>
                <a:latin typeface="Consolas" panose="020B0609020204030204" pitchFamily="49" charset="0"/>
              </a:rPr>
              <a:t>s1</a:t>
            </a:r>
            <a:r>
              <a:rPr lang="zh-CN" altLang="en-US" dirty="0">
                <a:solidFill>
                  <a:srgbClr val="008000"/>
                </a:solidFill>
                <a:latin typeface="Consolas" panose="020B0609020204030204" pitchFamily="49" charset="0"/>
              </a:rPr>
              <a:t>的子集，反过来不成立</a:t>
            </a:r>
            <a:endParaRPr lang="zh-CN" alt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altLang="zh-CN" dirty="0">
                <a:solidFill>
                  <a:srgbClr val="795E26"/>
                </a:solidFill>
                <a:latin typeface="Consolas" panose="020B0609020204030204" pitchFamily="49" charset="0"/>
              </a:rPr>
              <a:t>print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(s1.issuperset(s2),s2.issuperset(s1)) </a:t>
            </a:r>
            <a:r>
              <a:rPr lang="en-US" altLang="zh-CN" dirty="0">
                <a:solidFill>
                  <a:srgbClr val="008000"/>
                </a:solidFill>
                <a:latin typeface="Consolas" panose="020B0609020204030204" pitchFamily="49" charset="0"/>
              </a:rPr>
              <a:t>#s1</a:t>
            </a:r>
            <a:r>
              <a:rPr lang="zh-CN" altLang="en-US" dirty="0">
                <a:solidFill>
                  <a:srgbClr val="008000"/>
                </a:solidFill>
                <a:latin typeface="Consolas" panose="020B0609020204030204" pitchFamily="49" charset="0"/>
              </a:rPr>
              <a:t>是</a:t>
            </a:r>
            <a:r>
              <a:rPr lang="en-US" altLang="zh-CN" dirty="0">
                <a:solidFill>
                  <a:srgbClr val="008000"/>
                </a:solidFill>
                <a:latin typeface="Consolas" panose="020B0609020204030204" pitchFamily="49" charset="0"/>
              </a:rPr>
              <a:t>s2</a:t>
            </a:r>
            <a:r>
              <a:rPr lang="zh-CN" altLang="en-US" dirty="0">
                <a:solidFill>
                  <a:srgbClr val="008000"/>
                </a:solidFill>
                <a:latin typeface="Consolas" panose="020B0609020204030204" pitchFamily="49" charset="0"/>
              </a:rPr>
              <a:t>的超集，反过来不成立</a:t>
            </a:r>
            <a:endParaRPr lang="zh-CN" alt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/>
    </mc:Choice>
    <mc:Fallback xmlns="">
      <p:transition advClick="0"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文本框 64"/>
          <p:cNvSpPr txBox="1"/>
          <p:nvPr/>
        </p:nvSpPr>
        <p:spPr>
          <a:xfrm>
            <a:off x="1619672" y="5445224"/>
            <a:ext cx="6969212" cy="369332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rgbClr val="333333"/>
                </a:solidFill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</a:rPr>
              <a:t>集合运算符</a:t>
            </a:r>
            <a:r>
              <a:rPr lang="en-US" altLang="zh-CN" dirty="0">
                <a:solidFill>
                  <a:srgbClr val="333333"/>
                </a:solidFill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</a:rPr>
              <a:t>&amp;</a:t>
            </a:r>
            <a:r>
              <a:rPr lang="zh-CN" altLang="en-US" dirty="0">
                <a:solidFill>
                  <a:srgbClr val="333333"/>
                </a:solidFill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</a:rPr>
              <a:t>与</a:t>
            </a:r>
            <a:r>
              <a:rPr lang="en-US" altLang="zh-CN" dirty="0">
                <a:solidFill>
                  <a:srgbClr val="333333"/>
                </a:solidFill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</a:rPr>
              <a:t>intersection()</a:t>
            </a:r>
            <a:r>
              <a:rPr lang="zh-CN" altLang="en-US" dirty="0">
                <a:solidFill>
                  <a:srgbClr val="333333"/>
                </a:solidFill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</a:rPr>
              <a:t>成员函数都可以求两个集合的交集。</a:t>
            </a:r>
            <a:endParaRPr lang="zh-CN" altLang="en-US" dirty="0">
              <a:latin typeface="阿里巴巴普惠体 R" panose="00020600040101010101" pitchFamily="18" charset="-122"/>
              <a:ea typeface="阿里巴巴普惠体 R" panose="00020600040101010101" pitchFamily="18" charset="-122"/>
              <a:cs typeface="阿里巴巴普惠体 R" panose="00020600040101010101" pitchFamily="18" charset="-122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1619672" y="548680"/>
            <a:ext cx="7046696" cy="4247317"/>
          </a:xfrm>
          <a:prstGeom prst="rect">
            <a:avLst/>
          </a:prstGeom>
          <a:ln w="1905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altLang="zh-CN" dirty="0">
                <a:solidFill>
                  <a:srgbClr val="008000"/>
                </a:solidFill>
                <a:latin typeface="Consolas" panose="020B0609020204030204" pitchFamily="49" charset="0"/>
              </a:rPr>
              <a:t>#setcomp.py</a:t>
            </a:r>
            <a:endParaRPr lang="en-US" altLang="zh-CN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s1 = {</a:t>
            </a:r>
            <a:r>
              <a:rPr lang="en-US" altLang="zh-CN" dirty="0">
                <a:solidFill>
                  <a:srgbClr val="09885A"/>
                </a:solidFill>
                <a:latin typeface="Consolas" panose="020B0609020204030204" pitchFamily="49" charset="0"/>
              </a:rPr>
              <a:t>1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,</a:t>
            </a:r>
            <a:r>
              <a:rPr lang="en-US" altLang="zh-CN" dirty="0">
                <a:solidFill>
                  <a:srgbClr val="09885A"/>
                </a:solidFill>
                <a:latin typeface="Consolas" panose="020B0609020204030204" pitchFamily="49" charset="0"/>
              </a:rPr>
              <a:t>2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,</a:t>
            </a:r>
            <a:r>
              <a:rPr lang="en-US" altLang="zh-CN" dirty="0">
                <a:solidFill>
                  <a:srgbClr val="09885A"/>
                </a:solidFill>
                <a:latin typeface="Consolas" panose="020B0609020204030204" pitchFamily="49" charset="0"/>
              </a:rPr>
              <a:t>3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,</a:t>
            </a:r>
            <a:r>
              <a:rPr lang="en-US" altLang="zh-CN" dirty="0">
                <a:solidFill>
                  <a:srgbClr val="09885A"/>
                </a:solidFill>
                <a:latin typeface="Consolas" panose="020B0609020204030204" pitchFamily="49" charset="0"/>
              </a:rPr>
              <a:t>4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s2 = {</a:t>
            </a:r>
            <a:r>
              <a:rPr lang="en-US" altLang="zh-CN" dirty="0">
                <a:solidFill>
                  <a:srgbClr val="09885A"/>
                </a:solidFill>
                <a:latin typeface="Consolas" panose="020B0609020204030204" pitchFamily="49" charset="0"/>
              </a:rPr>
              <a:t>3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,</a:t>
            </a:r>
            <a:r>
              <a:rPr lang="en-US" altLang="zh-CN" dirty="0">
                <a:solidFill>
                  <a:srgbClr val="09885A"/>
                </a:solidFill>
                <a:latin typeface="Consolas" panose="020B0609020204030204" pitchFamily="49" charset="0"/>
              </a:rPr>
              <a:t>4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,</a:t>
            </a:r>
            <a:r>
              <a:rPr lang="en-US" altLang="zh-CN" dirty="0">
                <a:solidFill>
                  <a:srgbClr val="09885A"/>
                </a:solidFill>
                <a:latin typeface="Consolas" panose="020B0609020204030204" pitchFamily="49" charset="0"/>
              </a:rPr>
              <a:t>5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,</a:t>
            </a:r>
            <a:r>
              <a:rPr lang="en-US" altLang="zh-CN" dirty="0">
                <a:solidFill>
                  <a:srgbClr val="09885A"/>
                </a:solidFill>
                <a:latin typeface="Consolas" panose="020B0609020204030204" pitchFamily="49" charset="0"/>
              </a:rPr>
              <a:t>6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r>
              <a:rPr lang="en-US" altLang="zh-CN" dirty="0">
                <a:solidFill>
                  <a:srgbClr val="795E26"/>
                </a:solidFill>
                <a:latin typeface="Consolas" panose="020B0609020204030204" pitchFamily="49" charset="0"/>
              </a:rPr>
              <a:t>print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altLang="zh-CN" dirty="0">
                <a:solidFill>
                  <a:srgbClr val="A31515"/>
                </a:solidFill>
                <a:latin typeface="Consolas" panose="020B0609020204030204" pitchFamily="49" charset="0"/>
              </a:rPr>
              <a:t>"s1 &amp; s2:"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, s1 &amp; s2) </a:t>
            </a:r>
            <a:r>
              <a:rPr lang="en-US" altLang="zh-CN" dirty="0">
                <a:solidFill>
                  <a:srgbClr val="008000"/>
                </a:solidFill>
                <a:latin typeface="Consolas" panose="020B0609020204030204" pitchFamily="49" charset="0"/>
              </a:rPr>
              <a:t>#</a:t>
            </a:r>
            <a:r>
              <a:rPr lang="zh-CN" altLang="en-US" dirty="0">
                <a:solidFill>
                  <a:srgbClr val="008000"/>
                </a:solidFill>
                <a:latin typeface="Consolas" panose="020B0609020204030204" pitchFamily="49" charset="0"/>
              </a:rPr>
              <a:t>交集</a:t>
            </a:r>
            <a:endParaRPr lang="zh-CN" alt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altLang="zh-CN" dirty="0">
                <a:solidFill>
                  <a:srgbClr val="795E26"/>
                </a:solidFill>
                <a:latin typeface="Consolas" panose="020B0609020204030204" pitchFamily="49" charset="0"/>
              </a:rPr>
              <a:t>print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altLang="zh-CN" dirty="0">
                <a:solidFill>
                  <a:srgbClr val="A31515"/>
                </a:solidFill>
                <a:latin typeface="Consolas" panose="020B0609020204030204" pitchFamily="49" charset="0"/>
              </a:rPr>
              <a:t>"s1.intersection(s2):"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,s1.intersection(s2))</a:t>
            </a:r>
          </a:p>
          <a:p>
            <a:b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altLang="zh-CN" dirty="0">
                <a:solidFill>
                  <a:srgbClr val="795E26"/>
                </a:solidFill>
                <a:latin typeface="Consolas" panose="020B0609020204030204" pitchFamily="49" charset="0"/>
              </a:rPr>
              <a:t>print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altLang="zh-CN" dirty="0">
                <a:solidFill>
                  <a:srgbClr val="A31515"/>
                </a:solidFill>
                <a:latin typeface="Consolas" panose="020B0609020204030204" pitchFamily="49" charset="0"/>
              </a:rPr>
              <a:t>"s1 | s2:"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, s1 | s2) </a:t>
            </a:r>
            <a:r>
              <a:rPr lang="en-US" altLang="zh-CN" dirty="0">
                <a:solidFill>
                  <a:srgbClr val="008000"/>
                </a:solidFill>
                <a:latin typeface="Consolas" panose="020B0609020204030204" pitchFamily="49" charset="0"/>
              </a:rPr>
              <a:t>#</a:t>
            </a:r>
            <a:r>
              <a:rPr lang="zh-CN" altLang="en-US" dirty="0">
                <a:solidFill>
                  <a:srgbClr val="008000"/>
                </a:solidFill>
                <a:latin typeface="Consolas" panose="020B0609020204030204" pitchFamily="49" charset="0"/>
              </a:rPr>
              <a:t>并集</a:t>
            </a:r>
            <a:endParaRPr lang="zh-CN" alt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altLang="zh-CN" dirty="0">
                <a:solidFill>
                  <a:srgbClr val="795E26"/>
                </a:solidFill>
                <a:latin typeface="Consolas" panose="020B0609020204030204" pitchFamily="49" charset="0"/>
              </a:rPr>
              <a:t>print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altLang="zh-CN" dirty="0">
                <a:solidFill>
                  <a:srgbClr val="A31515"/>
                </a:solidFill>
                <a:latin typeface="Consolas" panose="020B0609020204030204" pitchFamily="49" charset="0"/>
              </a:rPr>
              <a:t>"s1.union(s2):"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,s1.union(s2))</a:t>
            </a:r>
          </a:p>
          <a:p>
            <a:b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altLang="zh-CN" dirty="0">
                <a:solidFill>
                  <a:srgbClr val="795E26"/>
                </a:solidFill>
                <a:latin typeface="Consolas" panose="020B0609020204030204" pitchFamily="49" charset="0"/>
              </a:rPr>
              <a:t>print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altLang="zh-CN" dirty="0">
                <a:solidFill>
                  <a:srgbClr val="A31515"/>
                </a:solidFill>
                <a:latin typeface="Consolas" panose="020B0609020204030204" pitchFamily="49" charset="0"/>
              </a:rPr>
              <a:t>"s1 - s2:"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, s1 - s2) </a:t>
            </a:r>
            <a:r>
              <a:rPr lang="en-US" altLang="zh-CN" dirty="0">
                <a:solidFill>
                  <a:srgbClr val="008000"/>
                </a:solidFill>
                <a:latin typeface="Consolas" panose="020B0609020204030204" pitchFamily="49" charset="0"/>
              </a:rPr>
              <a:t>#</a:t>
            </a:r>
            <a:r>
              <a:rPr lang="zh-CN" altLang="en-US" dirty="0">
                <a:solidFill>
                  <a:srgbClr val="008000"/>
                </a:solidFill>
                <a:latin typeface="Consolas" panose="020B0609020204030204" pitchFamily="49" charset="0"/>
              </a:rPr>
              <a:t>差集</a:t>
            </a:r>
            <a:endParaRPr lang="zh-CN" alt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altLang="zh-CN" dirty="0">
                <a:solidFill>
                  <a:srgbClr val="795E26"/>
                </a:solidFill>
                <a:latin typeface="Consolas" panose="020B0609020204030204" pitchFamily="49" charset="0"/>
              </a:rPr>
              <a:t>print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altLang="zh-CN" dirty="0">
                <a:solidFill>
                  <a:srgbClr val="A31515"/>
                </a:solidFill>
                <a:latin typeface="Consolas" panose="020B0609020204030204" pitchFamily="49" charset="0"/>
              </a:rPr>
              <a:t>"s1.difference(s2):"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,s1.difference(s2))</a:t>
            </a:r>
          </a:p>
          <a:p>
            <a:b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altLang="zh-CN" dirty="0">
                <a:solidFill>
                  <a:srgbClr val="795E26"/>
                </a:solidFill>
                <a:latin typeface="Consolas" panose="020B0609020204030204" pitchFamily="49" charset="0"/>
              </a:rPr>
              <a:t>print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altLang="zh-CN" dirty="0">
                <a:solidFill>
                  <a:srgbClr val="A31515"/>
                </a:solidFill>
                <a:latin typeface="Consolas" panose="020B0609020204030204" pitchFamily="49" charset="0"/>
              </a:rPr>
              <a:t>"s1 ^ s2:"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, s1 ^ s2) </a:t>
            </a:r>
            <a:r>
              <a:rPr lang="en-US" altLang="zh-CN" dirty="0">
                <a:solidFill>
                  <a:srgbClr val="008000"/>
                </a:solidFill>
                <a:latin typeface="Consolas" panose="020B0609020204030204" pitchFamily="49" charset="0"/>
              </a:rPr>
              <a:t>#</a:t>
            </a:r>
            <a:r>
              <a:rPr lang="zh-CN" altLang="en-US" dirty="0">
                <a:solidFill>
                  <a:srgbClr val="008000"/>
                </a:solidFill>
                <a:latin typeface="Consolas" panose="020B0609020204030204" pitchFamily="49" charset="0"/>
              </a:rPr>
              <a:t>补集</a:t>
            </a:r>
            <a:endParaRPr lang="zh-CN" alt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altLang="zh-CN" dirty="0">
                <a:solidFill>
                  <a:srgbClr val="795E26"/>
                </a:solidFill>
                <a:latin typeface="Consolas" panose="020B0609020204030204" pitchFamily="49" charset="0"/>
              </a:rPr>
              <a:t>print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altLang="zh-CN" dirty="0">
                <a:solidFill>
                  <a:srgbClr val="A31515"/>
                </a:solidFill>
                <a:latin typeface="Consolas" panose="020B0609020204030204" pitchFamily="49" charset="0"/>
              </a:rPr>
              <a:t>"s1.symmetric_difference(s2):"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,s1.symmetric_difference(s2))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/>
    </mc:Choice>
    <mc:Fallback xmlns="">
      <p:transition advClick="0"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1475656" y="732853"/>
            <a:ext cx="7046696" cy="923330"/>
          </a:xfrm>
          <a:prstGeom prst="rect">
            <a:avLst/>
          </a:prstGeom>
          <a:ln w="1270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altLang="zh-CN" dirty="0">
                <a:latin typeface="Consolas" panose="020B0609020204030204" pitchFamily="49" charset="0"/>
              </a:rPr>
              <a:t>s1 &amp; s2: {3, 4}</a:t>
            </a:r>
          </a:p>
          <a:p>
            <a:r>
              <a:rPr lang="en-US" altLang="zh-CN" dirty="0">
                <a:latin typeface="Consolas" panose="020B0609020204030204" pitchFamily="49" charset="0"/>
              </a:rPr>
              <a:t>s1.intersection(s2): {3, 4}</a:t>
            </a:r>
          </a:p>
          <a:p>
            <a:r>
              <a:rPr lang="en-US" altLang="zh-CN" dirty="0">
                <a:latin typeface="Consolas" panose="020B0609020204030204" pitchFamily="49" charset="0"/>
              </a:rPr>
              <a:t>...</a:t>
            </a:r>
          </a:p>
        </p:txBody>
      </p:sp>
      <p:sp>
        <p:nvSpPr>
          <p:cNvPr id="3" name="矩形 2"/>
          <p:cNvSpPr/>
          <p:nvPr/>
        </p:nvSpPr>
        <p:spPr>
          <a:xfrm>
            <a:off x="1461863" y="1914730"/>
            <a:ext cx="7046696" cy="1200329"/>
          </a:xfrm>
          <a:prstGeom prst="rect">
            <a:avLst/>
          </a:prstGeom>
          <a:ln w="1270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altLang="zh-CN" dirty="0">
                <a:latin typeface="Consolas" panose="020B0609020204030204" pitchFamily="49" charset="0"/>
              </a:rPr>
              <a:t>...</a:t>
            </a:r>
          </a:p>
          <a:p>
            <a:r>
              <a:rPr lang="en-US" altLang="zh-CN" dirty="0">
                <a:latin typeface="Consolas" panose="020B0609020204030204" pitchFamily="49" charset="0"/>
              </a:rPr>
              <a:t>s1 | s2: {1, 2, 3, 4, 5, 6}</a:t>
            </a:r>
          </a:p>
          <a:p>
            <a:r>
              <a:rPr lang="en-US" altLang="zh-CN" dirty="0">
                <a:latin typeface="Consolas" panose="020B0609020204030204" pitchFamily="49" charset="0"/>
              </a:rPr>
              <a:t>s1.union(s2): {1, 2, 3, 4, 5, 6}</a:t>
            </a:r>
          </a:p>
          <a:p>
            <a:r>
              <a:rPr lang="en-US" altLang="zh-CN" dirty="0">
                <a:latin typeface="Consolas" panose="020B0609020204030204" pitchFamily="49" charset="0"/>
              </a:rPr>
              <a:t>...</a:t>
            </a:r>
          </a:p>
        </p:txBody>
      </p:sp>
      <p:sp>
        <p:nvSpPr>
          <p:cNvPr id="4" name="矩形 3"/>
          <p:cNvSpPr/>
          <p:nvPr/>
        </p:nvSpPr>
        <p:spPr>
          <a:xfrm>
            <a:off x="1475656" y="3415004"/>
            <a:ext cx="7046696" cy="1200329"/>
          </a:xfrm>
          <a:prstGeom prst="rect">
            <a:avLst/>
          </a:prstGeom>
          <a:ln w="1270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altLang="zh-CN" dirty="0">
                <a:latin typeface="Consolas" panose="020B0609020204030204" pitchFamily="49" charset="0"/>
              </a:rPr>
              <a:t>...</a:t>
            </a:r>
          </a:p>
          <a:p>
            <a:r>
              <a:rPr lang="en-US" altLang="zh-CN" dirty="0">
                <a:latin typeface="Consolas" panose="020B0609020204030204" pitchFamily="49" charset="0"/>
              </a:rPr>
              <a:t>s1 - s2: {1, 2}</a:t>
            </a:r>
          </a:p>
          <a:p>
            <a:r>
              <a:rPr lang="en-US" altLang="zh-CN" dirty="0">
                <a:latin typeface="Consolas" panose="020B0609020204030204" pitchFamily="49" charset="0"/>
              </a:rPr>
              <a:t>s1.difference(s2): {1, 2}</a:t>
            </a:r>
          </a:p>
          <a:p>
            <a:r>
              <a:rPr lang="en-US" altLang="zh-CN" dirty="0">
                <a:latin typeface="Consolas" panose="020B0609020204030204" pitchFamily="49" charset="0"/>
              </a:rPr>
              <a:t>...</a:t>
            </a:r>
          </a:p>
        </p:txBody>
      </p:sp>
      <p:sp>
        <p:nvSpPr>
          <p:cNvPr id="5" name="矩形 4"/>
          <p:cNvSpPr/>
          <p:nvPr/>
        </p:nvSpPr>
        <p:spPr>
          <a:xfrm>
            <a:off x="1461863" y="4915278"/>
            <a:ext cx="7046696" cy="923330"/>
          </a:xfrm>
          <a:prstGeom prst="rect">
            <a:avLst/>
          </a:prstGeom>
          <a:ln w="1270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altLang="zh-CN" dirty="0">
                <a:latin typeface="Consolas" panose="020B0609020204030204" pitchFamily="49" charset="0"/>
              </a:rPr>
              <a:t>...</a:t>
            </a:r>
          </a:p>
          <a:p>
            <a:r>
              <a:rPr lang="en-US" altLang="zh-CN" dirty="0">
                <a:latin typeface="Consolas" panose="020B0609020204030204" pitchFamily="49" charset="0"/>
              </a:rPr>
              <a:t>s1 ^ s2: {1, 2, 5, 6}</a:t>
            </a:r>
          </a:p>
          <a:p>
            <a:r>
              <a:rPr lang="en-US" altLang="zh-CN" dirty="0">
                <a:latin typeface="Consolas" panose="020B0609020204030204" pitchFamily="49" charset="0"/>
              </a:rPr>
              <a:t>s1.symmetric_difference(s2): {1, 2, 5, 6}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 advTm="3000">
        <p14:switch dir="r"/>
      </p:transition>
    </mc:Choice>
    <mc:Fallback xmlns="">
      <p:transition spd="slow" advTm="3000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E48A9AC-A243-4B87-975A-FE8091DDEE60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8585626" y="5658563"/>
            <a:ext cx="208814" cy="205743"/>
          </a:xfrm>
          <a:prstGeom prst="rect">
            <a:avLst/>
          </a:prstGeom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</a:bodyPr>
          <a:lstStyle>
            <a:defPPr rtl="0">
              <a:defRPr lang="zh-CN"/>
            </a:defPPr>
            <a:lvl1pPr marL="0" algn="ctr" defTabSz="685800" rtl="0" eaLnBrk="1" latinLnBrk="0" hangingPunct="1">
              <a:defRPr sz="900" i="1" kern="1200">
                <a:solidFill>
                  <a:schemeClr val="bg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19B51A1E-902D-48AF-9020-955120F399B6}" type="slidenum">
              <a:rPr lang="en-ZA" altLang="zh-CN" smtClean="0"/>
              <a:pPr/>
              <a:t>16</a:t>
            </a:fld>
            <a:endParaRPr lang="zh-CN" altLang="en-US" noProof="0" dirty="0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C1369C35-DEE7-4C64-85F6-3BEEA7C2F50E}"/>
              </a:ext>
            </a:extLst>
          </p:cNvPr>
          <p:cNvSpPr/>
          <p:nvPr/>
        </p:nvSpPr>
        <p:spPr>
          <a:xfrm>
            <a:off x="1763688" y="540178"/>
            <a:ext cx="4392488" cy="391121"/>
          </a:xfrm>
          <a:prstGeom prst="rect">
            <a:avLst/>
          </a:prstGeom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2000" dirty="0"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</a:rPr>
              <a:t>名字绑定 </a:t>
            </a:r>
            <a:r>
              <a:rPr lang="en-US" altLang="zh-CN" sz="2000" dirty="0"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</a:rPr>
              <a:t>– name binding</a:t>
            </a:r>
            <a:endParaRPr lang="zh-CN" altLang="en-US" sz="2000" dirty="0">
              <a:latin typeface="阿里巴巴普惠体 R" panose="00020600040101010101" pitchFamily="18" charset="-122"/>
              <a:ea typeface="阿里巴巴普惠体 R" panose="00020600040101010101" pitchFamily="18" charset="-122"/>
              <a:cs typeface="阿里巴巴普惠体 R" panose="00020600040101010101" pitchFamily="18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A5F56049-C7A4-4E2D-9845-D4AE374097B6}"/>
              </a:ext>
            </a:extLst>
          </p:cNvPr>
          <p:cNvSpPr/>
          <p:nvPr/>
        </p:nvSpPr>
        <p:spPr>
          <a:xfrm>
            <a:off x="1548735" y="3933056"/>
            <a:ext cx="7035065" cy="646331"/>
          </a:xfrm>
          <a:prstGeom prst="rect">
            <a:avLst/>
          </a:prstGeom>
          <a:noFill/>
          <a:ln w="12700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altLang="zh-CN" dirty="0">
                <a:latin typeface="Consolas" panose="020B0609020204030204" pitchFamily="49" charset="0"/>
                <a:ea typeface="阿里巴巴普惠体 R" panose="00020600040101010101" pitchFamily="18" charset="-122"/>
                <a:cs typeface="阿里巴巴普惠体 R" panose="00020600040101010101" pitchFamily="18" charset="-122"/>
              </a:rPr>
              <a:t>['10000', 'Tom Henry', 'male', 47, 'CEO']</a:t>
            </a:r>
          </a:p>
          <a:p>
            <a:r>
              <a:rPr lang="en-US" altLang="zh-CN" dirty="0">
                <a:latin typeface="Consolas" panose="020B0609020204030204" pitchFamily="49" charset="0"/>
                <a:ea typeface="阿里巴巴普惠体 R" panose="00020600040101010101" pitchFamily="18" charset="-122"/>
                <a:cs typeface="阿里巴巴普惠体 R" panose="00020600040101010101" pitchFamily="18" charset="-122"/>
              </a:rPr>
              <a:t>['10000', 'Tom Henry', 'male', 47, 'CEO']</a:t>
            </a:r>
            <a:endParaRPr lang="zh-CN" altLang="en-US" dirty="0">
              <a:latin typeface="Consolas" panose="020B0609020204030204" pitchFamily="49" charset="0"/>
              <a:ea typeface="阿里巴巴普惠体 R" panose="00020600040101010101" pitchFamily="18" charset="-122"/>
              <a:cs typeface="阿里巴巴普惠体 R" panose="00020600040101010101" pitchFamily="18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462BD3CB-5642-4088-828F-2784E6B6E88F}"/>
              </a:ext>
            </a:extLst>
          </p:cNvPr>
          <p:cNvSpPr/>
          <p:nvPr/>
        </p:nvSpPr>
        <p:spPr>
          <a:xfrm>
            <a:off x="1550562" y="1484784"/>
            <a:ext cx="7035064" cy="1754326"/>
          </a:xfrm>
          <a:prstGeom prst="rect">
            <a:avLst/>
          </a:prstGeom>
          <a:ln w="1905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altLang="zh-CN" dirty="0">
                <a:solidFill>
                  <a:srgbClr val="008000"/>
                </a:solidFill>
                <a:latin typeface="Consolas" panose="020B0609020204030204" pitchFamily="49" charset="0"/>
              </a:rPr>
              <a:t>#namebind.py</a:t>
            </a:r>
            <a:endParaRPr lang="en-US" altLang="zh-CN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person1 = [</a:t>
            </a:r>
            <a:r>
              <a:rPr lang="en-US" altLang="zh-CN" dirty="0">
                <a:solidFill>
                  <a:srgbClr val="A31515"/>
                </a:solidFill>
                <a:latin typeface="Consolas" panose="020B0609020204030204" pitchFamily="49" charset="0"/>
              </a:rPr>
              <a:t>'10000'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altLang="zh-CN" dirty="0">
                <a:solidFill>
                  <a:srgbClr val="A31515"/>
                </a:solidFill>
                <a:latin typeface="Consolas" panose="020B0609020204030204" pitchFamily="49" charset="0"/>
              </a:rPr>
              <a:t>'Jack Ma'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altLang="zh-CN" dirty="0">
                <a:solidFill>
                  <a:srgbClr val="A31515"/>
                </a:solidFill>
                <a:latin typeface="Consolas" panose="020B0609020204030204" pitchFamily="49" charset="0"/>
              </a:rPr>
              <a:t>'male'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altLang="zh-CN" dirty="0">
                <a:solidFill>
                  <a:srgbClr val="09885A"/>
                </a:solidFill>
                <a:latin typeface="Consolas" panose="020B0609020204030204" pitchFamily="49" charset="0"/>
              </a:rPr>
              <a:t>47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altLang="zh-CN" dirty="0">
                <a:solidFill>
                  <a:srgbClr val="A31515"/>
                </a:solidFill>
                <a:latin typeface="Consolas" panose="020B0609020204030204" pitchFamily="49" charset="0"/>
              </a:rPr>
              <a:t>'CEO'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]</a:t>
            </a:r>
          </a:p>
          <a:p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person2 = person1</a:t>
            </a:r>
          </a:p>
          <a:p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person2[</a:t>
            </a:r>
            <a:r>
              <a:rPr lang="en-US" altLang="zh-CN" dirty="0">
                <a:solidFill>
                  <a:srgbClr val="09885A"/>
                </a:solidFill>
                <a:latin typeface="Consolas" panose="020B0609020204030204" pitchFamily="49" charset="0"/>
              </a:rPr>
              <a:t>1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] = </a:t>
            </a:r>
            <a:r>
              <a:rPr lang="en-US" altLang="zh-CN" dirty="0">
                <a:solidFill>
                  <a:srgbClr val="A31515"/>
                </a:solidFill>
                <a:latin typeface="Consolas" panose="020B0609020204030204" pitchFamily="49" charset="0"/>
              </a:rPr>
              <a:t>"Tom Henry"</a:t>
            </a:r>
            <a:endParaRPr lang="en-US" altLang="zh-CN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altLang="zh-CN" dirty="0">
                <a:solidFill>
                  <a:srgbClr val="795E26"/>
                </a:solidFill>
                <a:latin typeface="Consolas" panose="020B0609020204030204" pitchFamily="49" charset="0"/>
              </a:rPr>
              <a:t>print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(person1)</a:t>
            </a:r>
          </a:p>
          <a:p>
            <a:r>
              <a:rPr lang="en-US" altLang="zh-CN" dirty="0">
                <a:solidFill>
                  <a:srgbClr val="795E26"/>
                </a:solidFill>
                <a:latin typeface="Consolas" panose="020B0609020204030204" pitchFamily="49" charset="0"/>
              </a:rPr>
              <a:t>print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(person2)</a:t>
            </a:r>
          </a:p>
        </p:txBody>
      </p:sp>
    </p:spTree>
    <p:extLst>
      <p:ext uri="{BB962C8B-B14F-4D97-AF65-F5344CB8AC3E}">
        <p14:creationId xmlns:p14="http://schemas.microsoft.com/office/powerpoint/2010/main" val="36132466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/>
    </mc:Choice>
    <mc:Fallback xmlns="">
      <p:transition advClick="0"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E48A9AC-A243-4B87-975A-FE8091DDEE60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8585626" y="5658563"/>
            <a:ext cx="208814" cy="205743"/>
          </a:xfrm>
          <a:prstGeom prst="rect">
            <a:avLst/>
          </a:prstGeom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</a:bodyPr>
          <a:lstStyle>
            <a:defPPr rtl="0">
              <a:defRPr lang="zh-CN"/>
            </a:defPPr>
            <a:lvl1pPr marL="0" algn="ctr" defTabSz="685800" rtl="0" eaLnBrk="1" latinLnBrk="0" hangingPunct="1">
              <a:defRPr sz="900" i="1" kern="1200">
                <a:solidFill>
                  <a:schemeClr val="bg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19B51A1E-902D-48AF-9020-955120F399B6}" type="slidenum">
              <a:rPr lang="en-ZA" altLang="zh-CN" smtClean="0"/>
              <a:pPr/>
              <a:t>17</a:t>
            </a:fld>
            <a:endParaRPr lang="zh-CN" altLang="en-US" noProof="0" dirty="0"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A5F56049-C7A4-4E2D-9845-D4AE374097B6}"/>
              </a:ext>
            </a:extLst>
          </p:cNvPr>
          <p:cNvSpPr/>
          <p:nvPr/>
        </p:nvSpPr>
        <p:spPr>
          <a:xfrm>
            <a:off x="1654967" y="3089130"/>
            <a:ext cx="7035065" cy="1200329"/>
          </a:xfrm>
          <a:prstGeom prst="rect">
            <a:avLst/>
          </a:prstGeom>
          <a:noFill/>
          <a:ln w="12700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altLang="zh-CN" dirty="0">
                <a:latin typeface="Consolas" panose="020B0609020204030204" pitchFamily="49" charset="0"/>
                <a:ea typeface="阿里巴巴普惠体 R" panose="00020600040101010101" pitchFamily="18" charset="-122"/>
                <a:cs typeface="阿里巴巴普惠体 R" panose="00020600040101010101" pitchFamily="18" charset="-122"/>
              </a:rPr>
              <a:t>id: 140720188347424</a:t>
            </a:r>
          </a:p>
          <a:p>
            <a:r>
              <a:rPr lang="en-US" altLang="zh-CN" dirty="0">
                <a:latin typeface="Consolas" panose="020B0609020204030204" pitchFamily="49" charset="0"/>
                <a:ea typeface="阿里巴巴普惠体 R" panose="00020600040101010101" pitchFamily="18" charset="-122"/>
                <a:cs typeface="阿里巴巴普惠体 R" panose="00020600040101010101" pitchFamily="18" charset="-122"/>
              </a:rPr>
              <a:t>id: 140720188347456</a:t>
            </a:r>
          </a:p>
          <a:p>
            <a:r>
              <a:rPr lang="en-US" altLang="zh-CN" dirty="0">
                <a:latin typeface="Consolas" panose="020B0609020204030204" pitchFamily="49" charset="0"/>
                <a:ea typeface="阿里巴巴普惠体 R" panose="00020600040101010101" pitchFamily="18" charset="-122"/>
                <a:cs typeface="阿里巴巴普惠体 R" panose="00020600040101010101" pitchFamily="18" charset="-122"/>
              </a:rPr>
              <a:t>id of a: 140720188347456 id of b: 140720188347456</a:t>
            </a:r>
          </a:p>
          <a:p>
            <a:r>
              <a:rPr lang="en-US" altLang="zh-CN" dirty="0">
                <a:latin typeface="Consolas" panose="020B0609020204030204" pitchFamily="49" charset="0"/>
                <a:ea typeface="阿里巴巴普惠体 R" panose="00020600040101010101" pitchFamily="18" charset="-122"/>
                <a:cs typeface="阿里巴巴普惠体 R" panose="00020600040101010101" pitchFamily="18" charset="-122"/>
              </a:rPr>
              <a:t>id: 140720188347488</a:t>
            </a:r>
            <a:endParaRPr lang="zh-CN" altLang="en-US" dirty="0">
              <a:latin typeface="Consolas" panose="020B0609020204030204" pitchFamily="49" charset="0"/>
              <a:ea typeface="阿里巴巴普惠体 R" panose="00020600040101010101" pitchFamily="18" charset="-122"/>
              <a:cs typeface="阿里巴巴普惠体 R" panose="00020600040101010101" pitchFamily="18" charset="-122"/>
            </a:endParaRPr>
          </a:p>
        </p:txBody>
      </p:sp>
      <p:sp>
        <p:nvSpPr>
          <p:cNvPr id="65" name="文本框 64">
            <a:extLst>
              <a:ext uri="{FF2B5EF4-FFF2-40B4-BE49-F238E27FC236}">
                <a16:creationId xmlns:a16="http://schemas.microsoft.com/office/drawing/2014/main" id="{9529FB48-2BE3-4756-A749-2C0EE26AAFAD}"/>
              </a:ext>
            </a:extLst>
          </p:cNvPr>
          <p:cNvSpPr txBox="1"/>
          <p:nvPr/>
        </p:nvSpPr>
        <p:spPr>
          <a:xfrm>
            <a:off x="1577742" y="4653136"/>
            <a:ext cx="7035065" cy="1754326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214313" indent="-214313">
              <a:buFont typeface="Arial" panose="020B0604020202020204" pitchFamily="34" charset="0"/>
              <a:buChar char="•"/>
            </a:pPr>
            <a:r>
              <a:rPr lang="en-US" altLang="zh-CN" dirty="0"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</a:rPr>
              <a:t>id()</a:t>
            </a:r>
            <a:r>
              <a:rPr lang="zh-CN" altLang="en-US" dirty="0"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</a:rPr>
              <a:t>函数返回对象在</a:t>
            </a:r>
            <a:r>
              <a:rPr lang="en-US" altLang="zh-CN" dirty="0"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</a:rPr>
              <a:t>Python</a:t>
            </a:r>
            <a:r>
              <a:rPr lang="zh-CN" altLang="en-US" dirty="0"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</a:rPr>
              <a:t>解释器内部的编号，每一个对象都有一个唯一的</a:t>
            </a:r>
            <a:r>
              <a:rPr lang="en-US" altLang="zh-CN" dirty="0"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</a:rPr>
              <a:t>id</a:t>
            </a:r>
            <a:r>
              <a:rPr lang="zh-CN" altLang="en-US" dirty="0"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</a:rPr>
              <a:t>号。对于使用</a:t>
            </a:r>
            <a:endParaRPr lang="en-US" altLang="zh-CN" dirty="0">
              <a:latin typeface="阿里巴巴普惠体 R" panose="00020600040101010101" pitchFamily="18" charset="-122"/>
              <a:ea typeface="阿里巴巴普惠体 R" panose="00020600040101010101" pitchFamily="18" charset="-122"/>
              <a:cs typeface="阿里巴巴普惠体 R" panose="00020600040101010101" pitchFamily="18" charset="-122"/>
            </a:endParaRPr>
          </a:p>
          <a:p>
            <a:pPr marL="214313" indent="-214313">
              <a:buFont typeface="Arial" panose="020B0604020202020204" pitchFamily="34" charset="0"/>
              <a:buChar char="•"/>
            </a:pPr>
            <a:r>
              <a:rPr lang="en-US" altLang="zh-CN" dirty="0"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</a:rPr>
              <a:t>C/C++</a:t>
            </a:r>
            <a:r>
              <a:rPr lang="zh-CN" altLang="en-US" dirty="0"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</a:rPr>
              <a:t>实现的官方</a:t>
            </a:r>
            <a:r>
              <a:rPr lang="en-US" altLang="zh-CN" dirty="0"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</a:rPr>
              <a:t>Python</a:t>
            </a:r>
            <a:r>
              <a:rPr lang="zh-CN" altLang="en-US" dirty="0"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</a:rPr>
              <a:t>解释器，你可以把</a:t>
            </a:r>
            <a:r>
              <a:rPr lang="en-US" altLang="zh-CN" dirty="0"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</a:rPr>
              <a:t>id</a:t>
            </a:r>
            <a:r>
              <a:rPr lang="zh-CN" altLang="en-US" dirty="0"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</a:rPr>
              <a:t>号视为该对象在内存中的地址。</a:t>
            </a:r>
            <a:endParaRPr lang="en-US" altLang="zh-CN" dirty="0">
              <a:latin typeface="阿里巴巴普惠体 R" panose="00020600040101010101" pitchFamily="18" charset="-122"/>
              <a:ea typeface="阿里巴巴普惠体 R" panose="00020600040101010101" pitchFamily="18" charset="-122"/>
              <a:cs typeface="阿里巴巴普惠体 R" panose="00020600040101010101" pitchFamily="18" charset="-122"/>
            </a:endParaRPr>
          </a:p>
          <a:p>
            <a:pPr marL="214313" indent="-214313">
              <a:buFont typeface="Arial" panose="020B0604020202020204" pitchFamily="34" charset="0"/>
              <a:buChar char="•"/>
            </a:pPr>
            <a:r>
              <a:rPr lang="zh-CN" altLang="en-US" dirty="0"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</a:rPr>
              <a:t>读者机器的运行结果会与上述结果有差异。</a:t>
            </a:r>
            <a:endParaRPr lang="en-US" altLang="zh-CN" dirty="0">
              <a:latin typeface="阿里巴巴普惠体 R" panose="00020600040101010101" pitchFamily="18" charset="-122"/>
              <a:ea typeface="阿里巴巴普惠体 R" panose="00020600040101010101" pitchFamily="18" charset="-122"/>
              <a:cs typeface="阿里巴巴普惠体 R" panose="00020600040101010101" pitchFamily="18" charset="-122"/>
            </a:endParaRPr>
          </a:p>
          <a:p>
            <a:pPr marL="214313" indent="-214313">
              <a:buFont typeface="Arial" panose="020B0604020202020204" pitchFamily="34" charset="0"/>
              <a:buChar char="•"/>
            </a:pPr>
            <a:r>
              <a:rPr lang="en-US" altLang="zh-CN" dirty="0"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</a:rPr>
              <a:t>a = 1, </a:t>
            </a:r>
            <a:r>
              <a:rPr lang="zh-CN" altLang="en-US" dirty="0"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</a:rPr>
              <a:t>赋值是一种习惯表达，不是事实。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864A8EFD-9AE5-4869-9CDF-83BD438EB3C2}"/>
              </a:ext>
            </a:extLst>
          </p:cNvPr>
          <p:cNvSpPr/>
          <p:nvPr/>
        </p:nvSpPr>
        <p:spPr>
          <a:xfrm>
            <a:off x="1654968" y="299221"/>
            <a:ext cx="7035065" cy="2585323"/>
          </a:xfrm>
          <a:prstGeom prst="rect">
            <a:avLst/>
          </a:prstGeom>
          <a:ln w="1905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altLang="zh-CN" dirty="0">
                <a:solidFill>
                  <a:srgbClr val="008000"/>
                </a:solidFill>
                <a:latin typeface="Consolas" panose="020B0609020204030204" pitchFamily="49" charset="0"/>
              </a:rPr>
              <a:t>#a1.py</a:t>
            </a:r>
            <a:endParaRPr lang="en-US" altLang="zh-CN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a = </a:t>
            </a:r>
            <a:r>
              <a:rPr lang="en-US" altLang="zh-CN" dirty="0">
                <a:solidFill>
                  <a:srgbClr val="09885A"/>
                </a:solidFill>
                <a:latin typeface="Consolas" panose="020B0609020204030204" pitchFamily="49" charset="0"/>
              </a:rPr>
              <a:t>1</a:t>
            </a:r>
            <a:endParaRPr lang="en-US" altLang="zh-CN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altLang="zh-CN" dirty="0">
                <a:solidFill>
                  <a:srgbClr val="795E26"/>
                </a:solidFill>
                <a:latin typeface="Consolas" panose="020B0609020204030204" pitchFamily="49" charset="0"/>
              </a:rPr>
              <a:t>print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altLang="zh-CN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en-US" altLang="zh-CN" dirty="0" err="1">
                <a:solidFill>
                  <a:srgbClr val="A31515"/>
                </a:solidFill>
                <a:latin typeface="Consolas" panose="020B0609020204030204" pitchFamily="49" charset="0"/>
              </a:rPr>
              <a:t>id:"</a:t>
            </a:r>
            <a:r>
              <a:rPr lang="en-US" altLang="zh-CN" dirty="0" err="1">
                <a:solidFill>
                  <a:srgbClr val="000000"/>
                </a:solidFill>
                <a:latin typeface="Consolas" panose="020B0609020204030204" pitchFamily="49" charset="0"/>
              </a:rPr>
              <a:t>,</a:t>
            </a:r>
            <a:r>
              <a:rPr lang="en-US" altLang="zh-CN" dirty="0" err="1">
                <a:solidFill>
                  <a:srgbClr val="795E26"/>
                </a:solidFill>
                <a:latin typeface="Consolas" panose="020B0609020204030204" pitchFamily="49" charset="0"/>
              </a:rPr>
              <a:t>id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(a))</a:t>
            </a:r>
          </a:p>
          <a:p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a = </a:t>
            </a:r>
            <a:r>
              <a:rPr lang="en-US" altLang="zh-CN" dirty="0">
                <a:solidFill>
                  <a:srgbClr val="09885A"/>
                </a:solidFill>
                <a:latin typeface="Consolas" panose="020B0609020204030204" pitchFamily="49" charset="0"/>
              </a:rPr>
              <a:t>2</a:t>
            </a:r>
            <a:endParaRPr lang="en-US" altLang="zh-CN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altLang="zh-CN" dirty="0">
                <a:solidFill>
                  <a:srgbClr val="795E26"/>
                </a:solidFill>
                <a:latin typeface="Consolas" panose="020B0609020204030204" pitchFamily="49" charset="0"/>
              </a:rPr>
              <a:t>print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altLang="zh-CN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en-US" altLang="zh-CN" dirty="0" err="1">
                <a:solidFill>
                  <a:srgbClr val="A31515"/>
                </a:solidFill>
                <a:latin typeface="Consolas" panose="020B0609020204030204" pitchFamily="49" charset="0"/>
              </a:rPr>
              <a:t>id:"</a:t>
            </a:r>
            <a:r>
              <a:rPr lang="en-US" altLang="zh-CN" dirty="0" err="1">
                <a:solidFill>
                  <a:srgbClr val="000000"/>
                </a:solidFill>
                <a:latin typeface="Consolas" panose="020B0609020204030204" pitchFamily="49" charset="0"/>
              </a:rPr>
              <a:t>,</a:t>
            </a:r>
            <a:r>
              <a:rPr lang="en-US" altLang="zh-CN" dirty="0" err="1">
                <a:solidFill>
                  <a:srgbClr val="795E26"/>
                </a:solidFill>
                <a:latin typeface="Consolas" panose="020B0609020204030204" pitchFamily="49" charset="0"/>
              </a:rPr>
              <a:t>id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(a))</a:t>
            </a:r>
          </a:p>
          <a:p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b = a</a:t>
            </a:r>
          </a:p>
          <a:p>
            <a:r>
              <a:rPr lang="en-US" altLang="zh-CN" dirty="0">
                <a:solidFill>
                  <a:srgbClr val="795E26"/>
                </a:solidFill>
                <a:latin typeface="Consolas" panose="020B0609020204030204" pitchFamily="49" charset="0"/>
              </a:rPr>
              <a:t>print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altLang="zh-CN" dirty="0">
                <a:solidFill>
                  <a:srgbClr val="A31515"/>
                </a:solidFill>
                <a:latin typeface="Consolas" panose="020B0609020204030204" pitchFamily="49" charset="0"/>
              </a:rPr>
              <a:t>"id of a:"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altLang="zh-CN" dirty="0">
                <a:solidFill>
                  <a:srgbClr val="795E26"/>
                </a:solidFill>
                <a:latin typeface="Consolas" panose="020B0609020204030204" pitchFamily="49" charset="0"/>
              </a:rPr>
              <a:t>id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(a), </a:t>
            </a:r>
            <a:r>
              <a:rPr lang="en-US" altLang="zh-CN" dirty="0">
                <a:solidFill>
                  <a:srgbClr val="A31515"/>
                </a:solidFill>
                <a:latin typeface="Consolas" panose="020B0609020204030204" pitchFamily="49" charset="0"/>
              </a:rPr>
              <a:t>"id of b:"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,</a:t>
            </a:r>
            <a:r>
              <a:rPr lang="en-US" altLang="zh-CN" dirty="0">
                <a:solidFill>
                  <a:srgbClr val="795E26"/>
                </a:solidFill>
                <a:latin typeface="Consolas" panose="020B0609020204030204" pitchFamily="49" charset="0"/>
              </a:rPr>
              <a:t>id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(b))</a:t>
            </a:r>
          </a:p>
          <a:p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a += </a:t>
            </a:r>
            <a:r>
              <a:rPr lang="en-US" altLang="zh-CN" dirty="0">
                <a:solidFill>
                  <a:srgbClr val="09885A"/>
                </a:solidFill>
                <a:latin typeface="Consolas" panose="020B0609020204030204" pitchFamily="49" charset="0"/>
              </a:rPr>
              <a:t>1</a:t>
            </a:r>
            <a:endParaRPr lang="en-US" altLang="zh-CN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altLang="zh-CN" dirty="0">
                <a:solidFill>
                  <a:srgbClr val="795E26"/>
                </a:solidFill>
                <a:latin typeface="Consolas" panose="020B0609020204030204" pitchFamily="49" charset="0"/>
              </a:rPr>
              <a:t>print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altLang="zh-CN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en-US" altLang="zh-CN" dirty="0" err="1">
                <a:solidFill>
                  <a:srgbClr val="A31515"/>
                </a:solidFill>
                <a:latin typeface="Consolas" panose="020B0609020204030204" pitchFamily="49" charset="0"/>
              </a:rPr>
              <a:t>id:"</a:t>
            </a:r>
            <a:r>
              <a:rPr lang="en-US" altLang="zh-CN" dirty="0" err="1">
                <a:solidFill>
                  <a:srgbClr val="000000"/>
                </a:solidFill>
                <a:latin typeface="Consolas" panose="020B0609020204030204" pitchFamily="49" charset="0"/>
              </a:rPr>
              <a:t>,</a:t>
            </a:r>
            <a:r>
              <a:rPr lang="en-US" altLang="zh-CN" dirty="0" err="1">
                <a:solidFill>
                  <a:srgbClr val="795E26"/>
                </a:solidFill>
                <a:latin typeface="Consolas" panose="020B0609020204030204" pitchFamily="49" charset="0"/>
              </a:rPr>
              <a:t>id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(a))</a:t>
            </a:r>
          </a:p>
        </p:txBody>
      </p:sp>
    </p:spTree>
    <p:extLst>
      <p:ext uri="{BB962C8B-B14F-4D97-AF65-F5344CB8AC3E}">
        <p14:creationId xmlns:p14="http://schemas.microsoft.com/office/powerpoint/2010/main" val="26531231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/>
    </mc:Choice>
    <mc:Fallback xmlns="">
      <p:transition advClick="0"/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E48A9AC-A243-4B87-975A-FE8091DDEE60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8585626" y="5658563"/>
            <a:ext cx="208814" cy="205743"/>
          </a:xfrm>
          <a:prstGeom prst="rect">
            <a:avLst/>
          </a:prstGeom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</a:bodyPr>
          <a:lstStyle>
            <a:defPPr rtl="0">
              <a:defRPr lang="zh-CN"/>
            </a:defPPr>
            <a:lvl1pPr marL="0" algn="ctr" defTabSz="685800" rtl="0" eaLnBrk="1" latinLnBrk="0" hangingPunct="1">
              <a:defRPr sz="900" i="1" kern="1200">
                <a:solidFill>
                  <a:schemeClr val="bg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19B51A1E-902D-48AF-9020-955120F399B6}" type="slidenum">
              <a:rPr lang="en-ZA" altLang="zh-CN" smtClean="0"/>
              <a:pPr/>
              <a:t>18</a:t>
            </a:fld>
            <a:endParaRPr lang="zh-CN" altLang="en-US" noProof="0" dirty="0"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A5F56049-C7A4-4E2D-9845-D4AE374097B6}"/>
              </a:ext>
            </a:extLst>
          </p:cNvPr>
          <p:cNvSpPr/>
          <p:nvPr/>
        </p:nvSpPr>
        <p:spPr>
          <a:xfrm>
            <a:off x="1573481" y="4941168"/>
            <a:ext cx="7035065" cy="1200329"/>
          </a:xfrm>
          <a:prstGeom prst="rect">
            <a:avLst/>
          </a:prstGeom>
          <a:noFill/>
          <a:ln w="12700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altLang="zh-CN" dirty="0">
                <a:latin typeface="Consolas" panose="020B0609020204030204" pitchFamily="49" charset="0"/>
                <a:ea typeface="阿里巴巴普惠体 R" panose="00020600040101010101" pitchFamily="18" charset="-122"/>
                <a:cs typeface="阿里巴巴普惠体 R" panose="00020600040101010101" pitchFamily="18" charset="-122"/>
              </a:rPr>
              <a:t>id: 140720188347424</a:t>
            </a:r>
          </a:p>
          <a:p>
            <a:r>
              <a:rPr lang="en-US" altLang="zh-CN" dirty="0">
                <a:latin typeface="Consolas" panose="020B0609020204030204" pitchFamily="49" charset="0"/>
                <a:ea typeface="阿里巴巴普惠体 R" panose="00020600040101010101" pitchFamily="18" charset="-122"/>
                <a:cs typeface="阿里巴巴普惠体 R" panose="00020600040101010101" pitchFamily="18" charset="-122"/>
              </a:rPr>
              <a:t>id: 140720188347456</a:t>
            </a:r>
          </a:p>
          <a:p>
            <a:r>
              <a:rPr lang="en-US" altLang="zh-CN" dirty="0">
                <a:latin typeface="Consolas" panose="020B0609020204030204" pitchFamily="49" charset="0"/>
                <a:ea typeface="阿里巴巴普惠体 R" panose="00020600040101010101" pitchFamily="18" charset="-122"/>
                <a:cs typeface="阿里巴巴普惠体 R" panose="00020600040101010101" pitchFamily="18" charset="-122"/>
              </a:rPr>
              <a:t>id of a: 140720188347456 id of b: 140720188347456</a:t>
            </a:r>
          </a:p>
          <a:p>
            <a:r>
              <a:rPr lang="en-US" altLang="zh-CN" dirty="0">
                <a:latin typeface="Consolas" panose="020B0609020204030204" pitchFamily="49" charset="0"/>
                <a:ea typeface="阿里巴巴普惠体 R" panose="00020600040101010101" pitchFamily="18" charset="-122"/>
                <a:cs typeface="阿里巴巴普惠体 R" panose="00020600040101010101" pitchFamily="18" charset="-122"/>
              </a:rPr>
              <a:t>id: 140720188347488</a:t>
            </a:r>
            <a:endParaRPr lang="zh-CN" altLang="en-US" dirty="0">
              <a:latin typeface="Consolas" panose="020B0609020204030204" pitchFamily="49" charset="0"/>
              <a:ea typeface="阿里巴巴普惠体 R" panose="00020600040101010101" pitchFamily="18" charset="-122"/>
              <a:cs typeface="阿里巴巴普惠体 R" panose="00020600040101010101" pitchFamily="18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864A8EFD-9AE5-4869-9CDF-83BD438EB3C2}"/>
              </a:ext>
            </a:extLst>
          </p:cNvPr>
          <p:cNvSpPr/>
          <p:nvPr/>
        </p:nvSpPr>
        <p:spPr>
          <a:xfrm>
            <a:off x="1550561" y="1767067"/>
            <a:ext cx="7035065" cy="2585323"/>
          </a:xfrm>
          <a:prstGeom prst="rect">
            <a:avLst/>
          </a:prstGeom>
          <a:ln w="1905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altLang="zh-CN" dirty="0">
                <a:solidFill>
                  <a:srgbClr val="008000"/>
                </a:solidFill>
                <a:latin typeface="Consolas" panose="020B0609020204030204" pitchFamily="49" charset="0"/>
              </a:rPr>
              <a:t>#a1.py</a:t>
            </a:r>
            <a:endParaRPr lang="en-US" altLang="zh-CN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a = </a:t>
            </a:r>
            <a:r>
              <a:rPr lang="en-US" altLang="zh-CN" dirty="0">
                <a:solidFill>
                  <a:srgbClr val="09885A"/>
                </a:solidFill>
                <a:latin typeface="Consolas" panose="020B0609020204030204" pitchFamily="49" charset="0"/>
              </a:rPr>
              <a:t>1</a:t>
            </a:r>
            <a:endParaRPr lang="en-US" altLang="zh-CN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altLang="zh-CN" dirty="0">
                <a:solidFill>
                  <a:srgbClr val="795E26"/>
                </a:solidFill>
                <a:latin typeface="Consolas" panose="020B0609020204030204" pitchFamily="49" charset="0"/>
              </a:rPr>
              <a:t>print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altLang="zh-CN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en-US" altLang="zh-CN" dirty="0" err="1">
                <a:solidFill>
                  <a:srgbClr val="A31515"/>
                </a:solidFill>
                <a:latin typeface="Consolas" panose="020B0609020204030204" pitchFamily="49" charset="0"/>
              </a:rPr>
              <a:t>id:"</a:t>
            </a:r>
            <a:r>
              <a:rPr lang="en-US" altLang="zh-CN" dirty="0" err="1">
                <a:solidFill>
                  <a:srgbClr val="000000"/>
                </a:solidFill>
                <a:latin typeface="Consolas" panose="020B0609020204030204" pitchFamily="49" charset="0"/>
              </a:rPr>
              <a:t>,</a:t>
            </a:r>
            <a:r>
              <a:rPr lang="en-US" altLang="zh-CN" dirty="0" err="1">
                <a:solidFill>
                  <a:srgbClr val="795E26"/>
                </a:solidFill>
                <a:latin typeface="Consolas" panose="020B0609020204030204" pitchFamily="49" charset="0"/>
              </a:rPr>
              <a:t>id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(a))</a:t>
            </a:r>
          </a:p>
          <a:p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a = </a:t>
            </a:r>
            <a:r>
              <a:rPr lang="en-US" altLang="zh-CN" dirty="0">
                <a:solidFill>
                  <a:srgbClr val="09885A"/>
                </a:solidFill>
                <a:latin typeface="Consolas" panose="020B0609020204030204" pitchFamily="49" charset="0"/>
              </a:rPr>
              <a:t>2</a:t>
            </a:r>
            <a:endParaRPr lang="en-US" altLang="zh-CN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altLang="zh-CN" dirty="0">
                <a:solidFill>
                  <a:srgbClr val="795E26"/>
                </a:solidFill>
                <a:latin typeface="Consolas" panose="020B0609020204030204" pitchFamily="49" charset="0"/>
              </a:rPr>
              <a:t>print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altLang="zh-CN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en-US" altLang="zh-CN" dirty="0" err="1">
                <a:solidFill>
                  <a:srgbClr val="A31515"/>
                </a:solidFill>
                <a:latin typeface="Consolas" panose="020B0609020204030204" pitchFamily="49" charset="0"/>
              </a:rPr>
              <a:t>id:"</a:t>
            </a:r>
            <a:r>
              <a:rPr lang="en-US" altLang="zh-CN" dirty="0" err="1">
                <a:solidFill>
                  <a:srgbClr val="000000"/>
                </a:solidFill>
                <a:latin typeface="Consolas" panose="020B0609020204030204" pitchFamily="49" charset="0"/>
              </a:rPr>
              <a:t>,</a:t>
            </a:r>
            <a:r>
              <a:rPr lang="en-US" altLang="zh-CN" dirty="0" err="1">
                <a:solidFill>
                  <a:srgbClr val="795E26"/>
                </a:solidFill>
                <a:latin typeface="Consolas" panose="020B0609020204030204" pitchFamily="49" charset="0"/>
              </a:rPr>
              <a:t>id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(a))</a:t>
            </a:r>
          </a:p>
          <a:p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b = a</a:t>
            </a:r>
          </a:p>
          <a:p>
            <a:r>
              <a:rPr lang="en-US" altLang="zh-CN" dirty="0">
                <a:solidFill>
                  <a:srgbClr val="795E26"/>
                </a:solidFill>
                <a:latin typeface="Consolas" panose="020B0609020204030204" pitchFamily="49" charset="0"/>
              </a:rPr>
              <a:t>print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altLang="zh-CN" dirty="0">
                <a:solidFill>
                  <a:srgbClr val="A31515"/>
                </a:solidFill>
                <a:latin typeface="Consolas" panose="020B0609020204030204" pitchFamily="49" charset="0"/>
              </a:rPr>
              <a:t>"id of a:"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altLang="zh-CN" dirty="0">
                <a:solidFill>
                  <a:srgbClr val="795E26"/>
                </a:solidFill>
                <a:latin typeface="Consolas" panose="020B0609020204030204" pitchFamily="49" charset="0"/>
              </a:rPr>
              <a:t>id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(a), </a:t>
            </a:r>
            <a:r>
              <a:rPr lang="en-US" altLang="zh-CN" dirty="0">
                <a:solidFill>
                  <a:srgbClr val="A31515"/>
                </a:solidFill>
                <a:latin typeface="Consolas" panose="020B0609020204030204" pitchFamily="49" charset="0"/>
              </a:rPr>
              <a:t>"id of b:"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,</a:t>
            </a:r>
            <a:r>
              <a:rPr lang="en-US" altLang="zh-CN" dirty="0">
                <a:solidFill>
                  <a:srgbClr val="795E26"/>
                </a:solidFill>
                <a:latin typeface="Consolas" panose="020B0609020204030204" pitchFamily="49" charset="0"/>
              </a:rPr>
              <a:t>id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(b))</a:t>
            </a:r>
          </a:p>
          <a:p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a += </a:t>
            </a:r>
            <a:r>
              <a:rPr lang="en-US" altLang="zh-CN" dirty="0">
                <a:solidFill>
                  <a:srgbClr val="09885A"/>
                </a:solidFill>
                <a:latin typeface="Consolas" panose="020B0609020204030204" pitchFamily="49" charset="0"/>
              </a:rPr>
              <a:t>1</a:t>
            </a:r>
            <a:endParaRPr lang="en-US" altLang="zh-CN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altLang="zh-CN" dirty="0">
                <a:solidFill>
                  <a:srgbClr val="795E26"/>
                </a:solidFill>
                <a:latin typeface="Consolas" panose="020B0609020204030204" pitchFamily="49" charset="0"/>
              </a:rPr>
              <a:t>print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altLang="zh-CN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en-US" altLang="zh-CN" dirty="0" err="1">
                <a:solidFill>
                  <a:srgbClr val="A31515"/>
                </a:solidFill>
                <a:latin typeface="Consolas" panose="020B0609020204030204" pitchFamily="49" charset="0"/>
              </a:rPr>
              <a:t>id:"</a:t>
            </a:r>
            <a:r>
              <a:rPr lang="en-US" altLang="zh-CN" dirty="0" err="1">
                <a:solidFill>
                  <a:srgbClr val="000000"/>
                </a:solidFill>
                <a:latin typeface="Consolas" panose="020B0609020204030204" pitchFamily="49" charset="0"/>
              </a:rPr>
              <a:t>,</a:t>
            </a:r>
            <a:r>
              <a:rPr lang="en-US" altLang="zh-CN" dirty="0" err="1">
                <a:solidFill>
                  <a:srgbClr val="795E26"/>
                </a:solidFill>
                <a:latin typeface="Consolas" panose="020B0609020204030204" pitchFamily="49" charset="0"/>
              </a:rPr>
              <a:t>id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(a))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D0035FEF-53FD-41E4-9CC8-B7877A3A204D}"/>
              </a:ext>
            </a:extLst>
          </p:cNvPr>
          <p:cNvSpPr txBox="1"/>
          <p:nvPr/>
        </p:nvSpPr>
        <p:spPr>
          <a:xfrm>
            <a:off x="3275856" y="835027"/>
            <a:ext cx="94609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dirty="0"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</a:rPr>
              <a:t>a = 1</a:t>
            </a:r>
            <a:endParaRPr lang="zh-CN" altLang="en-US" sz="2400" dirty="0">
              <a:latin typeface="阿里巴巴普惠体 R" panose="00020600040101010101" pitchFamily="18" charset="-122"/>
              <a:ea typeface="阿里巴巴普惠体 R" panose="00020600040101010101" pitchFamily="18" charset="-122"/>
              <a:cs typeface="阿里巴巴普惠体 R" panose="00020600040101010101" pitchFamily="18" charset="-122"/>
            </a:endParaRPr>
          </a:p>
        </p:txBody>
      </p:sp>
      <p:sp>
        <p:nvSpPr>
          <p:cNvPr id="16" name="椭圆 15">
            <a:extLst>
              <a:ext uri="{FF2B5EF4-FFF2-40B4-BE49-F238E27FC236}">
                <a16:creationId xmlns:a16="http://schemas.microsoft.com/office/drawing/2014/main" id="{B5128AE5-DBD9-4C6A-BB9C-CE93DE8C8279}"/>
              </a:ext>
            </a:extLst>
          </p:cNvPr>
          <p:cNvSpPr/>
          <p:nvPr/>
        </p:nvSpPr>
        <p:spPr>
          <a:xfrm>
            <a:off x="4856361" y="669643"/>
            <a:ext cx="886791" cy="798570"/>
          </a:xfrm>
          <a:prstGeom prst="ellipse">
            <a:avLst/>
          </a:prstGeom>
          <a:ln/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3600" dirty="0"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</a:rPr>
              <a:t>1</a:t>
            </a:r>
            <a:endParaRPr lang="zh-CN" altLang="en-US" sz="3600" dirty="0">
              <a:latin typeface="阿里巴巴普惠体 R" panose="00020600040101010101" pitchFamily="18" charset="-122"/>
              <a:ea typeface="阿里巴巴普惠体 R" panose="00020600040101010101" pitchFamily="18" charset="-122"/>
              <a:cs typeface="阿里巴巴普惠体 R" panose="00020600040101010101" pitchFamily="18" charset="-122"/>
            </a:endParaRPr>
          </a:p>
        </p:txBody>
      </p:sp>
      <p:sp>
        <p:nvSpPr>
          <p:cNvPr id="17" name="箭头: 燕尾形 16">
            <a:extLst>
              <a:ext uri="{FF2B5EF4-FFF2-40B4-BE49-F238E27FC236}">
                <a16:creationId xmlns:a16="http://schemas.microsoft.com/office/drawing/2014/main" id="{FFDFC3AA-131F-4828-B029-26E709DFCAE7}"/>
              </a:ext>
            </a:extLst>
          </p:cNvPr>
          <p:cNvSpPr/>
          <p:nvPr/>
        </p:nvSpPr>
        <p:spPr>
          <a:xfrm rot="1884620">
            <a:off x="4276368" y="459309"/>
            <a:ext cx="639356" cy="545265"/>
          </a:xfrm>
          <a:prstGeom prst="notchedRightArrow">
            <a:avLst/>
          </a:prstGeom>
          <a:ln/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b="1" dirty="0"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</a:rPr>
              <a:t>a</a:t>
            </a:r>
            <a:endParaRPr lang="zh-CN" altLang="en-US" sz="2400" b="1" dirty="0">
              <a:latin typeface="阿里巴巴普惠体 R" panose="00020600040101010101" pitchFamily="18" charset="-122"/>
              <a:ea typeface="阿里巴巴普惠体 R" panose="00020600040101010101" pitchFamily="18" charset="-122"/>
              <a:cs typeface="阿里巴巴普惠体 R" panose="00020600040101010101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5521456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/>
    </mc:Choice>
    <mc:Fallback xmlns="">
      <p:transition advClick="0"/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E48A9AC-A243-4B87-975A-FE8091DDEE60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8585626" y="5658563"/>
            <a:ext cx="208814" cy="205743"/>
          </a:xfrm>
          <a:prstGeom prst="rect">
            <a:avLst/>
          </a:prstGeom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</a:bodyPr>
          <a:lstStyle>
            <a:defPPr rtl="0">
              <a:defRPr lang="zh-CN"/>
            </a:defPPr>
            <a:lvl1pPr marL="0" algn="ctr" defTabSz="685800" rtl="0" eaLnBrk="1" latinLnBrk="0" hangingPunct="1">
              <a:defRPr sz="900" i="1" kern="1200">
                <a:solidFill>
                  <a:schemeClr val="bg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19B51A1E-902D-48AF-9020-955120F399B6}" type="slidenum">
              <a:rPr lang="en-ZA" altLang="zh-CN" smtClean="0"/>
              <a:pPr/>
              <a:t>19</a:t>
            </a:fld>
            <a:endParaRPr lang="zh-CN" altLang="en-US" noProof="0" dirty="0"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A5F56049-C7A4-4E2D-9845-D4AE374097B6}"/>
              </a:ext>
            </a:extLst>
          </p:cNvPr>
          <p:cNvSpPr/>
          <p:nvPr/>
        </p:nvSpPr>
        <p:spPr>
          <a:xfrm>
            <a:off x="1887453" y="5083822"/>
            <a:ext cx="7035065" cy="1200329"/>
          </a:xfrm>
          <a:prstGeom prst="rect">
            <a:avLst/>
          </a:prstGeom>
          <a:noFill/>
          <a:ln w="12700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altLang="zh-CN" dirty="0">
                <a:latin typeface="Consolas" panose="020B0609020204030204" pitchFamily="49" charset="0"/>
                <a:ea typeface="阿里巴巴普惠体 R" panose="00020600040101010101" pitchFamily="18" charset="-122"/>
                <a:cs typeface="阿里巴巴普惠体 R" panose="00020600040101010101" pitchFamily="18" charset="-122"/>
              </a:rPr>
              <a:t>id: 140720188347424</a:t>
            </a:r>
          </a:p>
          <a:p>
            <a:r>
              <a:rPr lang="en-US" altLang="zh-CN" dirty="0">
                <a:latin typeface="Consolas" panose="020B0609020204030204" pitchFamily="49" charset="0"/>
                <a:ea typeface="阿里巴巴普惠体 R" panose="00020600040101010101" pitchFamily="18" charset="-122"/>
                <a:cs typeface="阿里巴巴普惠体 R" panose="00020600040101010101" pitchFamily="18" charset="-122"/>
              </a:rPr>
              <a:t>id: 140720188347456</a:t>
            </a:r>
          </a:p>
          <a:p>
            <a:r>
              <a:rPr lang="en-US" altLang="zh-CN" dirty="0">
                <a:latin typeface="Consolas" panose="020B0609020204030204" pitchFamily="49" charset="0"/>
                <a:ea typeface="阿里巴巴普惠体 R" panose="00020600040101010101" pitchFamily="18" charset="-122"/>
                <a:cs typeface="阿里巴巴普惠体 R" panose="00020600040101010101" pitchFamily="18" charset="-122"/>
              </a:rPr>
              <a:t>id of a: 140720188347456 id of b: 140720188347456</a:t>
            </a:r>
          </a:p>
          <a:p>
            <a:r>
              <a:rPr lang="en-US" altLang="zh-CN" dirty="0">
                <a:latin typeface="Consolas" panose="020B0609020204030204" pitchFamily="49" charset="0"/>
                <a:ea typeface="阿里巴巴普惠体 R" panose="00020600040101010101" pitchFamily="18" charset="-122"/>
                <a:cs typeface="阿里巴巴普惠体 R" panose="00020600040101010101" pitchFamily="18" charset="-122"/>
              </a:rPr>
              <a:t>id: 140720188347488</a:t>
            </a:r>
            <a:endParaRPr lang="zh-CN" altLang="en-US" dirty="0">
              <a:latin typeface="Consolas" panose="020B0609020204030204" pitchFamily="49" charset="0"/>
              <a:ea typeface="阿里巴巴普惠体 R" panose="00020600040101010101" pitchFamily="18" charset="-122"/>
              <a:cs typeface="阿里巴巴普惠体 R" panose="00020600040101010101" pitchFamily="18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864A8EFD-9AE5-4869-9CDF-83BD438EB3C2}"/>
              </a:ext>
            </a:extLst>
          </p:cNvPr>
          <p:cNvSpPr/>
          <p:nvPr/>
        </p:nvSpPr>
        <p:spPr>
          <a:xfrm>
            <a:off x="1876906" y="2076040"/>
            <a:ext cx="7035065" cy="2585323"/>
          </a:xfrm>
          <a:prstGeom prst="rect">
            <a:avLst/>
          </a:prstGeom>
          <a:ln w="1905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altLang="zh-CN" dirty="0">
                <a:solidFill>
                  <a:srgbClr val="008000"/>
                </a:solidFill>
                <a:latin typeface="Consolas" panose="020B0609020204030204" pitchFamily="49" charset="0"/>
              </a:rPr>
              <a:t>#a1.py</a:t>
            </a:r>
            <a:endParaRPr lang="en-US" altLang="zh-CN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a = </a:t>
            </a:r>
            <a:r>
              <a:rPr lang="en-US" altLang="zh-CN" dirty="0">
                <a:solidFill>
                  <a:srgbClr val="09885A"/>
                </a:solidFill>
                <a:latin typeface="Consolas" panose="020B0609020204030204" pitchFamily="49" charset="0"/>
              </a:rPr>
              <a:t>1</a:t>
            </a:r>
            <a:endParaRPr lang="en-US" altLang="zh-CN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altLang="zh-CN" dirty="0">
                <a:solidFill>
                  <a:srgbClr val="795E26"/>
                </a:solidFill>
                <a:latin typeface="Consolas" panose="020B0609020204030204" pitchFamily="49" charset="0"/>
              </a:rPr>
              <a:t>print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altLang="zh-CN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en-US" altLang="zh-CN" dirty="0" err="1">
                <a:solidFill>
                  <a:srgbClr val="A31515"/>
                </a:solidFill>
                <a:latin typeface="Consolas" panose="020B0609020204030204" pitchFamily="49" charset="0"/>
              </a:rPr>
              <a:t>id:"</a:t>
            </a:r>
            <a:r>
              <a:rPr lang="en-US" altLang="zh-CN" dirty="0" err="1">
                <a:solidFill>
                  <a:srgbClr val="000000"/>
                </a:solidFill>
                <a:latin typeface="Consolas" panose="020B0609020204030204" pitchFamily="49" charset="0"/>
              </a:rPr>
              <a:t>,</a:t>
            </a:r>
            <a:r>
              <a:rPr lang="en-US" altLang="zh-CN" dirty="0" err="1">
                <a:solidFill>
                  <a:srgbClr val="795E26"/>
                </a:solidFill>
                <a:latin typeface="Consolas" panose="020B0609020204030204" pitchFamily="49" charset="0"/>
              </a:rPr>
              <a:t>id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(a))</a:t>
            </a:r>
          </a:p>
          <a:p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a = </a:t>
            </a:r>
            <a:r>
              <a:rPr lang="en-US" altLang="zh-CN" dirty="0">
                <a:solidFill>
                  <a:srgbClr val="09885A"/>
                </a:solidFill>
                <a:latin typeface="Consolas" panose="020B0609020204030204" pitchFamily="49" charset="0"/>
              </a:rPr>
              <a:t>2</a:t>
            </a:r>
            <a:endParaRPr lang="en-US" altLang="zh-CN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altLang="zh-CN" dirty="0">
                <a:solidFill>
                  <a:srgbClr val="795E26"/>
                </a:solidFill>
                <a:latin typeface="Consolas" panose="020B0609020204030204" pitchFamily="49" charset="0"/>
              </a:rPr>
              <a:t>print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altLang="zh-CN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en-US" altLang="zh-CN" dirty="0" err="1">
                <a:solidFill>
                  <a:srgbClr val="A31515"/>
                </a:solidFill>
                <a:latin typeface="Consolas" panose="020B0609020204030204" pitchFamily="49" charset="0"/>
              </a:rPr>
              <a:t>id:"</a:t>
            </a:r>
            <a:r>
              <a:rPr lang="en-US" altLang="zh-CN" dirty="0" err="1">
                <a:solidFill>
                  <a:srgbClr val="000000"/>
                </a:solidFill>
                <a:latin typeface="Consolas" panose="020B0609020204030204" pitchFamily="49" charset="0"/>
              </a:rPr>
              <a:t>,</a:t>
            </a:r>
            <a:r>
              <a:rPr lang="en-US" altLang="zh-CN" dirty="0" err="1">
                <a:solidFill>
                  <a:srgbClr val="795E26"/>
                </a:solidFill>
                <a:latin typeface="Consolas" panose="020B0609020204030204" pitchFamily="49" charset="0"/>
              </a:rPr>
              <a:t>id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(a))</a:t>
            </a:r>
          </a:p>
          <a:p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b = a</a:t>
            </a:r>
          </a:p>
          <a:p>
            <a:r>
              <a:rPr lang="en-US" altLang="zh-CN" dirty="0">
                <a:solidFill>
                  <a:srgbClr val="795E26"/>
                </a:solidFill>
                <a:latin typeface="Consolas" panose="020B0609020204030204" pitchFamily="49" charset="0"/>
              </a:rPr>
              <a:t>print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altLang="zh-CN" dirty="0">
                <a:solidFill>
                  <a:srgbClr val="A31515"/>
                </a:solidFill>
                <a:latin typeface="Consolas" panose="020B0609020204030204" pitchFamily="49" charset="0"/>
              </a:rPr>
              <a:t>"id of a:"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altLang="zh-CN" dirty="0">
                <a:solidFill>
                  <a:srgbClr val="795E26"/>
                </a:solidFill>
                <a:latin typeface="Consolas" panose="020B0609020204030204" pitchFamily="49" charset="0"/>
              </a:rPr>
              <a:t>id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(a), </a:t>
            </a:r>
            <a:r>
              <a:rPr lang="en-US" altLang="zh-CN" dirty="0">
                <a:solidFill>
                  <a:srgbClr val="A31515"/>
                </a:solidFill>
                <a:latin typeface="Consolas" panose="020B0609020204030204" pitchFamily="49" charset="0"/>
              </a:rPr>
              <a:t>"id of b:"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,</a:t>
            </a:r>
            <a:r>
              <a:rPr lang="en-US" altLang="zh-CN" dirty="0">
                <a:solidFill>
                  <a:srgbClr val="795E26"/>
                </a:solidFill>
                <a:latin typeface="Consolas" panose="020B0609020204030204" pitchFamily="49" charset="0"/>
              </a:rPr>
              <a:t>id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(b))</a:t>
            </a:r>
          </a:p>
          <a:p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a += </a:t>
            </a:r>
            <a:r>
              <a:rPr lang="en-US" altLang="zh-CN" dirty="0">
                <a:solidFill>
                  <a:srgbClr val="09885A"/>
                </a:solidFill>
                <a:latin typeface="Consolas" panose="020B0609020204030204" pitchFamily="49" charset="0"/>
              </a:rPr>
              <a:t>1</a:t>
            </a:r>
            <a:endParaRPr lang="en-US" altLang="zh-CN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altLang="zh-CN" dirty="0">
                <a:solidFill>
                  <a:srgbClr val="795E26"/>
                </a:solidFill>
                <a:latin typeface="Consolas" panose="020B0609020204030204" pitchFamily="49" charset="0"/>
              </a:rPr>
              <a:t>print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altLang="zh-CN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en-US" altLang="zh-CN" dirty="0" err="1">
                <a:solidFill>
                  <a:srgbClr val="A31515"/>
                </a:solidFill>
                <a:latin typeface="Consolas" panose="020B0609020204030204" pitchFamily="49" charset="0"/>
              </a:rPr>
              <a:t>id:"</a:t>
            </a:r>
            <a:r>
              <a:rPr lang="en-US" altLang="zh-CN" dirty="0" err="1">
                <a:solidFill>
                  <a:srgbClr val="000000"/>
                </a:solidFill>
                <a:latin typeface="Consolas" panose="020B0609020204030204" pitchFamily="49" charset="0"/>
              </a:rPr>
              <a:t>,</a:t>
            </a:r>
            <a:r>
              <a:rPr lang="en-US" altLang="zh-CN" dirty="0" err="1">
                <a:solidFill>
                  <a:srgbClr val="795E26"/>
                </a:solidFill>
                <a:latin typeface="Consolas" panose="020B0609020204030204" pitchFamily="49" charset="0"/>
              </a:rPr>
              <a:t>id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(a))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D0035FEF-53FD-41E4-9CC8-B7877A3A204D}"/>
              </a:ext>
            </a:extLst>
          </p:cNvPr>
          <p:cNvSpPr txBox="1"/>
          <p:nvPr/>
        </p:nvSpPr>
        <p:spPr>
          <a:xfrm>
            <a:off x="5226877" y="1127746"/>
            <a:ext cx="94609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dirty="0"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</a:rPr>
              <a:t>a = 2</a:t>
            </a:r>
            <a:endParaRPr lang="zh-CN" altLang="en-US" sz="2400" dirty="0">
              <a:latin typeface="阿里巴巴普惠体 R" panose="00020600040101010101" pitchFamily="18" charset="-122"/>
              <a:ea typeface="阿里巴巴普惠体 R" panose="00020600040101010101" pitchFamily="18" charset="-122"/>
              <a:cs typeface="阿里巴巴普惠体 R" panose="00020600040101010101" pitchFamily="18" charset="-122"/>
            </a:endParaRPr>
          </a:p>
        </p:txBody>
      </p:sp>
      <p:sp>
        <p:nvSpPr>
          <p:cNvPr id="18" name="椭圆 17">
            <a:extLst>
              <a:ext uri="{FF2B5EF4-FFF2-40B4-BE49-F238E27FC236}">
                <a16:creationId xmlns:a16="http://schemas.microsoft.com/office/drawing/2014/main" id="{DA36CF34-ADEC-41C1-AD7F-53F8DC760E49}"/>
              </a:ext>
            </a:extLst>
          </p:cNvPr>
          <p:cNvSpPr/>
          <p:nvPr/>
        </p:nvSpPr>
        <p:spPr>
          <a:xfrm>
            <a:off x="6640563" y="847725"/>
            <a:ext cx="920602" cy="893064"/>
          </a:xfrm>
          <a:prstGeom prst="ellipse">
            <a:avLst/>
          </a:prstGeom>
          <a:ln/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3600" dirty="0"/>
              <a:t>2</a:t>
            </a:r>
            <a:endParaRPr lang="zh-CN" altLang="en-US" sz="3600" dirty="0"/>
          </a:p>
        </p:txBody>
      </p:sp>
      <p:sp>
        <p:nvSpPr>
          <p:cNvPr id="19" name="箭头: 燕尾形 18">
            <a:extLst>
              <a:ext uri="{FF2B5EF4-FFF2-40B4-BE49-F238E27FC236}">
                <a16:creationId xmlns:a16="http://schemas.microsoft.com/office/drawing/2014/main" id="{578A4FAE-2BB2-49F4-B098-D4FD5CBFFD29}"/>
              </a:ext>
            </a:extLst>
          </p:cNvPr>
          <p:cNvSpPr/>
          <p:nvPr/>
        </p:nvSpPr>
        <p:spPr>
          <a:xfrm rot="1884620">
            <a:off x="6115086" y="466888"/>
            <a:ext cx="703347" cy="669398"/>
          </a:xfrm>
          <a:prstGeom prst="notchedRightArrow">
            <a:avLst/>
          </a:prstGeom>
          <a:ln/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b="1" dirty="0"/>
              <a:t>a</a:t>
            </a:r>
            <a:endParaRPr lang="zh-CN" altLang="en-US" sz="2400" b="1" dirty="0"/>
          </a:p>
        </p:txBody>
      </p:sp>
      <p:sp>
        <p:nvSpPr>
          <p:cNvPr id="23" name="椭圆 22">
            <a:extLst>
              <a:ext uri="{FF2B5EF4-FFF2-40B4-BE49-F238E27FC236}">
                <a16:creationId xmlns:a16="http://schemas.microsoft.com/office/drawing/2014/main" id="{A50BED0C-63E3-4767-812C-F9222B00504E}"/>
              </a:ext>
            </a:extLst>
          </p:cNvPr>
          <p:cNvSpPr/>
          <p:nvPr/>
        </p:nvSpPr>
        <p:spPr>
          <a:xfrm>
            <a:off x="7755854" y="906204"/>
            <a:ext cx="920602" cy="850202"/>
          </a:xfrm>
          <a:prstGeom prst="ellipse">
            <a:avLst/>
          </a:prstGeom>
          <a:ln/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3600" dirty="0"/>
              <a:t>1</a:t>
            </a:r>
            <a:endParaRPr lang="zh-CN" altLang="en-US" sz="3600" dirty="0"/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79D8E215-8B51-4994-AE15-E13C50FAFD85}"/>
              </a:ext>
            </a:extLst>
          </p:cNvPr>
          <p:cNvSpPr txBox="1"/>
          <p:nvPr/>
        </p:nvSpPr>
        <p:spPr>
          <a:xfrm>
            <a:off x="6362579" y="2924944"/>
            <a:ext cx="2109246" cy="646331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214313" indent="-214313">
              <a:buFont typeface="Arial" panose="020B0604020202020204" pitchFamily="34" charset="0"/>
              <a:buChar char="•"/>
            </a:pPr>
            <a:r>
              <a:rPr lang="zh-CN" altLang="en-US" dirty="0"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</a:rPr>
              <a:t>对象</a:t>
            </a:r>
            <a:r>
              <a:rPr lang="en-US" altLang="zh-CN" dirty="0"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</a:rPr>
              <a:t>1</a:t>
            </a:r>
            <a:r>
              <a:rPr lang="zh-CN" altLang="en-US" dirty="0"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</a:rPr>
              <a:t>将被垃圾回收。</a:t>
            </a:r>
            <a:endParaRPr lang="en-US" altLang="zh-CN" dirty="0">
              <a:latin typeface="阿里巴巴普惠体 R" panose="00020600040101010101" pitchFamily="18" charset="-122"/>
              <a:ea typeface="阿里巴巴普惠体 R" panose="00020600040101010101" pitchFamily="18" charset="-122"/>
              <a:cs typeface="阿里巴巴普惠体 R" panose="00020600040101010101" pitchFamily="18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3703319-6649-4234-87CD-410D3ABB0D37}"/>
              </a:ext>
            </a:extLst>
          </p:cNvPr>
          <p:cNvSpPr txBox="1"/>
          <p:nvPr/>
        </p:nvSpPr>
        <p:spPr>
          <a:xfrm>
            <a:off x="1543906" y="1112014"/>
            <a:ext cx="94609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dirty="0"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</a:rPr>
              <a:t>a = 1</a:t>
            </a:r>
            <a:endParaRPr lang="zh-CN" altLang="en-US" sz="2400" dirty="0">
              <a:latin typeface="阿里巴巴普惠体 R" panose="00020600040101010101" pitchFamily="18" charset="-122"/>
              <a:ea typeface="阿里巴巴普惠体 R" panose="00020600040101010101" pitchFamily="18" charset="-122"/>
              <a:cs typeface="阿里巴巴普惠体 R" panose="00020600040101010101" pitchFamily="18" charset="-122"/>
            </a:endParaRPr>
          </a:p>
        </p:txBody>
      </p:sp>
      <p:sp>
        <p:nvSpPr>
          <p:cNvPr id="17" name="椭圆 16">
            <a:extLst>
              <a:ext uri="{FF2B5EF4-FFF2-40B4-BE49-F238E27FC236}">
                <a16:creationId xmlns:a16="http://schemas.microsoft.com/office/drawing/2014/main" id="{455C7021-75C4-4E16-A1B6-BD0BF29A55C6}"/>
              </a:ext>
            </a:extLst>
          </p:cNvPr>
          <p:cNvSpPr/>
          <p:nvPr/>
        </p:nvSpPr>
        <p:spPr>
          <a:xfrm>
            <a:off x="2951326" y="958923"/>
            <a:ext cx="886791" cy="798570"/>
          </a:xfrm>
          <a:prstGeom prst="ellipse">
            <a:avLst/>
          </a:prstGeom>
          <a:ln/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3600" dirty="0"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</a:rPr>
              <a:t>1</a:t>
            </a:r>
            <a:endParaRPr lang="zh-CN" altLang="en-US" sz="3600" dirty="0">
              <a:latin typeface="阿里巴巴普惠体 R" panose="00020600040101010101" pitchFamily="18" charset="-122"/>
              <a:ea typeface="阿里巴巴普惠体 R" panose="00020600040101010101" pitchFamily="18" charset="-122"/>
              <a:cs typeface="阿里巴巴普惠体 R" panose="00020600040101010101" pitchFamily="18" charset="-122"/>
            </a:endParaRPr>
          </a:p>
        </p:txBody>
      </p:sp>
      <p:sp>
        <p:nvSpPr>
          <p:cNvPr id="25" name="箭头: 燕尾形 24">
            <a:extLst>
              <a:ext uri="{FF2B5EF4-FFF2-40B4-BE49-F238E27FC236}">
                <a16:creationId xmlns:a16="http://schemas.microsoft.com/office/drawing/2014/main" id="{72D76CAD-8588-4D93-A9E4-5B4BC06DBC10}"/>
              </a:ext>
            </a:extLst>
          </p:cNvPr>
          <p:cNvSpPr/>
          <p:nvPr/>
        </p:nvSpPr>
        <p:spPr>
          <a:xfrm rot="1884620">
            <a:off x="2371334" y="748589"/>
            <a:ext cx="639356" cy="545265"/>
          </a:xfrm>
          <a:prstGeom prst="notchedRightArrow">
            <a:avLst/>
          </a:prstGeom>
          <a:ln/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b="1" dirty="0"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</a:rPr>
              <a:t>a</a:t>
            </a:r>
            <a:endParaRPr lang="zh-CN" altLang="en-US" sz="2400" b="1" dirty="0">
              <a:latin typeface="阿里巴巴普惠体 R" panose="00020600040101010101" pitchFamily="18" charset="-122"/>
              <a:ea typeface="阿里巴巴普惠体 R" panose="00020600040101010101" pitchFamily="18" charset="-122"/>
              <a:cs typeface="阿里巴巴普惠体 R" panose="00020600040101010101" pitchFamily="18" charset="-122"/>
            </a:endParaRPr>
          </a:p>
        </p:txBody>
      </p:sp>
      <p:sp>
        <p:nvSpPr>
          <p:cNvPr id="2" name="箭头: 虚尾 1">
            <a:extLst>
              <a:ext uri="{FF2B5EF4-FFF2-40B4-BE49-F238E27FC236}">
                <a16:creationId xmlns:a16="http://schemas.microsoft.com/office/drawing/2014/main" id="{B610B3BC-9F01-44A5-8367-7060E74B0394}"/>
              </a:ext>
            </a:extLst>
          </p:cNvPr>
          <p:cNvSpPr/>
          <p:nvPr/>
        </p:nvSpPr>
        <p:spPr>
          <a:xfrm>
            <a:off x="4243556" y="1211263"/>
            <a:ext cx="683979" cy="240082"/>
          </a:xfrm>
          <a:prstGeom prst="stripedRightArrow">
            <a:avLst/>
          </a:prstGeom>
          <a:ln/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912122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/>
    </mc:Choice>
    <mc:Fallback xmlns="">
      <p:transition advClick="0"/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E48A9AC-A243-4B87-975A-FE8091DDEE60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8585626" y="5658563"/>
            <a:ext cx="208814" cy="205743"/>
          </a:xfrm>
          <a:prstGeom prst="rect">
            <a:avLst/>
          </a:prstGeom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</a:bodyPr>
          <a:lstStyle>
            <a:defPPr rtl="0">
              <a:defRPr lang="zh-CN"/>
            </a:defPPr>
            <a:lvl1pPr marL="0" algn="ctr" defTabSz="685800" rtl="0" eaLnBrk="1" latinLnBrk="0" hangingPunct="1">
              <a:defRPr sz="900" i="1" kern="1200">
                <a:solidFill>
                  <a:schemeClr val="bg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19B51A1E-902D-48AF-9020-955120F399B6}" type="slidenum">
              <a:rPr lang="en-ZA" altLang="zh-CN" smtClean="0"/>
              <a:pPr/>
              <a:t>20</a:t>
            </a:fld>
            <a:endParaRPr lang="zh-CN" altLang="en-US" noProof="0" dirty="0"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A5F56049-C7A4-4E2D-9845-D4AE374097B6}"/>
              </a:ext>
            </a:extLst>
          </p:cNvPr>
          <p:cNvSpPr/>
          <p:nvPr/>
        </p:nvSpPr>
        <p:spPr>
          <a:xfrm>
            <a:off x="1860829" y="5088285"/>
            <a:ext cx="7035065" cy="1200329"/>
          </a:xfrm>
          <a:prstGeom prst="rect">
            <a:avLst/>
          </a:prstGeom>
          <a:noFill/>
          <a:ln w="12700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altLang="zh-CN" dirty="0">
                <a:latin typeface="Consolas" panose="020B0609020204030204" pitchFamily="49" charset="0"/>
                <a:ea typeface="阿里巴巴普惠体 R" panose="00020600040101010101" pitchFamily="18" charset="-122"/>
                <a:cs typeface="阿里巴巴普惠体 R" panose="00020600040101010101" pitchFamily="18" charset="-122"/>
              </a:rPr>
              <a:t>id: 140720188347424</a:t>
            </a:r>
          </a:p>
          <a:p>
            <a:r>
              <a:rPr lang="en-US" altLang="zh-CN" dirty="0">
                <a:latin typeface="Consolas" panose="020B0609020204030204" pitchFamily="49" charset="0"/>
                <a:ea typeface="阿里巴巴普惠体 R" panose="00020600040101010101" pitchFamily="18" charset="-122"/>
                <a:cs typeface="阿里巴巴普惠体 R" panose="00020600040101010101" pitchFamily="18" charset="-122"/>
              </a:rPr>
              <a:t>id: 140720188347456</a:t>
            </a:r>
          </a:p>
          <a:p>
            <a:r>
              <a:rPr lang="en-US" altLang="zh-CN" dirty="0">
                <a:latin typeface="Consolas" panose="020B0609020204030204" pitchFamily="49" charset="0"/>
                <a:ea typeface="阿里巴巴普惠体 R" panose="00020600040101010101" pitchFamily="18" charset="-122"/>
                <a:cs typeface="阿里巴巴普惠体 R" panose="00020600040101010101" pitchFamily="18" charset="-122"/>
              </a:rPr>
              <a:t>id of a: 140720188347456 id of b: 140720188347456</a:t>
            </a:r>
          </a:p>
          <a:p>
            <a:r>
              <a:rPr lang="en-US" altLang="zh-CN" dirty="0">
                <a:latin typeface="Consolas" panose="020B0609020204030204" pitchFamily="49" charset="0"/>
                <a:ea typeface="阿里巴巴普惠体 R" panose="00020600040101010101" pitchFamily="18" charset="-122"/>
                <a:cs typeface="阿里巴巴普惠体 R" panose="00020600040101010101" pitchFamily="18" charset="-122"/>
              </a:rPr>
              <a:t>id: 140720188347488</a:t>
            </a:r>
            <a:endParaRPr lang="zh-CN" altLang="en-US" dirty="0">
              <a:latin typeface="Consolas" panose="020B0609020204030204" pitchFamily="49" charset="0"/>
              <a:ea typeface="阿里巴巴普惠体 R" panose="00020600040101010101" pitchFamily="18" charset="-122"/>
              <a:cs typeface="阿里巴巴普惠体 R" panose="00020600040101010101" pitchFamily="18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864A8EFD-9AE5-4869-9CDF-83BD438EB3C2}"/>
              </a:ext>
            </a:extLst>
          </p:cNvPr>
          <p:cNvSpPr/>
          <p:nvPr/>
        </p:nvSpPr>
        <p:spPr>
          <a:xfrm>
            <a:off x="1860829" y="2272968"/>
            <a:ext cx="7035065" cy="2585323"/>
          </a:xfrm>
          <a:prstGeom prst="rect">
            <a:avLst/>
          </a:prstGeom>
          <a:ln w="1905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altLang="zh-CN" dirty="0">
                <a:solidFill>
                  <a:srgbClr val="008000"/>
                </a:solidFill>
                <a:latin typeface="Consolas" panose="020B0609020204030204" pitchFamily="49" charset="0"/>
              </a:rPr>
              <a:t>#a1.py</a:t>
            </a:r>
            <a:endParaRPr lang="en-US" altLang="zh-CN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a = </a:t>
            </a:r>
            <a:r>
              <a:rPr lang="en-US" altLang="zh-CN" dirty="0">
                <a:solidFill>
                  <a:srgbClr val="09885A"/>
                </a:solidFill>
                <a:latin typeface="Consolas" panose="020B0609020204030204" pitchFamily="49" charset="0"/>
              </a:rPr>
              <a:t>1</a:t>
            </a:r>
            <a:endParaRPr lang="en-US" altLang="zh-CN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altLang="zh-CN" dirty="0">
                <a:solidFill>
                  <a:srgbClr val="795E26"/>
                </a:solidFill>
                <a:latin typeface="Consolas" panose="020B0609020204030204" pitchFamily="49" charset="0"/>
              </a:rPr>
              <a:t>print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altLang="zh-CN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en-US" altLang="zh-CN" dirty="0" err="1">
                <a:solidFill>
                  <a:srgbClr val="A31515"/>
                </a:solidFill>
                <a:latin typeface="Consolas" panose="020B0609020204030204" pitchFamily="49" charset="0"/>
              </a:rPr>
              <a:t>id:"</a:t>
            </a:r>
            <a:r>
              <a:rPr lang="en-US" altLang="zh-CN" dirty="0" err="1">
                <a:solidFill>
                  <a:srgbClr val="000000"/>
                </a:solidFill>
                <a:latin typeface="Consolas" panose="020B0609020204030204" pitchFamily="49" charset="0"/>
              </a:rPr>
              <a:t>,</a:t>
            </a:r>
            <a:r>
              <a:rPr lang="en-US" altLang="zh-CN" dirty="0" err="1">
                <a:solidFill>
                  <a:srgbClr val="795E26"/>
                </a:solidFill>
                <a:latin typeface="Consolas" panose="020B0609020204030204" pitchFamily="49" charset="0"/>
              </a:rPr>
              <a:t>id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(a))</a:t>
            </a:r>
          </a:p>
          <a:p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a = </a:t>
            </a:r>
            <a:r>
              <a:rPr lang="en-US" altLang="zh-CN" dirty="0">
                <a:solidFill>
                  <a:srgbClr val="09885A"/>
                </a:solidFill>
                <a:latin typeface="Consolas" panose="020B0609020204030204" pitchFamily="49" charset="0"/>
              </a:rPr>
              <a:t>2</a:t>
            </a:r>
            <a:endParaRPr lang="en-US" altLang="zh-CN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altLang="zh-CN" dirty="0">
                <a:solidFill>
                  <a:srgbClr val="795E26"/>
                </a:solidFill>
                <a:latin typeface="Consolas" panose="020B0609020204030204" pitchFamily="49" charset="0"/>
              </a:rPr>
              <a:t>print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altLang="zh-CN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en-US" altLang="zh-CN" dirty="0" err="1">
                <a:solidFill>
                  <a:srgbClr val="A31515"/>
                </a:solidFill>
                <a:latin typeface="Consolas" panose="020B0609020204030204" pitchFamily="49" charset="0"/>
              </a:rPr>
              <a:t>id:"</a:t>
            </a:r>
            <a:r>
              <a:rPr lang="en-US" altLang="zh-CN" dirty="0" err="1">
                <a:solidFill>
                  <a:srgbClr val="000000"/>
                </a:solidFill>
                <a:latin typeface="Consolas" panose="020B0609020204030204" pitchFamily="49" charset="0"/>
              </a:rPr>
              <a:t>,</a:t>
            </a:r>
            <a:r>
              <a:rPr lang="en-US" altLang="zh-CN" dirty="0" err="1">
                <a:solidFill>
                  <a:srgbClr val="795E26"/>
                </a:solidFill>
                <a:latin typeface="Consolas" panose="020B0609020204030204" pitchFamily="49" charset="0"/>
              </a:rPr>
              <a:t>id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(a))</a:t>
            </a:r>
          </a:p>
          <a:p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b = a</a:t>
            </a:r>
          </a:p>
          <a:p>
            <a:r>
              <a:rPr lang="en-US" altLang="zh-CN" dirty="0">
                <a:solidFill>
                  <a:srgbClr val="795E26"/>
                </a:solidFill>
                <a:latin typeface="Consolas" panose="020B0609020204030204" pitchFamily="49" charset="0"/>
              </a:rPr>
              <a:t>print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altLang="zh-CN" dirty="0">
                <a:solidFill>
                  <a:srgbClr val="A31515"/>
                </a:solidFill>
                <a:latin typeface="Consolas" panose="020B0609020204030204" pitchFamily="49" charset="0"/>
              </a:rPr>
              <a:t>"id of a:"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altLang="zh-CN" dirty="0">
                <a:solidFill>
                  <a:srgbClr val="795E26"/>
                </a:solidFill>
                <a:latin typeface="Consolas" panose="020B0609020204030204" pitchFamily="49" charset="0"/>
              </a:rPr>
              <a:t>id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(a), </a:t>
            </a:r>
            <a:r>
              <a:rPr lang="en-US" altLang="zh-CN" dirty="0">
                <a:solidFill>
                  <a:srgbClr val="A31515"/>
                </a:solidFill>
                <a:latin typeface="Consolas" panose="020B0609020204030204" pitchFamily="49" charset="0"/>
              </a:rPr>
              <a:t>"id of b:"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,</a:t>
            </a:r>
            <a:r>
              <a:rPr lang="en-US" altLang="zh-CN" dirty="0">
                <a:solidFill>
                  <a:srgbClr val="795E26"/>
                </a:solidFill>
                <a:latin typeface="Consolas" panose="020B0609020204030204" pitchFamily="49" charset="0"/>
              </a:rPr>
              <a:t>id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(b))</a:t>
            </a:r>
          </a:p>
          <a:p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a += </a:t>
            </a:r>
            <a:r>
              <a:rPr lang="en-US" altLang="zh-CN" dirty="0">
                <a:solidFill>
                  <a:srgbClr val="09885A"/>
                </a:solidFill>
                <a:latin typeface="Consolas" panose="020B0609020204030204" pitchFamily="49" charset="0"/>
              </a:rPr>
              <a:t>1</a:t>
            </a:r>
            <a:endParaRPr lang="en-US" altLang="zh-CN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altLang="zh-CN" dirty="0">
                <a:solidFill>
                  <a:srgbClr val="795E26"/>
                </a:solidFill>
                <a:latin typeface="Consolas" panose="020B0609020204030204" pitchFamily="49" charset="0"/>
              </a:rPr>
              <a:t>print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altLang="zh-CN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en-US" altLang="zh-CN" dirty="0" err="1">
                <a:solidFill>
                  <a:srgbClr val="A31515"/>
                </a:solidFill>
                <a:latin typeface="Consolas" panose="020B0609020204030204" pitchFamily="49" charset="0"/>
              </a:rPr>
              <a:t>id:"</a:t>
            </a:r>
            <a:r>
              <a:rPr lang="en-US" altLang="zh-CN" dirty="0" err="1">
                <a:solidFill>
                  <a:srgbClr val="000000"/>
                </a:solidFill>
                <a:latin typeface="Consolas" panose="020B0609020204030204" pitchFamily="49" charset="0"/>
              </a:rPr>
              <a:t>,</a:t>
            </a:r>
            <a:r>
              <a:rPr lang="en-US" altLang="zh-CN" dirty="0" err="1">
                <a:solidFill>
                  <a:srgbClr val="795E26"/>
                </a:solidFill>
                <a:latin typeface="Consolas" panose="020B0609020204030204" pitchFamily="49" charset="0"/>
              </a:rPr>
              <a:t>id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(a))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D0035FEF-53FD-41E4-9CC8-B7877A3A204D}"/>
              </a:ext>
            </a:extLst>
          </p:cNvPr>
          <p:cNvSpPr txBox="1"/>
          <p:nvPr/>
        </p:nvSpPr>
        <p:spPr>
          <a:xfrm>
            <a:off x="5853632" y="1264973"/>
            <a:ext cx="96212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dirty="0"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</a:rPr>
              <a:t>b = a</a:t>
            </a:r>
            <a:endParaRPr lang="zh-CN" altLang="en-US" sz="2400" dirty="0">
              <a:latin typeface="阿里巴巴普惠体 R" panose="00020600040101010101" pitchFamily="18" charset="-122"/>
              <a:ea typeface="阿里巴巴普惠体 R" panose="00020600040101010101" pitchFamily="18" charset="-122"/>
              <a:cs typeface="阿里巴巴普惠体 R" panose="00020600040101010101" pitchFamily="18" charset="-122"/>
            </a:endParaRPr>
          </a:p>
        </p:txBody>
      </p:sp>
      <p:sp>
        <p:nvSpPr>
          <p:cNvPr id="18" name="椭圆 17">
            <a:extLst>
              <a:ext uri="{FF2B5EF4-FFF2-40B4-BE49-F238E27FC236}">
                <a16:creationId xmlns:a16="http://schemas.microsoft.com/office/drawing/2014/main" id="{DA36CF34-ADEC-41C1-AD7F-53F8DC760E49}"/>
              </a:ext>
            </a:extLst>
          </p:cNvPr>
          <p:cNvSpPr/>
          <p:nvPr/>
        </p:nvSpPr>
        <p:spPr>
          <a:xfrm>
            <a:off x="7208914" y="1072102"/>
            <a:ext cx="920602" cy="893064"/>
          </a:xfrm>
          <a:prstGeom prst="ellipse">
            <a:avLst/>
          </a:prstGeom>
          <a:ln/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3600" dirty="0"/>
              <a:t>2</a:t>
            </a:r>
            <a:endParaRPr lang="zh-CN" altLang="en-US" sz="3600" dirty="0"/>
          </a:p>
        </p:txBody>
      </p:sp>
      <p:sp>
        <p:nvSpPr>
          <p:cNvPr id="19" name="箭头: 燕尾形 18">
            <a:extLst>
              <a:ext uri="{FF2B5EF4-FFF2-40B4-BE49-F238E27FC236}">
                <a16:creationId xmlns:a16="http://schemas.microsoft.com/office/drawing/2014/main" id="{578A4FAE-2BB2-49F4-B098-D4FD5CBFFD29}"/>
              </a:ext>
            </a:extLst>
          </p:cNvPr>
          <p:cNvSpPr/>
          <p:nvPr/>
        </p:nvSpPr>
        <p:spPr>
          <a:xfrm rot="1884620">
            <a:off x="6683437" y="691264"/>
            <a:ext cx="703347" cy="669398"/>
          </a:xfrm>
          <a:prstGeom prst="notchedRightArrow">
            <a:avLst/>
          </a:prstGeom>
          <a:ln/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b="1" dirty="0"/>
              <a:t>a</a:t>
            </a:r>
            <a:endParaRPr lang="zh-CN" altLang="en-US" sz="2400" b="1" dirty="0"/>
          </a:p>
        </p:txBody>
      </p:sp>
      <p:sp>
        <p:nvSpPr>
          <p:cNvPr id="16" name="箭头: 燕尾形 15">
            <a:extLst>
              <a:ext uri="{FF2B5EF4-FFF2-40B4-BE49-F238E27FC236}">
                <a16:creationId xmlns:a16="http://schemas.microsoft.com/office/drawing/2014/main" id="{C11D1BF4-3063-4CC0-9EB4-49E83E6A5F82}"/>
              </a:ext>
            </a:extLst>
          </p:cNvPr>
          <p:cNvSpPr/>
          <p:nvPr/>
        </p:nvSpPr>
        <p:spPr>
          <a:xfrm rot="19420051" flipH="1">
            <a:off x="7976378" y="714081"/>
            <a:ext cx="680136" cy="677216"/>
          </a:xfrm>
          <a:prstGeom prst="notchedRightArrow">
            <a:avLst/>
          </a:prstGeom>
          <a:ln/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b="1" dirty="0"/>
              <a:t>b</a:t>
            </a:r>
            <a:endParaRPr lang="zh-CN" altLang="en-US" sz="2400" b="1" dirty="0"/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33E5D351-D41A-4F77-B1D5-92148FCA4921}"/>
              </a:ext>
            </a:extLst>
          </p:cNvPr>
          <p:cNvSpPr txBox="1"/>
          <p:nvPr/>
        </p:nvSpPr>
        <p:spPr>
          <a:xfrm>
            <a:off x="1403648" y="1264973"/>
            <a:ext cx="94609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dirty="0"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</a:rPr>
              <a:t>a = 2</a:t>
            </a:r>
            <a:endParaRPr lang="zh-CN" altLang="en-US" sz="2400" dirty="0">
              <a:latin typeface="阿里巴巴普惠体 R" panose="00020600040101010101" pitchFamily="18" charset="-122"/>
              <a:ea typeface="阿里巴巴普惠体 R" panose="00020600040101010101" pitchFamily="18" charset="-122"/>
              <a:cs typeface="阿里巴巴普惠体 R" panose="00020600040101010101" pitchFamily="18" charset="-122"/>
            </a:endParaRPr>
          </a:p>
        </p:txBody>
      </p:sp>
      <p:sp>
        <p:nvSpPr>
          <p:cNvPr id="27" name="椭圆 26">
            <a:extLst>
              <a:ext uri="{FF2B5EF4-FFF2-40B4-BE49-F238E27FC236}">
                <a16:creationId xmlns:a16="http://schemas.microsoft.com/office/drawing/2014/main" id="{D33CB8F1-7381-4B8D-AA86-6118D7794084}"/>
              </a:ext>
            </a:extLst>
          </p:cNvPr>
          <p:cNvSpPr/>
          <p:nvPr/>
        </p:nvSpPr>
        <p:spPr>
          <a:xfrm>
            <a:off x="2473696" y="1063750"/>
            <a:ext cx="920602" cy="893064"/>
          </a:xfrm>
          <a:prstGeom prst="ellipse">
            <a:avLst/>
          </a:prstGeom>
          <a:ln/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3600" dirty="0"/>
              <a:t>2</a:t>
            </a:r>
            <a:endParaRPr lang="zh-CN" altLang="en-US" sz="3600" dirty="0"/>
          </a:p>
        </p:txBody>
      </p:sp>
      <p:sp>
        <p:nvSpPr>
          <p:cNvPr id="28" name="箭头: 燕尾形 27">
            <a:extLst>
              <a:ext uri="{FF2B5EF4-FFF2-40B4-BE49-F238E27FC236}">
                <a16:creationId xmlns:a16="http://schemas.microsoft.com/office/drawing/2014/main" id="{9A2E57DA-372E-4337-9E94-20600FC8DE81}"/>
              </a:ext>
            </a:extLst>
          </p:cNvPr>
          <p:cNvSpPr/>
          <p:nvPr/>
        </p:nvSpPr>
        <p:spPr>
          <a:xfrm rot="1884620">
            <a:off x="1948219" y="682912"/>
            <a:ext cx="703347" cy="669398"/>
          </a:xfrm>
          <a:prstGeom prst="notchedRightArrow">
            <a:avLst/>
          </a:prstGeom>
          <a:ln/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b="1" dirty="0"/>
              <a:t>a</a:t>
            </a:r>
            <a:endParaRPr lang="zh-CN" altLang="en-US" sz="2400" b="1" dirty="0"/>
          </a:p>
        </p:txBody>
      </p:sp>
      <p:sp>
        <p:nvSpPr>
          <p:cNvPr id="29" name="椭圆 28">
            <a:extLst>
              <a:ext uri="{FF2B5EF4-FFF2-40B4-BE49-F238E27FC236}">
                <a16:creationId xmlns:a16="http://schemas.microsoft.com/office/drawing/2014/main" id="{F08E2965-B761-4DDB-8B7C-D8782D221595}"/>
              </a:ext>
            </a:extLst>
          </p:cNvPr>
          <p:cNvSpPr/>
          <p:nvPr/>
        </p:nvSpPr>
        <p:spPr>
          <a:xfrm>
            <a:off x="3500294" y="1096818"/>
            <a:ext cx="920602" cy="850202"/>
          </a:xfrm>
          <a:prstGeom prst="ellipse">
            <a:avLst/>
          </a:prstGeom>
          <a:ln/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3600" dirty="0"/>
              <a:t>1</a:t>
            </a:r>
            <a:endParaRPr lang="zh-CN" altLang="en-US" sz="3600" dirty="0"/>
          </a:p>
        </p:txBody>
      </p:sp>
      <p:sp>
        <p:nvSpPr>
          <p:cNvPr id="30" name="箭头: 虚尾 29">
            <a:extLst>
              <a:ext uri="{FF2B5EF4-FFF2-40B4-BE49-F238E27FC236}">
                <a16:creationId xmlns:a16="http://schemas.microsoft.com/office/drawing/2014/main" id="{66CF31FF-ABFA-400A-BF71-11E65CDE2DC5}"/>
              </a:ext>
            </a:extLst>
          </p:cNvPr>
          <p:cNvSpPr/>
          <p:nvPr/>
        </p:nvSpPr>
        <p:spPr>
          <a:xfrm>
            <a:off x="4806738" y="1364222"/>
            <a:ext cx="683979" cy="240082"/>
          </a:xfrm>
          <a:prstGeom prst="stripedRightArrow">
            <a:avLst/>
          </a:prstGeom>
          <a:ln/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662503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/>
    </mc:Choice>
    <mc:Fallback xmlns="">
      <p:transition advClick="0"/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E48A9AC-A243-4B87-975A-FE8091DDEE60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8585626" y="5658563"/>
            <a:ext cx="208814" cy="205743"/>
          </a:xfrm>
          <a:prstGeom prst="rect">
            <a:avLst/>
          </a:prstGeom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</a:bodyPr>
          <a:lstStyle>
            <a:defPPr rtl="0">
              <a:defRPr lang="zh-CN"/>
            </a:defPPr>
            <a:lvl1pPr marL="0" algn="ctr" defTabSz="685800" rtl="0" eaLnBrk="1" latinLnBrk="0" hangingPunct="1">
              <a:defRPr sz="900" i="1" kern="1200">
                <a:solidFill>
                  <a:schemeClr val="bg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19B51A1E-902D-48AF-9020-955120F399B6}" type="slidenum">
              <a:rPr lang="en-ZA" altLang="zh-CN" smtClean="0"/>
              <a:pPr/>
              <a:t>21</a:t>
            </a:fld>
            <a:endParaRPr lang="zh-CN" altLang="en-US" noProof="0" dirty="0"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A5F56049-C7A4-4E2D-9845-D4AE374097B6}"/>
              </a:ext>
            </a:extLst>
          </p:cNvPr>
          <p:cNvSpPr/>
          <p:nvPr/>
        </p:nvSpPr>
        <p:spPr>
          <a:xfrm>
            <a:off x="1759374" y="5264141"/>
            <a:ext cx="7035065" cy="1200329"/>
          </a:xfrm>
          <a:prstGeom prst="rect">
            <a:avLst/>
          </a:prstGeom>
          <a:noFill/>
          <a:ln w="12700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altLang="zh-CN" dirty="0">
                <a:latin typeface="Consolas" panose="020B0609020204030204" pitchFamily="49" charset="0"/>
                <a:ea typeface="阿里巴巴普惠体 R" panose="00020600040101010101" pitchFamily="18" charset="-122"/>
                <a:cs typeface="阿里巴巴普惠体 R" panose="00020600040101010101" pitchFamily="18" charset="-122"/>
              </a:rPr>
              <a:t>id: 140720188347424</a:t>
            </a:r>
          </a:p>
          <a:p>
            <a:r>
              <a:rPr lang="en-US" altLang="zh-CN" dirty="0">
                <a:latin typeface="Consolas" panose="020B0609020204030204" pitchFamily="49" charset="0"/>
                <a:ea typeface="阿里巴巴普惠体 R" panose="00020600040101010101" pitchFamily="18" charset="-122"/>
                <a:cs typeface="阿里巴巴普惠体 R" panose="00020600040101010101" pitchFamily="18" charset="-122"/>
              </a:rPr>
              <a:t>id: 140720188347456</a:t>
            </a:r>
          </a:p>
          <a:p>
            <a:r>
              <a:rPr lang="en-US" altLang="zh-CN" dirty="0">
                <a:latin typeface="Consolas" panose="020B0609020204030204" pitchFamily="49" charset="0"/>
                <a:ea typeface="阿里巴巴普惠体 R" panose="00020600040101010101" pitchFamily="18" charset="-122"/>
                <a:cs typeface="阿里巴巴普惠体 R" panose="00020600040101010101" pitchFamily="18" charset="-122"/>
              </a:rPr>
              <a:t>id of a: 140720188347456 id of b: 140720188347456</a:t>
            </a:r>
          </a:p>
          <a:p>
            <a:r>
              <a:rPr lang="en-US" altLang="zh-CN" dirty="0">
                <a:latin typeface="Consolas" panose="020B0609020204030204" pitchFamily="49" charset="0"/>
                <a:ea typeface="阿里巴巴普惠体 R" panose="00020600040101010101" pitchFamily="18" charset="-122"/>
                <a:cs typeface="阿里巴巴普惠体 R" panose="00020600040101010101" pitchFamily="18" charset="-122"/>
              </a:rPr>
              <a:t>id: 140720188347488</a:t>
            </a:r>
            <a:endParaRPr lang="zh-CN" altLang="en-US" dirty="0">
              <a:latin typeface="Consolas" panose="020B0609020204030204" pitchFamily="49" charset="0"/>
              <a:ea typeface="阿里巴巴普惠体 R" panose="00020600040101010101" pitchFamily="18" charset="-122"/>
              <a:cs typeface="阿里巴巴普惠体 R" panose="00020600040101010101" pitchFamily="18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864A8EFD-9AE5-4869-9CDF-83BD438EB3C2}"/>
              </a:ext>
            </a:extLst>
          </p:cNvPr>
          <p:cNvSpPr/>
          <p:nvPr/>
        </p:nvSpPr>
        <p:spPr>
          <a:xfrm>
            <a:off x="1759375" y="2338336"/>
            <a:ext cx="7035065" cy="2585323"/>
          </a:xfrm>
          <a:prstGeom prst="rect">
            <a:avLst/>
          </a:prstGeom>
          <a:ln w="1905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altLang="zh-CN" dirty="0">
                <a:solidFill>
                  <a:srgbClr val="008000"/>
                </a:solidFill>
                <a:latin typeface="Consolas" panose="020B0609020204030204" pitchFamily="49" charset="0"/>
              </a:rPr>
              <a:t>#a1.py</a:t>
            </a:r>
            <a:endParaRPr lang="en-US" altLang="zh-CN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a = </a:t>
            </a:r>
            <a:r>
              <a:rPr lang="en-US" altLang="zh-CN" dirty="0">
                <a:solidFill>
                  <a:srgbClr val="09885A"/>
                </a:solidFill>
                <a:latin typeface="Consolas" panose="020B0609020204030204" pitchFamily="49" charset="0"/>
              </a:rPr>
              <a:t>1</a:t>
            </a:r>
            <a:endParaRPr lang="en-US" altLang="zh-CN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altLang="zh-CN" dirty="0">
                <a:solidFill>
                  <a:srgbClr val="795E26"/>
                </a:solidFill>
                <a:latin typeface="Consolas" panose="020B0609020204030204" pitchFamily="49" charset="0"/>
              </a:rPr>
              <a:t>print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altLang="zh-CN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en-US" altLang="zh-CN" dirty="0" err="1">
                <a:solidFill>
                  <a:srgbClr val="A31515"/>
                </a:solidFill>
                <a:latin typeface="Consolas" panose="020B0609020204030204" pitchFamily="49" charset="0"/>
              </a:rPr>
              <a:t>id:"</a:t>
            </a:r>
            <a:r>
              <a:rPr lang="en-US" altLang="zh-CN" dirty="0" err="1">
                <a:solidFill>
                  <a:srgbClr val="000000"/>
                </a:solidFill>
                <a:latin typeface="Consolas" panose="020B0609020204030204" pitchFamily="49" charset="0"/>
              </a:rPr>
              <a:t>,</a:t>
            </a:r>
            <a:r>
              <a:rPr lang="en-US" altLang="zh-CN" dirty="0" err="1">
                <a:solidFill>
                  <a:srgbClr val="795E26"/>
                </a:solidFill>
                <a:latin typeface="Consolas" panose="020B0609020204030204" pitchFamily="49" charset="0"/>
              </a:rPr>
              <a:t>id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(a))</a:t>
            </a:r>
          </a:p>
          <a:p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a = </a:t>
            </a:r>
            <a:r>
              <a:rPr lang="en-US" altLang="zh-CN" dirty="0">
                <a:solidFill>
                  <a:srgbClr val="09885A"/>
                </a:solidFill>
                <a:latin typeface="Consolas" panose="020B0609020204030204" pitchFamily="49" charset="0"/>
              </a:rPr>
              <a:t>2</a:t>
            </a:r>
            <a:endParaRPr lang="en-US" altLang="zh-CN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altLang="zh-CN" dirty="0">
                <a:solidFill>
                  <a:srgbClr val="795E26"/>
                </a:solidFill>
                <a:latin typeface="Consolas" panose="020B0609020204030204" pitchFamily="49" charset="0"/>
              </a:rPr>
              <a:t>print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altLang="zh-CN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en-US" altLang="zh-CN" dirty="0" err="1">
                <a:solidFill>
                  <a:srgbClr val="A31515"/>
                </a:solidFill>
                <a:latin typeface="Consolas" panose="020B0609020204030204" pitchFamily="49" charset="0"/>
              </a:rPr>
              <a:t>id:"</a:t>
            </a:r>
            <a:r>
              <a:rPr lang="en-US" altLang="zh-CN" dirty="0" err="1">
                <a:solidFill>
                  <a:srgbClr val="000000"/>
                </a:solidFill>
                <a:latin typeface="Consolas" panose="020B0609020204030204" pitchFamily="49" charset="0"/>
              </a:rPr>
              <a:t>,</a:t>
            </a:r>
            <a:r>
              <a:rPr lang="en-US" altLang="zh-CN" dirty="0" err="1">
                <a:solidFill>
                  <a:srgbClr val="795E26"/>
                </a:solidFill>
                <a:latin typeface="Consolas" panose="020B0609020204030204" pitchFamily="49" charset="0"/>
              </a:rPr>
              <a:t>id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(a))</a:t>
            </a:r>
          </a:p>
          <a:p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b = a</a:t>
            </a:r>
          </a:p>
          <a:p>
            <a:r>
              <a:rPr lang="en-US" altLang="zh-CN" dirty="0">
                <a:solidFill>
                  <a:srgbClr val="795E26"/>
                </a:solidFill>
                <a:latin typeface="Consolas" panose="020B0609020204030204" pitchFamily="49" charset="0"/>
              </a:rPr>
              <a:t>print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altLang="zh-CN" dirty="0">
                <a:solidFill>
                  <a:srgbClr val="A31515"/>
                </a:solidFill>
                <a:latin typeface="Consolas" panose="020B0609020204030204" pitchFamily="49" charset="0"/>
              </a:rPr>
              <a:t>"id of a:"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altLang="zh-CN" dirty="0">
                <a:solidFill>
                  <a:srgbClr val="795E26"/>
                </a:solidFill>
                <a:latin typeface="Consolas" panose="020B0609020204030204" pitchFamily="49" charset="0"/>
              </a:rPr>
              <a:t>id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(a), </a:t>
            </a:r>
            <a:r>
              <a:rPr lang="en-US" altLang="zh-CN" dirty="0">
                <a:solidFill>
                  <a:srgbClr val="A31515"/>
                </a:solidFill>
                <a:latin typeface="Consolas" panose="020B0609020204030204" pitchFamily="49" charset="0"/>
              </a:rPr>
              <a:t>"id of b:"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,</a:t>
            </a:r>
            <a:r>
              <a:rPr lang="en-US" altLang="zh-CN" dirty="0">
                <a:solidFill>
                  <a:srgbClr val="795E26"/>
                </a:solidFill>
                <a:latin typeface="Consolas" panose="020B0609020204030204" pitchFamily="49" charset="0"/>
              </a:rPr>
              <a:t>id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(b))</a:t>
            </a:r>
          </a:p>
          <a:p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a += </a:t>
            </a:r>
            <a:r>
              <a:rPr lang="en-US" altLang="zh-CN" dirty="0">
                <a:solidFill>
                  <a:srgbClr val="09885A"/>
                </a:solidFill>
                <a:latin typeface="Consolas" panose="020B0609020204030204" pitchFamily="49" charset="0"/>
              </a:rPr>
              <a:t>1</a:t>
            </a:r>
            <a:endParaRPr lang="en-US" altLang="zh-CN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altLang="zh-CN" dirty="0">
                <a:solidFill>
                  <a:srgbClr val="795E26"/>
                </a:solidFill>
                <a:latin typeface="Consolas" panose="020B0609020204030204" pitchFamily="49" charset="0"/>
              </a:rPr>
              <a:t>print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altLang="zh-CN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en-US" altLang="zh-CN" dirty="0" err="1">
                <a:solidFill>
                  <a:srgbClr val="A31515"/>
                </a:solidFill>
                <a:latin typeface="Consolas" panose="020B0609020204030204" pitchFamily="49" charset="0"/>
              </a:rPr>
              <a:t>id:"</a:t>
            </a:r>
            <a:r>
              <a:rPr lang="en-US" altLang="zh-CN" dirty="0" err="1">
                <a:solidFill>
                  <a:srgbClr val="000000"/>
                </a:solidFill>
                <a:latin typeface="Consolas" panose="020B0609020204030204" pitchFamily="49" charset="0"/>
              </a:rPr>
              <a:t>,</a:t>
            </a:r>
            <a:r>
              <a:rPr lang="en-US" altLang="zh-CN" dirty="0" err="1">
                <a:solidFill>
                  <a:srgbClr val="795E26"/>
                </a:solidFill>
                <a:latin typeface="Consolas" panose="020B0609020204030204" pitchFamily="49" charset="0"/>
              </a:rPr>
              <a:t>id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(a))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D0035FEF-53FD-41E4-9CC8-B7877A3A204D}"/>
              </a:ext>
            </a:extLst>
          </p:cNvPr>
          <p:cNvSpPr txBox="1"/>
          <p:nvPr/>
        </p:nvSpPr>
        <p:spPr>
          <a:xfrm>
            <a:off x="4558284" y="1248707"/>
            <a:ext cx="117371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dirty="0"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</a:rPr>
              <a:t>a += 1</a:t>
            </a:r>
            <a:endParaRPr lang="zh-CN" altLang="en-US" sz="2400" dirty="0">
              <a:latin typeface="阿里巴巴普惠体 R" panose="00020600040101010101" pitchFamily="18" charset="-122"/>
              <a:ea typeface="阿里巴巴普惠体 R" panose="00020600040101010101" pitchFamily="18" charset="-122"/>
              <a:cs typeface="阿里巴巴普惠体 R" panose="00020600040101010101" pitchFamily="18" charset="-122"/>
            </a:endParaRPr>
          </a:p>
        </p:txBody>
      </p:sp>
      <p:sp>
        <p:nvSpPr>
          <p:cNvPr id="18" name="椭圆 17">
            <a:extLst>
              <a:ext uri="{FF2B5EF4-FFF2-40B4-BE49-F238E27FC236}">
                <a16:creationId xmlns:a16="http://schemas.microsoft.com/office/drawing/2014/main" id="{DA36CF34-ADEC-41C1-AD7F-53F8DC760E49}"/>
              </a:ext>
            </a:extLst>
          </p:cNvPr>
          <p:cNvSpPr/>
          <p:nvPr/>
        </p:nvSpPr>
        <p:spPr>
          <a:xfrm>
            <a:off x="5542533" y="1145905"/>
            <a:ext cx="920602" cy="893064"/>
          </a:xfrm>
          <a:prstGeom prst="ellipse">
            <a:avLst/>
          </a:prstGeom>
          <a:ln/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3600" dirty="0"/>
              <a:t>2</a:t>
            </a:r>
            <a:endParaRPr lang="zh-CN" altLang="en-US" sz="3600" dirty="0"/>
          </a:p>
        </p:txBody>
      </p:sp>
      <p:sp>
        <p:nvSpPr>
          <p:cNvPr id="19" name="箭头: 燕尾形 18">
            <a:extLst>
              <a:ext uri="{FF2B5EF4-FFF2-40B4-BE49-F238E27FC236}">
                <a16:creationId xmlns:a16="http://schemas.microsoft.com/office/drawing/2014/main" id="{578A4FAE-2BB2-49F4-B098-D4FD5CBFFD29}"/>
              </a:ext>
            </a:extLst>
          </p:cNvPr>
          <p:cNvSpPr/>
          <p:nvPr/>
        </p:nvSpPr>
        <p:spPr>
          <a:xfrm rot="1884620">
            <a:off x="7129827" y="757299"/>
            <a:ext cx="703347" cy="669398"/>
          </a:xfrm>
          <a:prstGeom prst="notchedRightArrow">
            <a:avLst/>
          </a:prstGeom>
          <a:ln/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b="1" dirty="0"/>
              <a:t>a</a:t>
            </a:r>
            <a:endParaRPr lang="zh-CN" altLang="en-US" sz="2400" b="1" dirty="0"/>
          </a:p>
        </p:txBody>
      </p:sp>
      <p:sp>
        <p:nvSpPr>
          <p:cNvPr id="16" name="箭头: 燕尾形 15">
            <a:extLst>
              <a:ext uri="{FF2B5EF4-FFF2-40B4-BE49-F238E27FC236}">
                <a16:creationId xmlns:a16="http://schemas.microsoft.com/office/drawing/2014/main" id="{C11D1BF4-3063-4CC0-9EB4-49E83E6A5F82}"/>
              </a:ext>
            </a:extLst>
          </p:cNvPr>
          <p:cNvSpPr/>
          <p:nvPr/>
        </p:nvSpPr>
        <p:spPr>
          <a:xfrm rot="19420051" flipH="1">
            <a:off x="6309996" y="787884"/>
            <a:ext cx="680136" cy="677216"/>
          </a:xfrm>
          <a:prstGeom prst="notchedRightArrow">
            <a:avLst/>
          </a:prstGeom>
          <a:ln/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b="1" dirty="0"/>
              <a:t>b</a:t>
            </a:r>
            <a:endParaRPr lang="zh-CN" altLang="en-US" sz="2400" b="1" dirty="0"/>
          </a:p>
        </p:txBody>
      </p:sp>
      <p:sp>
        <p:nvSpPr>
          <p:cNvPr id="17" name="椭圆 16">
            <a:extLst>
              <a:ext uri="{FF2B5EF4-FFF2-40B4-BE49-F238E27FC236}">
                <a16:creationId xmlns:a16="http://schemas.microsoft.com/office/drawing/2014/main" id="{4D74EF32-79A2-4061-9DF4-9E4C91C922E4}"/>
              </a:ext>
            </a:extLst>
          </p:cNvPr>
          <p:cNvSpPr/>
          <p:nvPr/>
        </p:nvSpPr>
        <p:spPr>
          <a:xfrm>
            <a:off x="7655304" y="1145905"/>
            <a:ext cx="949144" cy="893064"/>
          </a:xfrm>
          <a:prstGeom prst="ellipse">
            <a:avLst/>
          </a:prstGeom>
          <a:ln/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3600" dirty="0"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</a:rPr>
              <a:t>3</a:t>
            </a:r>
            <a:endParaRPr lang="zh-CN" altLang="en-US" sz="3600" dirty="0">
              <a:latin typeface="阿里巴巴普惠体 R" panose="00020600040101010101" pitchFamily="18" charset="-122"/>
              <a:ea typeface="阿里巴巴普惠体 R" panose="00020600040101010101" pitchFamily="18" charset="-122"/>
              <a:cs typeface="阿里巴巴普惠体 R" panose="00020600040101010101" pitchFamily="18" charset="-122"/>
            </a:endParaRP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090EE42C-2102-4E11-8DBA-65FF616B51DC}"/>
              </a:ext>
            </a:extLst>
          </p:cNvPr>
          <p:cNvSpPr txBox="1"/>
          <p:nvPr/>
        </p:nvSpPr>
        <p:spPr>
          <a:xfrm>
            <a:off x="1368018" y="1206026"/>
            <a:ext cx="96212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dirty="0"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</a:rPr>
              <a:t>b = a</a:t>
            </a:r>
            <a:endParaRPr lang="zh-CN" altLang="en-US" sz="2400" dirty="0">
              <a:latin typeface="阿里巴巴普惠体 R" panose="00020600040101010101" pitchFamily="18" charset="-122"/>
              <a:ea typeface="阿里巴巴普惠体 R" panose="00020600040101010101" pitchFamily="18" charset="-122"/>
              <a:cs typeface="阿里巴巴普惠体 R" panose="00020600040101010101" pitchFamily="18" charset="-122"/>
            </a:endParaRPr>
          </a:p>
        </p:txBody>
      </p:sp>
      <p:sp>
        <p:nvSpPr>
          <p:cNvPr id="24" name="椭圆 23">
            <a:extLst>
              <a:ext uri="{FF2B5EF4-FFF2-40B4-BE49-F238E27FC236}">
                <a16:creationId xmlns:a16="http://schemas.microsoft.com/office/drawing/2014/main" id="{2841AD4D-8971-4B21-ADBE-10CE537ABF43}"/>
              </a:ext>
            </a:extLst>
          </p:cNvPr>
          <p:cNvSpPr/>
          <p:nvPr/>
        </p:nvSpPr>
        <p:spPr>
          <a:xfrm>
            <a:off x="2536839" y="1135758"/>
            <a:ext cx="920602" cy="893064"/>
          </a:xfrm>
          <a:prstGeom prst="ellipse">
            <a:avLst/>
          </a:prstGeom>
          <a:ln/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3600" dirty="0"/>
              <a:t>2</a:t>
            </a:r>
            <a:endParaRPr lang="zh-CN" altLang="en-US" sz="3600" dirty="0"/>
          </a:p>
        </p:txBody>
      </p:sp>
      <p:sp>
        <p:nvSpPr>
          <p:cNvPr id="25" name="箭头: 燕尾形 24">
            <a:extLst>
              <a:ext uri="{FF2B5EF4-FFF2-40B4-BE49-F238E27FC236}">
                <a16:creationId xmlns:a16="http://schemas.microsoft.com/office/drawing/2014/main" id="{80062914-F846-4599-A222-33EE7F9AECA6}"/>
              </a:ext>
            </a:extLst>
          </p:cNvPr>
          <p:cNvSpPr/>
          <p:nvPr/>
        </p:nvSpPr>
        <p:spPr>
          <a:xfrm rot="1884620">
            <a:off x="2011362" y="754920"/>
            <a:ext cx="703347" cy="669398"/>
          </a:xfrm>
          <a:prstGeom prst="notchedRightArrow">
            <a:avLst/>
          </a:prstGeom>
          <a:ln/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b="1" dirty="0"/>
              <a:t>a</a:t>
            </a:r>
            <a:endParaRPr lang="zh-CN" altLang="en-US" sz="2400" b="1" dirty="0"/>
          </a:p>
        </p:txBody>
      </p:sp>
      <p:sp>
        <p:nvSpPr>
          <p:cNvPr id="26" name="箭头: 燕尾形 25">
            <a:extLst>
              <a:ext uri="{FF2B5EF4-FFF2-40B4-BE49-F238E27FC236}">
                <a16:creationId xmlns:a16="http://schemas.microsoft.com/office/drawing/2014/main" id="{9AAA25DD-C5B9-4170-ADB8-29DA688C115C}"/>
              </a:ext>
            </a:extLst>
          </p:cNvPr>
          <p:cNvSpPr/>
          <p:nvPr/>
        </p:nvSpPr>
        <p:spPr>
          <a:xfrm rot="19420051" flipH="1">
            <a:off x="3304302" y="777737"/>
            <a:ext cx="680136" cy="677216"/>
          </a:xfrm>
          <a:prstGeom prst="notchedRightArrow">
            <a:avLst/>
          </a:prstGeom>
          <a:ln/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b="1" dirty="0"/>
              <a:t>b</a:t>
            </a:r>
            <a:endParaRPr lang="zh-CN" altLang="en-US" sz="2400" b="1" dirty="0"/>
          </a:p>
        </p:txBody>
      </p:sp>
      <p:sp>
        <p:nvSpPr>
          <p:cNvPr id="27" name="箭头: 虚尾 26">
            <a:extLst>
              <a:ext uri="{FF2B5EF4-FFF2-40B4-BE49-F238E27FC236}">
                <a16:creationId xmlns:a16="http://schemas.microsoft.com/office/drawing/2014/main" id="{0DF3B994-71B9-408B-8E61-477E22D37BDA}"/>
              </a:ext>
            </a:extLst>
          </p:cNvPr>
          <p:cNvSpPr/>
          <p:nvPr/>
        </p:nvSpPr>
        <p:spPr>
          <a:xfrm>
            <a:off x="3983721" y="1373593"/>
            <a:ext cx="371030" cy="240082"/>
          </a:xfrm>
          <a:prstGeom prst="stripedRightArrow">
            <a:avLst/>
          </a:prstGeom>
          <a:ln/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117254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/>
    </mc:Choice>
    <mc:Fallback xmlns="">
      <p:transition advClick="0"/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E48A9AC-A243-4B87-975A-FE8091DDEE60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8585626" y="5658563"/>
            <a:ext cx="208814" cy="205743"/>
          </a:xfrm>
          <a:prstGeom prst="rect">
            <a:avLst/>
          </a:prstGeom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</a:bodyPr>
          <a:lstStyle>
            <a:defPPr rtl="0">
              <a:defRPr lang="zh-CN"/>
            </a:defPPr>
            <a:lvl1pPr marL="0" algn="ctr" defTabSz="685800" rtl="0" eaLnBrk="1" latinLnBrk="0" hangingPunct="1">
              <a:defRPr sz="900" i="1" kern="1200">
                <a:solidFill>
                  <a:schemeClr val="bg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19B51A1E-902D-48AF-9020-955120F399B6}" type="slidenum">
              <a:rPr lang="en-ZA" altLang="zh-CN" smtClean="0"/>
              <a:pPr/>
              <a:t>22</a:t>
            </a:fld>
            <a:endParaRPr lang="zh-CN" altLang="en-US" noProof="0" dirty="0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C1369C35-DEE7-4C64-85F6-3BEEA7C2F50E}"/>
              </a:ext>
            </a:extLst>
          </p:cNvPr>
          <p:cNvSpPr/>
          <p:nvPr/>
        </p:nvSpPr>
        <p:spPr>
          <a:xfrm>
            <a:off x="1678833" y="512100"/>
            <a:ext cx="2603897" cy="391121"/>
          </a:xfrm>
          <a:prstGeom prst="rect">
            <a:avLst/>
          </a:prstGeom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dirty="0"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</a:rPr>
              <a:t>名字、对象及绑定</a:t>
            </a:r>
          </a:p>
        </p:txBody>
      </p:sp>
      <p:sp>
        <p:nvSpPr>
          <p:cNvPr id="28" name="椭圆 27">
            <a:extLst>
              <a:ext uri="{FF2B5EF4-FFF2-40B4-BE49-F238E27FC236}">
                <a16:creationId xmlns:a16="http://schemas.microsoft.com/office/drawing/2014/main" id="{82A3A89F-8B52-49C8-A41E-A4EA5BC916B0}"/>
              </a:ext>
            </a:extLst>
          </p:cNvPr>
          <p:cNvSpPr/>
          <p:nvPr/>
        </p:nvSpPr>
        <p:spPr>
          <a:xfrm>
            <a:off x="1425413" y="2553146"/>
            <a:ext cx="727910" cy="684434"/>
          </a:xfrm>
          <a:prstGeom prst="ellipse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3600" dirty="0"/>
              <a:t>1</a:t>
            </a:r>
            <a:endParaRPr lang="zh-CN" altLang="en-US" sz="3600" dirty="0"/>
          </a:p>
        </p:txBody>
      </p:sp>
      <p:sp>
        <p:nvSpPr>
          <p:cNvPr id="29" name="箭头: 燕尾形 28">
            <a:extLst>
              <a:ext uri="{FF2B5EF4-FFF2-40B4-BE49-F238E27FC236}">
                <a16:creationId xmlns:a16="http://schemas.microsoft.com/office/drawing/2014/main" id="{A57CCBC2-E4EB-4A04-AB29-DAA481A1F849}"/>
              </a:ext>
            </a:extLst>
          </p:cNvPr>
          <p:cNvSpPr/>
          <p:nvPr/>
        </p:nvSpPr>
        <p:spPr>
          <a:xfrm rot="1884620">
            <a:off x="699835" y="2053567"/>
            <a:ext cx="932306" cy="646202"/>
          </a:xfrm>
          <a:prstGeom prst="notchedRightArrow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2400" b="1" dirty="0"/>
              <a:t>a</a:t>
            </a:r>
            <a:endParaRPr lang="zh-CN" altLang="en-US" sz="2400" b="1" dirty="0"/>
          </a:p>
        </p:txBody>
      </p:sp>
      <p:cxnSp>
        <p:nvCxnSpPr>
          <p:cNvPr id="30" name="直接箭头连接符 29">
            <a:extLst>
              <a:ext uri="{FF2B5EF4-FFF2-40B4-BE49-F238E27FC236}">
                <a16:creationId xmlns:a16="http://schemas.microsoft.com/office/drawing/2014/main" id="{53BD2B19-8429-43CE-8B7D-A530FF31D929}"/>
              </a:ext>
            </a:extLst>
          </p:cNvPr>
          <p:cNvCxnSpPr>
            <a:cxnSpLocks/>
          </p:cNvCxnSpPr>
          <p:nvPr/>
        </p:nvCxnSpPr>
        <p:spPr>
          <a:xfrm flipV="1">
            <a:off x="1789368" y="3295972"/>
            <a:ext cx="0" cy="1089803"/>
          </a:xfrm>
          <a:prstGeom prst="straightConnector1">
            <a:avLst/>
          </a:prstGeom>
          <a:ln>
            <a:headEnd type="oval" w="med" len="med"/>
            <a:tailEnd type="triangl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31" name="文本框 30">
            <a:extLst>
              <a:ext uri="{FF2B5EF4-FFF2-40B4-BE49-F238E27FC236}">
                <a16:creationId xmlns:a16="http://schemas.microsoft.com/office/drawing/2014/main" id="{EB67153C-609D-4A3F-ADE6-005551234045}"/>
              </a:ext>
            </a:extLst>
          </p:cNvPr>
          <p:cNvSpPr txBox="1"/>
          <p:nvPr/>
        </p:nvSpPr>
        <p:spPr>
          <a:xfrm>
            <a:off x="1425414" y="4514253"/>
            <a:ext cx="853119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100" dirty="0"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</a:rPr>
              <a:t>a = 1</a:t>
            </a:r>
            <a:endParaRPr lang="zh-CN" altLang="en-US" sz="2100" dirty="0">
              <a:latin typeface="阿里巴巴普惠体 R" panose="00020600040101010101" pitchFamily="18" charset="-122"/>
              <a:ea typeface="阿里巴巴普惠体 R" panose="00020600040101010101" pitchFamily="18" charset="-122"/>
              <a:cs typeface="阿里巴巴普惠体 R" panose="00020600040101010101" pitchFamily="18" charset="-122"/>
            </a:endParaRPr>
          </a:p>
        </p:txBody>
      </p:sp>
      <p:cxnSp>
        <p:nvCxnSpPr>
          <p:cNvPr id="32" name="直接箭头连接符 31">
            <a:extLst>
              <a:ext uri="{FF2B5EF4-FFF2-40B4-BE49-F238E27FC236}">
                <a16:creationId xmlns:a16="http://schemas.microsoft.com/office/drawing/2014/main" id="{2DE2BFDD-0693-4BBB-AB1B-E973897CEDBD}"/>
              </a:ext>
            </a:extLst>
          </p:cNvPr>
          <p:cNvCxnSpPr/>
          <p:nvPr/>
        </p:nvCxnSpPr>
        <p:spPr>
          <a:xfrm>
            <a:off x="2276970" y="2895362"/>
            <a:ext cx="950768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33" name="文本框 32">
            <a:extLst>
              <a:ext uri="{FF2B5EF4-FFF2-40B4-BE49-F238E27FC236}">
                <a16:creationId xmlns:a16="http://schemas.microsoft.com/office/drawing/2014/main" id="{B683469C-08F0-492F-B5CA-6E600D81683A}"/>
              </a:ext>
            </a:extLst>
          </p:cNvPr>
          <p:cNvSpPr txBox="1"/>
          <p:nvPr/>
        </p:nvSpPr>
        <p:spPr>
          <a:xfrm>
            <a:off x="2378934" y="2502947"/>
            <a:ext cx="853119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100" dirty="0"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</a:rPr>
              <a:t>a = 2</a:t>
            </a:r>
            <a:endParaRPr lang="zh-CN" altLang="en-US" sz="2100" dirty="0">
              <a:latin typeface="阿里巴巴普惠体 R" panose="00020600040101010101" pitchFamily="18" charset="-122"/>
              <a:ea typeface="阿里巴巴普惠体 R" panose="00020600040101010101" pitchFamily="18" charset="-122"/>
              <a:cs typeface="阿里巴巴普惠体 R" panose="00020600040101010101" pitchFamily="18" charset="-122"/>
            </a:endParaRPr>
          </a:p>
        </p:txBody>
      </p:sp>
      <p:sp>
        <p:nvSpPr>
          <p:cNvPr id="34" name="椭圆 33">
            <a:extLst>
              <a:ext uri="{FF2B5EF4-FFF2-40B4-BE49-F238E27FC236}">
                <a16:creationId xmlns:a16="http://schemas.microsoft.com/office/drawing/2014/main" id="{9C5BA636-27AF-4F8E-9D8B-888077D662DA}"/>
              </a:ext>
            </a:extLst>
          </p:cNvPr>
          <p:cNvSpPr/>
          <p:nvPr/>
        </p:nvSpPr>
        <p:spPr>
          <a:xfrm>
            <a:off x="3743530" y="2575831"/>
            <a:ext cx="727910" cy="684434"/>
          </a:xfrm>
          <a:prstGeom prst="ellipse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3600" dirty="0"/>
              <a:t>2</a:t>
            </a:r>
            <a:endParaRPr lang="zh-CN" altLang="en-US" sz="3600" dirty="0"/>
          </a:p>
        </p:txBody>
      </p:sp>
      <p:sp>
        <p:nvSpPr>
          <p:cNvPr id="35" name="箭头: 燕尾形 34">
            <a:extLst>
              <a:ext uri="{FF2B5EF4-FFF2-40B4-BE49-F238E27FC236}">
                <a16:creationId xmlns:a16="http://schemas.microsoft.com/office/drawing/2014/main" id="{6837AB1A-9E3B-483C-9878-0DFCB4FB58A3}"/>
              </a:ext>
            </a:extLst>
          </p:cNvPr>
          <p:cNvSpPr/>
          <p:nvPr/>
        </p:nvSpPr>
        <p:spPr>
          <a:xfrm rot="1884620">
            <a:off x="3017952" y="2076251"/>
            <a:ext cx="932306" cy="646202"/>
          </a:xfrm>
          <a:prstGeom prst="notchedRightArrow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2400" b="1" dirty="0"/>
              <a:t>a</a:t>
            </a:r>
            <a:endParaRPr lang="zh-CN" altLang="en-US" sz="2400" b="1" dirty="0"/>
          </a:p>
        </p:txBody>
      </p:sp>
      <p:sp>
        <p:nvSpPr>
          <p:cNvPr id="36" name="椭圆 35">
            <a:extLst>
              <a:ext uri="{FF2B5EF4-FFF2-40B4-BE49-F238E27FC236}">
                <a16:creationId xmlns:a16="http://schemas.microsoft.com/office/drawing/2014/main" id="{09E1E1AF-2F2B-4C25-AF14-6238FB86D230}"/>
              </a:ext>
            </a:extLst>
          </p:cNvPr>
          <p:cNvSpPr/>
          <p:nvPr/>
        </p:nvSpPr>
        <p:spPr>
          <a:xfrm>
            <a:off x="4569185" y="2575831"/>
            <a:ext cx="727910" cy="684434"/>
          </a:xfrm>
          <a:prstGeom prst="ellipse">
            <a:avLst/>
          </a:prstGeom>
          <a:ln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3600" dirty="0"/>
              <a:t>1</a:t>
            </a:r>
            <a:endParaRPr lang="zh-CN" altLang="en-US" sz="3600" dirty="0"/>
          </a:p>
        </p:txBody>
      </p:sp>
      <p:cxnSp>
        <p:nvCxnSpPr>
          <p:cNvPr id="37" name="直接箭头连接符 36">
            <a:extLst>
              <a:ext uri="{FF2B5EF4-FFF2-40B4-BE49-F238E27FC236}">
                <a16:creationId xmlns:a16="http://schemas.microsoft.com/office/drawing/2014/main" id="{A9001B99-87E6-4B5B-A347-E58F3D60FED7}"/>
              </a:ext>
            </a:extLst>
          </p:cNvPr>
          <p:cNvCxnSpPr/>
          <p:nvPr/>
        </p:nvCxnSpPr>
        <p:spPr>
          <a:xfrm>
            <a:off x="5580954" y="2918048"/>
            <a:ext cx="950768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38" name="文本框 37">
            <a:extLst>
              <a:ext uri="{FF2B5EF4-FFF2-40B4-BE49-F238E27FC236}">
                <a16:creationId xmlns:a16="http://schemas.microsoft.com/office/drawing/2014/main" id="{DA823F3D-3C1F-484F-BA49-2A7469CA3AEA}"/>
              </a:ext>
            </a:extLst>
          </p:cNvPr>
          <p:cNvSpPr txBox="1"/>
          <p:nvPr/>
        </p:nvSpPr>
        <p:spPr>
          <a:xfrm>
            <a:off x="5682918" y="2525632"/>
            <a:ext cx="865943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100" dirty="0"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</a:rPr>
              <a:t>b = a</a:t>
            </a:r>
            <a:endParaRPr lang="zh-CN" altLang="en-US" sz="2100" dirty="0">
              <a:latin typeface="阿里巴巴普惠体 R" panose="00020600040101010101" pitchFamily="18" charset="-122"/>
              <a:ea typeface="阿里巴巴普惠体 R" panose="00020600040101010101" pitchFamily="18" charset="-122"/>
              <a:cs typeface="阿里巴巴普惠体 R" panose="00020600040101010101" pitchFamily="18" charset="-122"/>
            </a:endParaRPr>
          </a:p>
        </p:txBody>
      </p:sp>
      <p:sp>
        <p:nvSpPr>
          <p:cNvPr id="39" name="椭圆 38">
            <a:extLst>
              <a:ext uri="{FF2B5EF4-FFF2-40B4-BE49-F238E27FC236}">
                <a16:creationId xmlns:a16="http://schemas.microsoft.com/office/drawing/2014/main" id="{B511FBA4-7CDF-4CF9-8B37-E3C2C3012530}"/>
              </a:ext>
            </a:extLst>
          </p:cNvPr>
          <p:cNvSpPr/>
          <p:nvPr/>
        </p:nvSpPr>
        <p:spPr>
          <a:xfrm>
            <a:off x="7085011" y="2611538"/>
            <a:ext cx="727910" cy="684434"/>
          </a:xfrm>
          <a:prstGeom prst="ellipse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3600" dirty="0"/>
              <a:t>2</a:t>
            </a:r>
            <a:endParaRPr lang="zh-CN" altLang="en-US" sz="3600" dirty="0"/>
          </a:p>
        </p:txBody>
      </p:sp>
      <p:sp>
        <p:nvSpPr>
          <p:cNvPr id="40" name="箭头: 燕尾形 39">
            <a:extLst>
              <a:ext uri="{FF2B5EF4-FFF2-40B4-BE49-F238E27FC236}">
                <a16:creationId xmlns:a16="http://schemas.microsoft.com/office/drawing/2014/main" id="{0DFFB702-101E-4D17-B430-7FBD7D30A8DA}"/>
              </a:ext>
            </a:extLst>
          </p:cNvPr>
          <p:cNvSpPr/>
          <p:nvPr/>
        </p:nvSpPr>
        <p:spPr>
          <a:xfrm rot="1884620">
            <a:off x="6359434" y="2111959"/>
            <a:ext cx="932306" cy="646202"/>
          </a:xfrm>
          <a:prstGeom prst="notchedRightArrow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2400" b="1" dirty="0"/>
              <a:t>a</a:t>
            </a:r>
            <a:endParaRPr lang="zh-CN" altLang="en-US" sz="2400" b="1" dirty="0"/>
          </a:p>
        </p:txBody>
      </p:sp>
      <p:sp>
        <p:nvSpPr>
          <p:cNvPr id="41" name="箭头: 燕尾形 40">
            <a:extLst>
              <a:ext uri="{FF2B5EF4-FFF2-40B4-BE49-F238E27FC236}">
                <a16:creationId xmlns:a16="http://schemas.microsoft.com/office/drawing/2014/main" id="{5576E4DC-8DBD-4960-9370-D37BFA77944F}"/>
              </a:ext>
            </a:extLst>
          </p:cNvPr>
          <p:cNvSpPr/>
          <p:nvPr/>
        </p:nvSpPr>
        <p:spPr>
          <a:xfrm rot="8212277" flipV="1">
            <a:off x="7565290" y="2060110"/>
            <a:ext cx="932306" cy="633113"/>
          </a:xfrm>
          <a:prstGeom prst="notchedRightArrow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2400" b="1" dirty="0"/>
              <a:t>b</a:t>
            </a:r>
            <a:endParaRPr lang="zh-CN" altLang="en-US" sz="2400" b="1" dirty="0"/>
          </a:p>
        </p:txBody>
      </p:sp>
      <p:cxnSp>
        <p:nvCxnSpPr>
          <p:cNvPr id="42" name="直接箭头连接符 41">
            <a:extLst>
              <a:ext uri="{FF2B5EF4-FFF2-40B4-BE49-F238E27FC236}">
                <a16:creationId xmlns:a16="http://schemas.microsoft.com/office/drawing/2014/main" id="{414CA729-E921-40CF-9140-FDDB9AE931CB}"/>
              </a:ext>
            </a:extLst>
          </p:cNvPr>
          <p:cNvCxnSpPr>
            <a:cxnSpLocks/>
          </p:cNvCxnSpPr>
          <p:nvPr/>
        </p:nvCxnSpPr>
        <p:spPr>
          <a:xfrm flipH="1">
            <a:off x="6942488" y="3367465"/>
            <a:ext cx="532337" cy="101831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43" name="文本框 42">
            <a:extLst>
              <a:ext uri="{FF2B5EF4-FFF2-40B4-BE49-F238E27FC236}">
                <a16:creationId xmlns:a16="http://schemas.microsoft.com/office/drawing/2014/main" id="{7929876E-0666-45C4-B142-426D8EA5ADE6}"/>
              </a:ext>
            </a:extLst>
          </p:cNvPr>
          <p:cNvSpPr txBox="1"/>
          <p:nvPr/>
        </p:nvSpPr>
        <p:spPr>
          <a:xfrm>
            <a:off x="6312738" y="3475136"/>
            <a:ext cx="1053494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100" dirty="0"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</a:rPr>
              <a:t>a += 1</a:t>
            </a:r>
            <a:endParaRPr lang="zh-CN" altLang="en-US" sz="2100" dirty="0">
              <a:latin typeface="阿里巴巴普惠体 R" panose="00020600040101010101" pitchFamily="18" charset="-122"/>
              <a:ea typeface="阿里巴巴普惠体 R" panose="00020600040101010101" pitchFamily="18" charset="-122"/>
              <a:cs typeface="阿里巴巴普惠体 R" panose="00020600040101010101" pitchFamily="18" charset="-122"/>
            </a:endParaRPr>
          </a:p>
        </p:txBody>
      </p:sp>
      <p:sp>
        <p:nvSpPr>
          <p:cNvPr id="44" name="椭圆 43">
            <a:extLst>
              <a:ext uri="{FF2B5EF4-FFF2-40B4-BE49-F238E27FC236}">
                <a16:creationId xmlns:a16="http://schemas.microsoft.com/office/drawing/2014/main" id="{4300A04B-8274-46B6-8E58-E469D41288C8}"/>
              </a:ext>
            </a:extLst>
          </p:cNvPr>
          <p:cNvSpPr/>
          <p:nvPr/>
        </p:nvSpPr>
        <p:spPr>
          <a:xfrm>
            <a:off x="6262235" y="4591830"/>
            <a:ext cx="727910" cy="684434"/>
          </a:xfrm>
          <a:prstGeom prst="ellipse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3600" dirty="0"/>
              <a:t>2</a:t>
            </a:r>
            <a:endParaRPr lang="zh-CN" altLang="en-US" sz="3600" dirty="0"/>
          </a:p>
        </p:txBody>
      </p:sp>
      <p:sp>
        <p:nvSpPr>
          <p:cNvPr id="45" name="箭头: 燕尾形 44">
            <a:extLst>
              <a:ext uri="{FF2B5EF4-FFF2-40B4-BE49-F238E27FC236}">
                <a16:creationId xmlns:a16="http://schemas.microsoft.com/office/drawing/2014/main" id="{34F685EB-4574-4585-B5CF-F058CFBCAD44}"/>
              </a:ext>
            </a:extLst>
          </p:cNvPr>
          <p:cNvSpPr/>
          <p:nvPr/>
        </p:nvSpPr>
        <p:spPr>
          <a:xfrm rot="2468872">
            <a:off x="4957342" y="3953975"/>
            <a:ext cx="932306" cy="646202"/>
          </a:xfrm>
          <a:prstGeom prst="notchedRightArrow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2400" b="1" dirty="0"/>
              <a:t>a</a:t>
            </a:r>
            <a:endParaRPr lang="zh-CN" altLang="en-US" sz="2400" b="1" dirty="0"/>
          </a:p>
        </p:txBody>
      </p:sp>
      <p:sp>
        <p:nvSpPr>
          <p:cNvPr id="46" name="椭圆 45">
            <a:extLst>
              <a:ext uri="{FF2B5EF4-FFF2-40B4-BE49-F238E27FC236}">
                <a16:creationId xmlns:a16="http://schemas.microsoft.com/office/drawing/2014/main" id="{ADBA8F80-A4A0-4DEA-83C6-314AFD51A867}"/>
              </a:ext>
            </a:extLst>
          </p:cNvPr>
          <p:cNvSpPr/>
          <p:nvPr/>
        </p:nvSpPr>
        <p:spPr>
          <a:xfrm>
            <a:off x="5436730" y="4591830"/>
            <a:ext cx="727910" cy="684434"/>
          </a:xfrm>
          <a:prstGeom prst="ellipse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3600" dirty="0"/>
              <a:t>3</a:t>
            </a:r>
            <a:endParaRPr lang="zh-CN" altLang="en-US" sz="3600" dirty="0"/>
          </a:p>
        </p:txBody>
      </p:sp>
      <p:sp>
        <p:nvSpPr>
          <p:cNvPr id="47" name="箭头: 燕尾形 46">
            <a:extLst>
              <a:ext uri="{FF2B5EF4-FFF2-40B4-BE49-F238E27FC236}">
                <a16:creationId xmlns:a16="http://schemas.microsoft.com/office/drawing/2014/main" id="{842688EC-2C3D-4FAE-B542-7BD23D82A211}"/>
              </a:ext>
            </a:extLst>
          </p:cNvPr>
          <p:cNvSpPr/>
          <p:nvPr/>
        </p:nvSpPr>
        <p:spPr>
          <a:xfrm rot="2599612">
            <a:off x="5793203" y="3938845"/>
            <a:ext cx="932306" cy="646202"/>
          </a:xfrm>
          <a:prstGeom prst="notchedRightArrow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2400" b="1" dirty="0"/>
              <a:t>b</a:t>
            </a:r>
            <a:endParaRPr lang="zh-CN" altLang="en-US" sz="2400" b="1" dirty="0"/>
          </a:p>
        </p:txBody>
      </p:sp>
    </p:spTree>
    <p:extLst>
      <p:ext uri="{BB962C8B-B14F-4D97-AF65-F5344CB8AC3E}">
        <p14:creationId xmlns:p14="http://schemas.microsoft.com/office/powerpoint/2010/main" val="40611945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/>
    </mc:Choice>
    <mc:Fallback xmlns="">
      <p:transition advClick="0"/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E48A9AC-A243-4B87-975A-FE8091DDEE60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8585626" y="5658563"/>
            <a:ext cx="208814" cy="205743"/>
          </a:xfrm>
          <a:prstGeom prst="rect">
            <a:avLst/>
          </a:prstGeom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</a:bodyPr>
          <a:lstStyle>
            <a:defPPr rtl="0">
              <a:defRPr lang="zh-CN"/>
            </a:defPPr>
            <a:lvl1pPr marL="0" algn="ctr" defTabSz="685800" rtl="0" eaLnBrk="1" latinLnBrk="0" hangingPunct="1">
              <a:defRPr sz="900" i="1" kern="1200">
                <a:solidFill>
                  <a:schemeClr val="bg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19B51A1E-902D-48AF-9020-955120F399B6}" type="slidenum">
              <a:rPr lang="en-ZA" altLang="zh-CN" smtClean="0"/>
              <a:pPr/>
              <a:t>23</a:t>
            </a:fld>
            <a:endParaRPr lang="zh-CN" altLang="en-US" noProof="0" dirty="0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C1369C35-DEE7-4C64-85F6-3BEEA7C2F50E}"/>
              </a:ext>
            </a:extLst>
          </p:cNvPr>
          <p:cNvSpPr/>
          <p:nvPr/>
        </p:nvSpPr>
        <p:spPr>
          <a:xfrm>
            <a:off x="1763688" y="211443"/>
            <a:ext cx="6473353" cy="890469"/>
          </a:xfrm>
          <a:prstGeom prst="rect">
            <a:avLst/>
          </a:prstGeom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dirty="0"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</a:rPr>
              <a:t>名字、对象及绑定 </a:t>
            </a:r>
            <a:r>
              <a:rPr lang="en-US" altLang="zh-CN" dirty="0"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</a:rPr>
              <a:t>– </a:t>
            </a:r>
            <a:r>
              <a:rPr lang="zh-CN" altLang="en-US" dirty="0"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</a:rPr>
              <a:t>解释器优化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A5F56049-C7A4-4E2D-9845-D4AE374097B6}"/>
              </a:ext>
            </a:extLst>
          </p:cNvPr>
          <p:cNvSpPr/>
          <p:nvPr/>
        </p:nvSpPr>
        <p:spPr>
          <a:xfrm>
            <a:off x="1756535" y="3724843"/>
            <a:ext cx="7035065" cy="646331"/>
          </a:xfrm>
          <a:prstGeom prst="rect">
            <a:avLst/>
          </a:prstGeom>
          <a:noFill/>
          <a:ln w="12700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altLang="zh-CN" dirty="0">
                <a:latin typeface="Consolas" panose="020B0609020204030204" pitchFamily="49" charset="0"/>
                <a:ea typeface="阿里巴巴普惠体 R" panose="00020600040101010101" pitchFamily="18" charset="-122"/>
                <a:cs typeface="阿里巴巴普惠体 R" panose="00020600040101010101" pitchFamily="18" charset="-122"/>
              </a:rPr>
              <a:t>3 3</a:t>
            </a:r>
          </a:p>
          <a:p>
            <a:r>
              <a:rPr lang="en-US" altLang="zh-CN" dirty="0">
                <a:latin typeface="Consolas" panose="020B0609020204030204" pitchFamily="49" charset="0"/>
                <a:ea typeface="阿里巴巴普惠体 R" panose="00020600040101010101" pitchFamily="18" charset="-122"/>
                <a:cs typeface="阿里巴巴普惠体 R" panose="00020600040101010101" pitchFamily="18" charset="-122"/>
              </a:rPr>
              <a:t>140720185398368 140720185398368</a:t>
            </a:r>
            <a:endParaRPr lang="zh-CN" altLang="en-US" dirty="0">
              <a:latin typeface="Consolas" panose="020B0609020204030204" pitchFamily="49" charset="0"/>
              <a:ea typeface="阿里巴巴普惠体 R" panose="00020600040101010101" pitchFamily="18" charset="-122"/>
              <a:cs typeface="阿里巴巴普惠体 R" panose="00020600040101010101" pitchFamily="18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C0952F02-C11A-466E-A15A-4DE17E721184}"/>
              </a:ext>
            </a:extLst>
          </p:cNvPr>
          <p:cNvSpPr/>
          <p:nvPr/>
        </p:nvSpPr>
        <p:spPr>
          <a:xfrm>
            <a:off x="1681136" y="1852814"/>
            <a:ext cx="7035065" cy="1477328"/>
          </a:xfrm>
          <a:prstGeom prst="rect">
            <a:avLst/>
          </a:prstGeom>
          <a:ln w="1905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altLang="zh-CN" dirty="0">
                <a:solidFill>
                  <a:srgbClr val="008000"/>
                </a:solidFill>
                <a:latin typeface="Consolas" panose="020B0609020204030204" pitchFamily="49" charset="0"/>
              </a:rPr>
              <a:t>#id_a.py</a:t>
            </a:r>
            <a:endParaRPr lang="en-US" altLang="zh-CN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a = </a:t>
            </a:r>
            <a:r>
              <a:rPr lang="en-US" altLang="zh-CN" dirty="0">
                <a:solidFill>
                  <a:srgbClr val="09885A"/>
                </a:solidFill>
                <a:latin typeface="Consolas" panose="020B0609020204030204" pitchFamily="49" charset="0"/>
              </a:rPr>
              <a:t>3</a:t>
            </a:r>
            <a:endParaRPr lang="en-US" altLang="zh-CN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b = </a:t>
            </a:r>
            <a:r>
              <a:rPr lang="en-US" altLang="zh-CN" dirty="0">
                <a:solidFill>
                  <a:srgbClr val="267F99"/>
                </a:solidFill>
                <a:latin typeface="Consolas" panose="020B0609020204030204" pitchFamily="49" charset="0"/>
              </a:rPr>
              <a:t>int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(a ** </a:t>
            </a:r>
            <a:r>
              <a:rPr lang="en-US" altLang="zh-CN" dirty="0">
                <a:solidFill>
                  <a:srgbClr val="09885A"/>
                </a:solidFill>
                <a:latin typeface="Consolas" panose="020B0609020204030204" pitchFamily="49" charset="0"/>
              </a:rPr>
              <a:t>2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 / </a:t>
            </a:r>
            <a:r>
              <a:rPr lang="en-US" altLang="zh-CN" dirty="0">
                <a:solidFill>
                  <a:srgbClr val="09885A"/>
                </a:solidFill>
                <a:latin typeface="Consolas" panose="020B0609020204030204" pitchFamily="49" charset="0"/>
              </a:rPr>
              <a:t>3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en-US" altLang="zh-CN" dirty="0">
                <a:solidFill>
                  <a:srgbClr val="795E26"/>
                </a:solidFill>
                <a:latin typeface="Consolas" panose="020B0609020204030204" pitchFamily="49" charset="0"/>
              </a:rPr>
              <a:t>print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altLang="zh-CN" dirty="0" err="1">
                <a:solidFill>
                  <a:srgbClr val="000000"/>
                </a:solidFill>
                <a:latin typeface="Consolas" panose="020B0609020204030204" pitchFamily="49" charset="0"/>
              </a:rPr>
              <a:t>a,b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en-US" altLang="zh-CN" dirty="0">
                <a:solidFill>
                  <a:srgbClr val="795E26"/>
                </a:solidFill>
                <a:latin typeface="Consolas" panose="020B0609020204030204" pitchFamily="49" charset="0"/>
              </a:rPr>
              <a:t>print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altLang="zh-CN" dirty="0">
                <a:solidFill>
                  <a:srgbClr val="795E26"/>
                </a:solidFill>
                <a:latin typeface="Consolas" panose="020B0609020204030204" pitchFamily="49" charset="0"/>
              </a:rPr>
              <a:t>id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(a),</a:t>
            </a:r>
            <a:r>
              <a:rPr lang="en-US" altLang="zh-CN" dirty="0">
                <a:solidFill>
                  <a:srgbClr val="795E26"/>
                </a:solidFill>
                <a:latin typeface="Consolas" panose="020B0609020204030204" pitchFamily="49" charset="0"/>
              </a:rPr>
              <a:t>id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(b))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5A923DD2-21AD-4838-92C8-03948A761C10}"/>
              </a:ext>
            </a:extLst>
          </p:cNvPr>
          <p:cNvSpPr txBox="1"/>
          <p:nvPr/>
        </p:nvSpPr>
        <p:spPr>
          <a:xfrm>
            <a:off x="1681136" y="4869160"/>
            <a:ext cx="6904490" cy="1200329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214313" indent="-214313">
              <a:buFont typeface="Arial" panose="020B0604020202020204" pitchFamily="34" charset="0"/>
              <a:buChar char="•"/>
            </a:pPr>
            <a:r>
              <a:rPr lang="en-US" altLang="zh-CN" dirty="0"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</a:rPr>
              <a:t>a</a:t>
            </a:r>
            <a:r>
              <a:rPr lang="zh-CN" altLang="en-US" dirty="0"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</a:rPr>
              <a:t>被赋值为</a:t>
            </a:r>
            <a:r>
              <a:rPr lang="en-US" altLang="zh-CN" dirty="0"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</a:rPr>
              <a:t>3, b</a:t>
            </a:r>
            <a:r>
              <a:rPr lang="zh-CN" altLang="en-US" dirty="0"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</a:rPr>
              <a:t>也被赋值为计算出来的结果</a:t>
            </a:r>
            <a:r>
              <a:rPr lang="en-US" altLang="zh-CN" dirty="0"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</a:rPr>
              <a:t>3</a:t>
            </a:r>
            <a:r>
              <a:rPr lang="zh-CN" altLang="en-US" dirty="0"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</a:rPr>
              <a:t>。不同于预期，</a:t>
            </a:r>
            <a:r>
              <a:rPr lang="en-US" altLang="zh-CN" dirty="0"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</a:rPr>
              <a:t>a</a:t>
            </a:r>
            <a:r>
              <a:rPr lang="zh-CN" altLang="en-US" dirty="0"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</a:rPr>
              <a:t>和</a:t>
            </a:r>
            <a:r>
              <a:rPr lang="en-US" altLang="zh-CN" dirty="0"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</a:rPr>
              <a:t>b</a:t>
            </a:r>
            <a:r>
              <a:rPr lang="zh-CN" altLang="en-US" dirty="0"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</a:rPr>
              <a:t>并没有绑定到两个值为</a:t>
            </a:r>
            <a:r>
              <a:rPr lang="en-US" altLang="zh-CN" dirty="0"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</a:rPr>
              <a:t>3</a:t>
            </a:r>
            <a:r>
              <a:rPr lang="zh-CN" altLang="en-US" dirty="0"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</a:rPr>
              <a:t>的独立整数对象上，而是被绑定到同一个值为</a:t>
            </a:r>
            <a:r>
              <a:rPr lang="en-US" altLang="zh-CN" dirty="0"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</a:rPr>
              <a:t>3</a:t>
            </a:r>
            <a:r>
              <a:rPr lang="zh-CN" altLang="en-US" dirty="0"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</a:rPr>
              <a:t>的整数对象上。作者相信这是某种形式的解释器优化的结果，解释器试图尽可能快地执行代码。</a:t>
            </a:r>
            <a:endParaRPr lang="en-US" altLang="zh-CN" dirty="0">
              <a:latin typeface="阿里巴巴普惠体 R" panose="00020600040101010101" pitchFamily="18" charset="-122"/>
              <a:ea typeface="阿里巴巴普惠体 R" panose="00020600040101010101" pitchFamily="18" charset="-122"/>
              <a:cs typeface="阿里巴巴普惠体 R" panose="00020600040101010101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1008991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/>
    </mc:Choice>
    <mc:Fallback xmlns="">
      <p:transition advClick="0"/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E48A9AC-A243-4B87-975A-FE8091DDEE60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8585626" y="5658563"/>
            <a:ext cx="208814" cy="205743"/>
          </a:xfrm>
          <a:prstGeom prst="rect">
            <a:avLst/>
          </a:prstGeom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</a:bodyPr>
          <a:lstStyle>
            <a:defPPr rtl="0">
              <a:defRPr lang="zh-CN"/>
            </a:defPPr>
            <a:lvl1pPr marL="0" algn="ctr" defTabSz="685800" rtl="0" eaLnBrk="1" latinLnBrk="0" hangingPunct="1">
              <a:defRPr sz="900" i="1" kern="1200">
                <a:solidFill>
                  <a:schemeClr val="bg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19B51A1E-902D-48AF-9020-955120F399B6}" type="slidenum">
              <a:rPr lang="en-ZA" altLang="zh-CN" smtClean="0"/>
              <a:pPr/>
              <a:t>24</a:t>
            </a:fld>
            <a:endParaRPr lang="zh-CN" altLang="en-US" noProof="0" dirty="0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C1369C35-DEE7-4C64-85F6-3BEEA7C2F50E}"/>
              </a:ext>
            </a:extLst>
          </p:cNvPr>
          <p:cNvSpPr/>
          <p:nvPr/>
        </p:nvSpPr>
        <p:spPr>
          <a:xfrm>
            <a:off x="2051720" y="519633"/>
            <a:ext cx="2952328" cy="485142"/>
          </a:xfrm>
          <a:prstGeom prst="rect">
            <a:avLst/>
          </a:prstGeom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2800" dirty="0"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</a:rPr>
              <a:t>is </a:t>
            </a:r>
            <a:r>
              <a:rPr lang="zh-CN" altLang="en-US" sz="2800" dirty="0"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</a:rPr>
              <a:t>和 </a:t>
            </a:r>
            <a:r>
              <a:rPr lang="en-US" altLang="zh-CN" sz="2800" dirty="0"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</a:rPr>
              <a:t>==</a:t>
            </a:r>
            <a:endParaRPr lang="zh-CN" altLang="en-US" sz="2800" dirty="0">
              <a:latin typeface="阿里巴巴普惠体 R" panose="00020600040101010101" pitchFamily="18" charset="-122"/>
              <a:ea typeface="阿里巴巴普惠体 R" panose="00020600040101010101" pitchFamily="18" charset="-122"/>
              <a:cs typeface="阿里巴巴普惠体 R" panose="00020600040101010101" pitchFamily="18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A5F56049-C7A4-4E2D-9845-D4AE374097B6}"/>
              </a:ext>
            </a:extLst>
          </p:cNvPr>
          <p:cNvSpPr/>
          <p:nvPr/>
        </p:nvSpPr>
        <p:spPr>
          <a:xfrm>
            <a:off x="1822307" y="3402532"/>
            <a:ext cx="7035065" cy="923330"/>
          </a:xfrm>
          <a:prstGeom prst="rect">
            <a:avLst/>
          </a:prstGeom>
          <a:noFill/>
          <a:ln w="12700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altLang="zh-CN" dirty="0">
                <a:latin typeface="Consolas" panose="020B0609020204030204" pitchFamily="49" charset="0"/>
                <a:ea typeface="阿里巴巴普惠体 R" panose="00020600040101010101" pitchFamily="18" charset="-122"/>
                <a:cs typeface="阿里巴巴普惠体 R" panose="00020600040101010101" pitchFamily="18" charset="-122"/>
              </a:rPr>
              <a:t>a==b: True</a:t>
            </a:r>
          </a:p>
          <a:p>
            <a:r>
              <a:rPr lang="en-US" altLang="zh-CN" dirty="0">
                <a:latin typeface="Consolas" panose="020B0609020204030204" pitchFamily="49" charset="0"/>
                <a:ea typeface="阿里巴巴普惠体 R" panose="00020600040101010101" pitchFamily="18" charset="-122"/>
                <a:cs typeface="阿里巴巴普惠体 R" panose="00020600040101010101" pitchFamily="18" charset="-122"/>
              </a:rPr>
              <a:t>a is b: False</a:t>
            </a:r>
          </a:p>
          <a:p>
            <a:r>
              <a:rPr lang="en-US" altLang="zh-CN" dirty="0">
                <a:latin typeface="Consolas" panose="020B0609020204030204" pitchFamily="49" charset="0"/>
                <a:ea typeface="阿里巴巴普惠体 R" panose="00020600040101010101" pitchFamily="18" charset="-122"/>
                <a:cs typeface="阿里巴巴普惠体 R" panose="00020600040101010101" pitchFamily="18" charset="-122"/>
              </a:rPr>
              <a:t>140720188347488 2675211874712</a:t>
            </a:r>
            <a:endParaRPr lang="zh-CN" altLang="en-US" dirty="0">
              <a:latin typeface="Consolas" panose="020B0609020204030204" pitchFamily="49" charset="0"/>
              <a:ea typeface="阿里巴巴普惠体 R" panose="00020600040101010101" pitchFamily="18" charset="-122"/>
              <a:cs typeface="阿里巴巴普惠体 R" panose="00020600040101010101" pitchFamily="18" charset="-122"/>
            </a:endParaRPr>
          </a:p>
        </p:txBody>
      </p:sp>
      <p:sp>
        <p:nvSpPr>
          <p:cNvPr id="22" name="Freeform 17">
            <a:extLst>
              <a:ext uri="{FF2B5EF4-FFF2-40B4-BE49-F238E27FC236}">
                <a16:creationId xmlns:a16="http://schemas.microsoft.com/office/drawing/2014/main" id="{1FEFEB03-779C-4DEE-8566-B90E27B302C4}"/>
              </a:ext>
            </a:extLst>
          </p:cNvPr>
          <p:cNvSpPr>
            <a:spLocks noEditPoints="1"/>
          </p:cNvSpPr>
          <p:nvPr/>
        </p:nvSpPr>
        <p:spPr bwMode="auto">
          <a:xfrm flipH="1">
            <a:off x="8227194" y="1239250"/>
            <a:ext cx="360865" cy="352070"/>
          </a:xfrm>
          <a:custGeom>
            <a:avLst/>
            <a:gdLst>
              <a:gd name="T0" fmla="*/ 224 w 593"/>
              <a:gd name="T1" fmla="*/ 394 h 633"/>
              <a:gd name="T2" fmla="*/ 213 w 593"/>
              <a:gd name="T3" fmla="*/ 358 h 633"/>
              <a:gd name="T4" fmla="*/ 259 w 593"/>
              <a:gd name="T5" fmla="*/ 173 h 633"/>
              <a:gd name="T6" fmla="*/ 307 w 593"/>
              <a:gd name="T7" fmla="*/ 323 h 633"/>
              <a:gd name="T8" fmla="*/ 367 w 593"/>
              <a:gd name="T9" fmla="*/ 149 h 633"/>
              <a:gd name="T10" fmla="*/ 234 w 593"/>
              <a:gd name="T11" fmla="*/ 296 h 633"/>
              <a:gd name="T12" fmla="*/ 223 w 593"/>
              <a:gd name="T13" fmla="*/ 315 h 633"/>
              <a:gd name="T14" fmla="*/ 304 w 593"/>
              <a:gd name="T15" fmla="*/ 363 h 633"/>
              <a:gd name="T16" fmla="*/ 391 w 593"/>
              <a:gd name="T17" fmla="*/ 127 h 633"/>
              <a:gd name="T18" fmla="*/ 395 w 593"/>
              <a:gd name="T19" fmla="*/ 81 h 633"/>
              <a:gd name="T20" fmla="*/ 391 w 593"/>
              <a:gd name="T21" fmla="*/ 127 h 633"/>
              <a:gd name="T22" fmla="*/ 463 w 593"/>
              <a:gd name="T23" fmla="*/ 149 h 633"/>
              <a:gd name="T24" fmla="*/ 417 w 593"/>
              <a:gd name="T25" fmla="*/ 154 h 633"/>
              <a:gd name="T26" fmla="*/ 338 w 593"/>
              <a:gd name="T27" fmla="*/ 107 h 633"/>
              <a:gd name="T28" fmla="*/ 319 w 593"/>
              <a:gd name="T29" fmla="*/ 65 h 633"/>
              <a:gd name="T30" fmla="*/ 338 w 593"/>
              <a:gd name="T31" fmla="*/ 107 h 633"/>
              <a:gd name="T32" fmla="*/ 261 w 593"/>
              <a:gd name="T33" fmla="*/ 79 h 633"/>
              <a:gd name="T34" fmla="*/ 266 w 593"/>
              <a:gd name="T35" fmla="*/ 125 h 633"/>
              <a:gd name="T36" fmla="*/ 435 w 593"/>
              <a:gd name="T37" fmla="*/ 226 h 633"/>
              <a:gd name="T38" fmla="*/ 477 w 593"/>
              <a:gd name="T39" fmla="*/ 207 h 633"/>
              <a:gd name="T40" fmla="*/ 435 w 593"/>
              <a:gd name="T41" fmla="*/ 226 h 633"/>
              <a:gd name="T42" fmla="*/ 218 w 593"/>
              <a:gd name="T43" fmla="*/ 324 h 633"/>
              <a:gd name="T44" fmla="*/ 206 w 593"/>
              <a:gd name="T45" fmla="*/ 344 h 633"/>
              <a:gd name="T46" fmla="*/ 288 w 593"/>
              <a:gd name="T47" fmla="*/ 391 h 633"/>
              <a:gd name="T48" fmla="*/ 216 w 593"/>
              <a:gd name="T49" fmla="*/ 633 h 633"/>
              <a:gd name="T50" fmla="*/ 231 w 593"/>
              <a:gd name="T51" fmla="*/ 37 h 633"/>
              <a:gd name="T52" fmla="*/ 564 w 593"/>
              <a:gd name="T53" fmla="*/ 180 h 633"/>
              <a:gd name="T54" fmla="*/ 569 w 593"/>
              <a:gd name="T55" fmla="*/ 276 h 633"/>
              <a:gd name="T56" fmla="*/ 586 w 593"/>
              <a:gd name="T57" fmla="*/ 396 h 633"/>
              <a:gd name="T58" fmla="*/ 565 w 593"/>
              <a:gd name="T59" fmla="*/ 498 h 633"/>
              <a:gd name="T60" fmla="*/ 442 w 593"/>
              <a:gd name="T61" fmla="*/ 526 h 633"/>
              <a:gd name="T62" fmla="*/ 216 w 593"/>
              <a:gd name="T63" fmla="*/ 633 h 63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</a:cxnLst>
            <a:rect l="0" t="0" r="r" b="b"/>
            <a:pathLst>
              <a:path w="593" h="633">
                <a:moveTo>
                  <a:pt x="213" y="358"/>
                </a:moveTo>
                <a:cubicBezTo>
                  <a:pt x="207" y="371"/>
                  <a:pt x="212" y="387"/>
                  <a:pt x="224" y="394"/>
                </a:cubicBezTo>
                <a:cubicBezTo>
                  <a:pt x="235" y="400"/>
                  <a:pt x="248" y="398"/>
                  <a:pt x="257" y="391"/>
                </a:cubicBezTo>
                <a:lnTo>
                  <a:pt x="213" y="358"/>
                </a:lnTo>
                <a:close/>
                <a:moveTo>
                  <a:pt x="367" y="149"/>
                </a:moveTo>
                <a:cubicBezTo>
                  <a:pt x="328" y="126"/>
                  <a:pt x="279" y="137"/>
                  <a:pt x="259" y="173"/>
                </a:cubicBezTo>
                <a:cubicBezTo>
                  <a:pt x="238" y="210"/>
                  <a:pt x="265" y="250"/>
                  <a:pt x="246" y="288"/>
                </a:cubicBezTo>
                <a:lnTo>
                  <a:pt x="307" y="323"/>
                </a:lnTo>
                <a:cubicBezTo>
                  <a:pt x="330" y="288"/>
                  <a:pt x="380" y="291"/>
                  <a:pt x="401" y="255"/>
                </a:cubicBezTo>
                <a:cubicBezTo>
                  <a:pt x="421" y="219"/>
                  <a:pt x="406" y="172"/>
                  <a:pt x="367" y="149"/>
                </a:cubicBezTo>
                <a:close/>
                <a:moveTo>
                  <a:pt x="301" y="346"/>
                </a:moveTo>
                <a:lnTo>
                  <a:pt x="234" y="296"/>
                </a:lnTo>
                <a:cubicBezTo>
                  <a:pt x="229" y="292"/>
                  <a:pt x="223" y="293"/>
                  <a:pt x="219" y="299"/>
                </a:cubicBezTo>
                <a:cubicBezTo>
                  <a:pt x="216" y="304"/>
                  <a:pt x="218" y="312"/>
                  <a:pt x="223" y="315"/>
                </a:cubicBezTo>
                <a:lnTo>
                  <a:pt x="289" y="366"/>
                </a:lnTo>
                <a:cubicBezTo>
                  <a:pt x="295" y="370"/>
                  <a:pt x="301" y="368"/>
                  <a:pt x="304" y="363"/>
                </a:cubicBezTo>
                <a:cubicBezTo>
                  <a:pt x="307" y="357"/>
                  <a:pt x="306" y="350"/>
                  <a:pt x="301" y="346"/>
                </a:cubicBezTo>
                <a:close/>
                <a:moveTo>
                  <a:pt x="391" y="127"/>
                </a:moveTo>
                <a:lnTo>
                  <a:pt x="412" y="90"/>
                </a:lnTo>
                <a:lnTo>
                  <a:pt x="395" y="81"/>
                </a:lnTo>
                <a:lnTo>
                  <a:pt x="374" y="117"/>
                </a:lnTo>
                <a:lnTo>
                  <a:pt x="391" y="127"/>
                </a:lnTo>
                <a:close/>
                <a:moveTo>
                  <a:pt x="426" y="170"/>
                </a:moveTo>
                <a:lnTo>
                  <a:pt x="463" y="149"/>
                </a:lnTo>
                <a:lnTo>
                  <a:pt x="453" y="133"/>
                </a:lnTo>
                <a:lnTo>
                  <a:pt x="417" y="154"/>
                </a:lnTo>
                <a:lnTo>
                  <a:pt x="426" y="170"/>
                </a:lnTo>
                <a:close/>
                <a:moveTo>
                  <a:pt x="338" y="107"/>
                </a:moveTo>
                <a:lnTo>
                  <a:pt x="338" y="65"/>
                </a:lnTo>
                <a:lnTo>
                  <a:pt x="319" y="65"/>
                </a:lnTo>
                <a:lnTo>
                  <a:pt x="319" y="107"/>
                </a:lnTo>
                <a:lnTo>
                  <a:pt x="338" y="107"/>
                </a:lnTo>
                <a:close/>
                <a:moveTo>
                  <a:pt x="282" y="116"/>
                </a:moveTo>
                <a:lnTo>
                  <a:pt x="261" y="79"/>
                </a:lnTo>
                <a:lnTo>
                  <a:pt x="245" y="89"/>
                </a:lnTo>
                <a:lnTo>
                  <a:pt x="266" y="125"/>
                </a:lnTo>
                <a:lnTo>
                  <a:pt x="282" y="116"/>
                </a:lnTo>
                <a:close/>
                <a:moveTo>
                  <a:pt x="435" y="226"/>
                </a:moveTo>
                <a:lnTo>
                  <a:pt x="477" y="226"/>
                </a:lnTo>
                <a:lnTo>
                  <a:pt x="477" y="207"/>
                </a:lnTo>
                <a:lnTo>
                  <a:pt x="436" y="207"/>
                </a:lnTo>
                <a:lnTo>
                  <a:pt x="435" y="226"/>
                </a:lnTo>
                <a:close/>
                <a:moveTo>
                  <a:pt x="284" y="375"/>
                </a:moveTo>
                <a:lnTo>
                  <a:pt x="218" y="324"/>
                </a:lnTo>
                <a:cubicBezTo>
                  <a:pt x="213" y="320"/>
                  <a:pt x="206" y="322"/>
                  <a:pt x="203" y="327"/>
                </a:cubicBezTo>
                <a:cubicBezTo>
                  <a:pt x="200" y="333"/>
                  <a:pt x="201" y="340"/>
                  <a:pt x="206" y="344"/>
                </a:cubicBezTo>
                <a:lnTo>
                  <a:pt x="273" y="394"/>
                </a:lnTo>
                <a:cubicBezTo>
                  <a:pt x="278" y="398"/>
                  <a:pt x="285" y="397"/>
                  <a:pt x="288" y="391"/>
                </a:cubicBezTo>
                <a:cubicBezTo>
                  <a:pt x="291" y="386"/>
                  <a:pt x="289" y="378"/>
                  <a:pt x="284" y="375"/>
                </a:cubicBezTo>
                <a:close/>
                <a:moveTo>
                  <a:pt x="216" y="633"/>
                </a:moveTo>
                <a:cubicBezTo>
                  <a:pt x="223" y="583"/>
                  <a:pt x="223" y="530"/>
                  <a:pt x="210" y="483"/>
                </a:cubicBezTo>
                <a:cubicBezTo>
                  <a:pt x="0" y="365"/>
                  <a:pt x="55" y="92"/>
                  <a:pt x="231" y="37"/>
                </a:cubicBezTo>
                <a:cubicBezTo>
                  <a:pt x="324" y="0"/>
                  <a:pt x="450" y="22"/>
                  <a:pt x="533" y="105"/>
                </a:cubicBezTo>
                <a:cubicBezTo>
                  <a:pt x="593" y="165"/>
                  <a:pt x="564" y="180"/>
                  <a:pt x="564" y="180"/>
                </a:cubicBezTo>
                <a:lnTo>
                  <a:pt x="551" y="187"/>
                </a:lnTo>
                <a:cubicBezTo>
                  <a:pt x="558" y="216"/>
                  <a:pt x="571" y="268"/>
                  <a:pt x="569" y="276"/>
                </a:cubicBezTo>
                <a:cubicBezTo>
                  <a:pt x="567" y="285"/>
                  <a:pt x="556" y="295"/>
                  <a:pt x="556" y="295"/>
                </a:cubicBezTo>
                <a:lnTo>
                  <a:pt x="586" y="396"/>
                </a:lnTo>
                <a:lnTo>
                  <a:pt x="559" y="407"/>
                </a:lnTo>
                <a:cubicBezTo>
                  <a:pt x="565" y="439"/>
                  <a:pt x="568" y="466"/>
                  <a:pt x="565" y="498"/>
                </a:cubicBezTo>
                <a:cubicBezTo>
                  <a:pt x="565" y="503"/>
                  <a:pt x="547" y="519"/>
                  <a:pt x="532" y="520"/>
                </a:cubicBezTo>
                <a:lnTo>
                  <a:pt x="442" y="526"/>
                </a:lnTo>
                <a:lnTo>
                  <a:pt x="448" y="633"/>
                </a:lnTo>
                <a:lnTo>
                  <a:pt x="216" y="633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68580" tIns="34290" rIns="68580" bIns="34290" numCol="1" anchor="t" anchorCtr="0" compatLnSpc="1"/>
          <a:lstStyle/>
          <a:p>
            <a:endParaRPr lang="zh-CN" altLang="en-US">
              <a:solidFill>
                <a:srgbClr val="FDEBCD"/>
              </a:solidFill>
            </a:endParaRP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5A923DD2-21AD-4838-92C8-03948A761C10}"/>
              </a:ext>
            </a:extLst>
          </p:cNvPr>
          <p:cNvSpPr txBox="1"/>
          <p:nvPr/>
        </p:nvSpPr>
        <p:spPr>
          <a:xfrm>
            <a:off x="1816221" y="4677367"/>
            <a:ext cx="6904490" cy="1754326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zh-CN" altLang="en-US" dirty="0"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</a:rPr>
              <a:t>      每个名字所绑定的对象都至少包括三个属性：</a:t>
            </a:r>
            <a:r>
              <a:rPr lang="en-US" altLang="zh-CN" dirty="0"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</a:rPr>
              <a:t>id-</a:t>
            </a:r>
            <a:r>
              <a:rPr lang="zh-CN" altLang="en-US" dirty="0"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</a:rPr>
              <a:t>就是对象的内存地址、</a:t>
            </a:r>
            <a:r>
              <a:rPr lang="en-US" altLang="zh-CN" dirty="0"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</a:rPr>
              <a:t>type-</a:t>
            </a:r>
            <a:r>
              <a:rPr lang="zh-CN" altLang="en-US" dirty="0"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</a:rPr>
              <a:t>类型和</a:t>
            </a:r>
            <a:r>
              <a:rPr lang="en-US" altLang="zh-CN" dirty="0"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</a:rPr>
              <a:t>value-</a:t>
            </a:r>
            <a:r>
              <a:rPr lang="zh-CN" altLang="en-US" dirty="0"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</a:rPr>
              <a:t>对象的值。</a:t>
            </a:r>
            <a:r>
              <a:rPr lang="en-US" altLang="zh-CN" dirty="0"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</a:rPr>
              <a:t>a is b</a:t>
            </a:r>
            <a:r>
              <a:rPr lang="zh-CN" altLang="en-US" dirty="0"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</a:rPr>
              <a:t>将</a:t>
            </a:r>
            <a:r>
              <a:rPr lang="en-US" altLang="zh-CN" dirty="0"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</a:rPr>
              <a:t>a</a:t>
            </a:r>
            <a:r>
              <a:rPr lang="zh-CN" altLang="en-US" dirty="0"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</a:rPr>
              <a:t>的</a:t>
            </a:r>
            <a:r>
              <a:rPr lang="en-US" altLang="zh-CN" dirty="0"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</a:rPr>
              <a:t>id</a:t>
            </a:r>
            <a:r>
              <a:rPr lang="zh-CN" altLang="en-US" dirty="0"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</a:rPr>
              <a:t>与</a:t>
            </a:r>
            <a:r>
              <a:rPr lang="en-US" altLang="zh-CN" dirty="0"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</a:rPr>
              <a:t>b</a:t>
            </a:r>
            <a:r>
              <a:rPr lang="zh-CN" altLang="en-US" dirty="0"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</a:rPr>
              <a:t>的</a:t>
            </a:r>
            <a:r>
              <a:rPr lang="en-US" altLang="zh-CN" dirty="0"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</a:rPr>
              <a:t>id</a:t>
            </a:r>
            <a:r>
              <a:rPr lang="zh-CN" altLang="en-US" dirty="0"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</a:rPr>
              <a:t>作比较，只有两者相同时才返回</a:t>
            </a:r>
            <a:r>
              <a:rPr lang="en-US" altLang="zh-CN" dirty="0"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</a:rPr>
              <a:t>True</a:t>
            </a:r>
            <a:r>
              <a:rPr lang="zh-CN" altLang="en-US" dirty="0"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</a:rPr>
              <a:t>。这里显然</a:t>
            </a:r>
            <a:r>
              <a:rPr lang="en-US" altLang="zh-CN" dirty="0" err="1"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</a:rPr>
              <a:t>a,b</a:t>
            </a:r>
            <a:r>
              <a:rPr lang="zh-CN" altLang="en-US" dirty="0"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</a:rPr>
              <a:t>没有绑定到同一个对象，所以</a:t>
            </a:r>
            <a:r>
              <a:rPr lang="en-US" altLang="zh-CN" dirty="0"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</a:rPr>
              <a:t>a is b</a:t>
            </a:r>
            <a:r>
              <a:rPr lang="zh-CN" altLang="en-US" dirty="0"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</a:rPr>
              <a:t>返回</a:t>
            </a:r>
            <a:r>
              <a:rPr lang="en-US" altLang="zh-CN" dirty="0"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</a:rPr>
              <a:t>False</a:t>
            </a:r>
            <a:r>
              <a:rPr lang="zh-CN" altLang="en-US" dirty="0"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</a:rPr>
              <a:t>；</a:t>
            </a:r>
            <a:r>
              <a:rPr lang="en-US" altLang="zh-CN" dirty="0"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</a:rPr>
              <a:t>a == b</a:t>
            </a:r>
            <a:r>
              <a:rPr lang="zh-CN" altLang="en-US" dirty="0"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</a:rPr>
              <a:t>将两个对象的值进行比较，</a:t>
            </a:r>
            <a:r>
              <a:rPr lang="en-US" altLang="zh-CN" dirty="0"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</a:rPr>
              <a:t>3</a:t>
            </a:r>
            <a:r>
              <a:rPr lang="zh-CN" altLang="en-US" dirty="0"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</a:rPr>
              <a:t>等于</a:t>
            </a:r>
            <a:r>
              <a:rPr lang="en-US" altLang="zh-CN" dirty="0"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</a:rPr>
              <a:t>3.0</a:t>
            </a:r>
            <a:r>
              <a:rPr lang="zh-CN" altLang="en-US" dirty="0"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</a:rPr>
              <a:t>，故返回</a:t>
            </a:r>
            <a:r>
              <a:rPr lang="en-US" altLang="zh-CN" dirty="0"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</a:rPr>
              <a:t>True</a:t>
            </a:r>
            <a:r>
              <a:rPr lang="zh-CN" altLang="en-US" dirty="0"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</a:rPr>
              <a:t>。在实践中，为了避免不必要的麻烦，建议尽量使用</a:t>
            </a:r>
            <a:r>
              <a:rPr lang="en-US" altLang="zh-CN" dirty="0"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</a:rPr>
              <a:t>==</a:t>
            </a:r>
            <a:r>
              <a:rPr lang="zh-CN" altLang="en-US" dirty="0"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</a:rPr>
              <a:t>而不是</a:t>
            </a:r>
            <a:r>
              <a:rPr lang="en-US" altLang="zh-CN" dirty="0"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</a:rPr>
              <a:t>is</a:t>
            </a:r>
            <a:r>
              <a:rPr lang="zh-CN" altLang="en-US" dirty="0"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</a:rPr>
              <a:t>。</a:t>
            </a:r>
            <a:endParaRPr lang="en-US" altLang="zh-CN" dirty="0">
              <a:latin typeface="阿里巴巴普惠体 R" panose="00020600040101010101" pitchFamily="18" charset="-122"/>
              <a:ea typeface="阿里巴巴普惠体 R" panose="00020600040101010101" pitchFamily="18" charset="-122"/>
              <a:cs typeface="阿里巴巴普惠体 R" panose="00020600040101010101" pitchFamily="18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59A6A81-E8E7-4397-B86A-AA53BA30D374}"/>
              </a:ext>
            </a:extLst>
          </p:cNvPr>
          <p:cNvSpPr/>
          <p:nvPr/>
        </p:nvSpPr>
        <p:spPr>
          <a:xfrm>
            <a:off x="1835696" y="1284070"/>
            <a:ext cx="7035064" cy="1754326"/>
          </a:xfrm>
          <a:prstGeom prst="rect">
            <a:avLst/>
          </a:prstGeom>
          <a:ln w="1905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altLang="zh-CN" dirty="0">
                <a:solidFill>
                  <a:srgbClr val="008000"/>
                </a:solidFill>
                <a:latin typeface="Consolas" panose="020B0609020204030204" pitchFamily="49" charset="0"/>
              </a:rPr>
              <a:t>#isequal.py</a:t>
            </a:r>
            <a:endParaRPr lang="en-US" altLang="zh-CN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a = </a:t>
            </a:r>
            <a:r>
              <a:rPr lang="en-US" altLang="zh-CN" dirty="0">
                <a:solidFill>
                  <a:srgbClr val="09885A"/>
                </a:solidFill>
                <a:latin typeface="Consolas" panose="020B0609020204030204" pitchFamily="49" charset="0"/>
              </a:rPr>
              <a:t>3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                   </a:t>
            </a:r>
            <a:r>
              <a:rPr lang="en-US" altLang="zh-CN" dirty="0">
                <a:solidFill>
                  <a:srgbClr val="008000"/>
                </a:solidFill>
                <a:latin typeface="Consolas" panose="020B0609020204030204" pitchFamily="49" charset="0"/>
              </a:rPr>
              <a:t>#a</a:t>
            </a:r>
            <a:r>
              <a:rPr lang="zh-CN" altLang="en-US" dirty="0">
                <a:solidFill>
                  <a:srgbClr val="008000"/>
                </a:solidFill>
                <a:latin typeface="Consolas" panose="020B0609020204030204" pitchFamily="49" charset="0"/>
              </a:rPr>
              <a:t>绑定至整数对象</a:t>
            </a:r>
            <a:r>
              <a:rPr lang="en-US" altLang="zh-CN" dirty="0">
                <a:solidFill>
                  <a:srgbClr val="008000"/>
                </a:solidFill>
                <a:latin typeface="Consolas" panose="020B0609020204030204" pitchFamily="49" charset="0"/>
              </a:rPr>
              <a:t>3</a:t>
            </a:r>
            <a:endParaRPr lang="zh-CN" alt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b = </a:t>
            </a:r>
            <a:r>
              <a:rPr lang="en-US" altLang="zh-CN" dirty="0">
                <a:solidFill>
                  <a:srgbClr val="09885A"/>
                </a:solidFill>
                <a:latin typeface="Consolas" panose="020B0609020204030204" pitchFamily="49" charset="0"/>
              </a:rPr>
              <a:t>3.0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                 </a:t>
            </a:r>
            <a:r>
              <a:rPr lang="en-US" altLang="zh-CN" dirty="0">
                <a:solidFill>
                  <a:srgbClr val="008000"/>
                </a:solidFill>
                <a:latin typeface="Consolas" panose="020B0609020204030204" pitchFamily="49" charset="0"/>
              </a:rPr>
              <a:t>#b</a:t>
            </a:r>
            <a:r>
              <a:rPr lang="zh-CN" altLang="en-US" dirty="0">
                <a:solidFill>
                  <a:srgbClr val="008000"/>
                </a:solidFill>
                <a:latin typeface="Consolas" panose="020B0609020204030204" pitchFamily="49" charset="0"/>
              </a:rPr>
              <a:t>绑定至浮点数对象</a:t>
            </a:r>
            <a:r>
              <a:rPr lang="en-US" altLang="zh-CN" dirty="0">
                <a:solidFill>
                  <a:srgbClr val="008000"/>
                </a:solidFill>
                <a:latin typeface="Consolas" panose="020B0609020204030204" pitchFamily="49" charset="0"/>
              </a:rPr>
              <a:t>3.0</a:t>
            </a:r>
            <a:endParaRPr lang="zh-CN" alt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altLang="zh-CN" dirty="0">
                <a:solidFill>
                  <a:srgbClr val="795E26"/>
                </a:solidFill>
                <a:latin typeface="Consolas" panose="020B0609020204030204" pitchFamily="49" charset="0"/>
              </a:rPr>
              <a:t>print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altLang="zh-CN" dirty="0">
                <a:solidFill>
                  <a:srgbClr val="A31515"/>
                </a:solidFill>
                <a:latin typeface="Consolas" panose="020B0609020204030204" pitchFamily="49" charset="0"/>
              </a:rPr>
              <a:t>"a==</a:t>
            </a:r>
            <a:r>
              <a:rPr lang="en-US" altLang="zh-CN" dirty="0" err="1">
                <a:solidFill>
                  <a:srgbClr val="A31515"/>
                </a:solidFill>
                <a:latin typeface="Consolas" panose="020B0609020204030204" pitchFamily="49" charset="0"/>
              </a:rPr>
              <a:t>b:"</a:t>
            </a:r>
            <a:r>
              <a:rPr lang="en-US" altLang="zh-CN" dirty="0" err="1">
                <a:solidFill>
                  <a:srgbClr val="000000"/>
                </a:solidFill>
                <a:latin typeface="Consolas" panose="020B0609020204030204" pitchFamily="49" charset="0"/>
              </a:rPr>
              <a:t>,a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==b)</a:t>
            </a:r>
          </a:p>
          <a:p>
            <a:r>
              <a:rPr lang="en-US" altLang="zh-CN" dirty="0">
                <a:solidFill>
                  <a:srgbClr val="795E26"/>
                </a:solidFill>
                <a:latin typeface="Consolas" panose="020B0609020204030204" pitchFamily="49" charset="0"/>
              </a:rPr>
              <a:t>print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altLang="zh-CN" dirty="0">
                <a:solidFill>
                  <a:srgbClr val="A31515"/>
                </a:solidFill>
                <a:latin typeface="Consolas" panose="020B0609020204030204" pitchFamily="49" charset="0"/>
              </a:rPr>
              <a:t>"a is b:"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,a </a:t>
            </a:r>
            <a:r>
              <a:rPr lang="en-US" altLang="zh-CN" dirty="0">
                <a:solidFill>
                  <a:srgbClr val="AF00DB"/>
                </a:solidFill>
                <a:latin typeface="Consolas" panose="020B0609020204030204" pitchFamily="49" charset="0"/>
              </a:rPr>
              <a:t>is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 b)</a:t>
            </a:r>
          </a:p>
          <a:p>
            <a:r>
              <a:rPr lang="en-US" altLang="zh-CN" dirty="0">
                <a:solidFill>
                  <a:srgbClr val="795E26"/>
                </a:solidFill>
                <a:latin typeface="Consolas" panose="020B0609020204030204" pitchFamily="49" charset="0"/>
              </a:rPr>
              <a:t>print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altLang="zh-CN" dirty="0">
                <a:solidFill>
                  <a:srgbClr val="795E26"/>
                </a:solidFill>
                <a:latin typeface="Consolas" panose="020B0609020204030204" pitchFamily="49" charset="0"/>
              </a:rPr>
              <a:t>id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(a),</a:t>
            </a:r>
            <a:r>
              <a:rPr lang="en-US" altLang="zh-CN" dirty="0">
                <a:solidFill>
                  <a:srgbClr val="795E26"/>
                </a:solidFill>
                <a:latin typeface="Consolas" panose="020B0609020204030204" pitchFamily="49" charset="0"/>
              </a:rPr>
              <a:t>id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(b))</a:t>
            </a:r>
          </a:p>
        </p:txBody>
      </p:sp>
    </p:spTree>
    <p:extLst>
      <p:ext uri="{BB962C8B-B14F-4D97-AF65-F5344CB8AC3E}">
        <p14:creationId xmlns:p14="http://schemas.microsoft.com/office/powerpoint/2010/main" val="2868991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/>
    </mc:Choice>
    <mc:Fallback xmlns="">
      <p:transition advClick="0"/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E48A9AC-A243-4B87-975A-FE8091DDEE60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8585626" y="5658563"/>
            <a:ext cx="208814" cy="205743"/>
          </a:xfrm>
          <a:prstGeom prst="rect">
            <a:avLst/>
          </a:prstGeom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</a:bodyPr>
          <a:lstStyle>
            <a:defPPr rtl="0">
              <a:defRPr lang="zh-CN"/>
            </a:defPPr>
            <a:lvl1pPr marL="0" algn="ctr" defTabSz="685800" rtl="0" eaLnBrk="1" latinLnBrk="0" hangingPunct="1">
              <a:defRPr sz="900" i="1" kern="1200">
                <a:solidFill>
                  <a:schemeClr val="bg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19B51A1E-902D-48AF-9020-955120F399B6}" type="slidenum">
              <a:rPr lang="en-ZA" altLang="zh-CN" smtClean="0"/>
              <a:pPr/>
              <a:t>25</a:t>
            </a:fld>
            <a:endParaRPr lang="zh-CN" altLang="en-US" noProof="0" dirty="0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C1369C35-DEE7-4C64-85F6-3BEEA7C2F50E}"/>
              </a:ext>
            </a:extLst>
          </p:cNvPr>
          <p:cNvSpPr/>
          <p:nvPr/>
        </p:nvSpPr>
        <p:spPr>
          <a:xfrm>
            <a:off x="2426453" y="692696"/>
            <a:ext cx="3441691" cy="685512"/>
          </a:xfrm>
          <a:prstGeom prst="rect">
            <a:avLst/>
          </a:prstGeom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dirty="0"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</a:rPr>
              <a:t>只读数据类型</a:t>
            </a:r>
          </a:p>
        </p:txBody>
      </p:sp>
      <p:graphicFrame>
        <p:nvGraphicFramePr>
          <p:cNvPr id="2" name="表格 1">
            <a:extLst>
              <a:ext uri="{FF2B5EF4-FFF2-40B4-BE49-F238E27FC236}">
                <a16:creationId xmlns:a16="http://schemas.microsoft.com/office/drawing/2014/main" id="{06E92066-E483-489E-A956-CB537EB9330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84717577"/>
              </p:ext>
            </p:extLst>
          </p:nvPr>
        </p:nvGraphicFramePr>
        <p:xfrm>
          <a:off x="2267744" y="2564904"/>
          <a:ext cx="6087748" cy="2270760"/>
        </p:xfrm>
        <a:graphic>
          <a:graphicData uri="http://schemas.openxmlformats.org/drawingml/2006/table">
            <a:tbl>
              <a:tblPr firstRow="1" bandRow="1">
                <a:tableStyleId>{9D7B26C5-4107-4FEC-AEDC-1716B250A1EF}</a:tableStyleId>
              </a:tblPr>
              <a:tblGrid>
                <a:gridCol w="3043874">
                  <a:extLst>
                    <a:ext uri="{9D8B030D-6E8A-4147-A177-3AD203B41FA5}">
                      <a16:colId xmlns:a16="http://schemas.microsoft.com/office/drawing/2014/main" val="4165635409"/>
                    </a:ext>
                  </a:extLst>
                </a:gridCol>
                <a:gridCol w="3043874">
                  <a:extLst>
                    <a:ext uri="{9D8B030D-6E8A-4147-A177-3AD203B41FA5}">
                      <a16:colId xmlns:a16="http://schemas.microsoft.com/office/drawing/2014/main" val="487822757"/>
                    </a:ext>
                  </a:extLst>
                </a:gridCol>
              </a:tblGrid>
              <a:tr h="335282">
                <a:tc>
                  <a:txBody>
                    <a:bodyPr/>
                    <a:lstStyle/>
                    <a:p>
                      <a:r>
                        <a:rPr lang="zh-CN" altLang="en-US" sz="2000" dirty="0">
                          <a:latin typeface="阿里巴巴普惠体 R" panose="00020600040101010101" pitchFamily="18" charset="-122"/>
                          <a:ea typeface="阿里巴巴普惠体 R" panose="00020600040101010101" pitchFamily="18" charset="-122"/>
                          <a:cs typeface="阿里巴巴普惠体 R" panose="00020600040101010101" pitchFamily="18" charset="-122"/>
                        </a:rPr>
                        <a:t>只读数据类型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zh-CN" altLang="en-US" sz="2000" dirty="0">
                          <a:latin typeface="阿里巴巴普惠体 R" panose="00020600040101010101" pitchFamily="18" charset="-122"/>
                          <a:ea typeface="阿里巴巴普惠体 R" panose="00020600040101010101" pitchFamily="18" charset="-122"/>
                          <a:cs typeface="阿里巴巴普惠体 R" panose="00020600040101010101" pitchFamily="18" charset="-122"/>
                        </a:rPr>
                        <a:t>可修改数据类型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3920907286"/>
                  </a:ext>
                </a:extLst>
              </a:tr>
              <a:tr h="1570772"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zh-CN" altLang="en-US" sz="2000" kern="1200" dirty="0">
                          <a:effectLst/>
                          <a:latin typeface="阿里巴巴普惠体 R" panose="00020600040101010101" pitchFamily="18" charset="-122"/>
                          <a:ea typeface="阿里巴巴普惠体 R" panose="00020600040101010101" pitchFamily="18" charset="-122"/>
                          <a:cs typeface="阿里巴巴普惠体 R" panose="00020600040101010101" pitchFamily="18" charset="-122"/>
                        </a:rPr>
                        <a:t>整数 </a:t>
                      </a:r>
                      <a:r>
                        <a:rPr lang="en-US" altLang="zh-CN" sz="2000" kern="1200" dirty="0">
                          <a:effectLst/>
                          <a:latin typeface="阿里巴巴普惠体 R" panose="00020600040101010101" pitchFamily="18" charset="-122"/>
                          <a:ea typeface="阿里巴巴普惠体 R" panose="00020600040101010101" pitchFamily="18" charset="-122"/>
                          <a:cs typeface="阿里巴巴普惠体 R" panose="00020600040101010101" pitchFamily="18" charset="-122"/>
                        </a:rPr>
                        <a:t>- int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zh-CN" altLang="en-US" sz="2000" kern="1200" dirty="0">
                          <a:effectLst/>
                          <a:latin typeface="阿里巴巴普惠体 R" panose="00020600040101010101" pitchFamily="18" charset="-122"/>
                          <a:ea typeface="阿里巴巴普惠体 R" panose="00020600040101010101" pitchFamily="18" charset="-122"/>
                          <a:cs typeface="阿里巴巴普惠体 R" panose="00020600040101010101" pitchFamily="18" charset="-122"/>
                        </a:rPr>
                        <a:t>浮点数 </a:t>
                      </a:r>
                      <a:r>
                        <a:rPr lang="en-US" altLang="zh-CN" sz="2000" kern="1200" dirty="0">
                          <a:effectLst/>
                          <a:latin typeface="阿里巴巴普惠体 R" panose="00020600040101010101" pitchFamily="18" charset="-122"/>
                          <a:ea typeface="阿里巴巴普惠体 R" panose="00020600040101010101" pitchFamily="18" charset="-122"/>
                          <a:cs typeface="阿里巴巴普惠体 R" panose="00020600040101010101" pitchFamily="18" charset="-122"/>
                        </a:rPr>
                        <a:t>- float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zh-CN" altLang="en-US" sz="2000" kern="1200" dirty="0">
                          <a:effectLst/>
                          <a:latin typeface="阿里巴巴普惠体 R" panose="00020600040101010101" pitchFamily="18" charset="-122"/>
                          <a:ea typeface="阿里巴巴普惠体 R" panose="00020600040101010101" pitchFamily="18" charset="-122"/>
                          <a:cs typeface="阿里巴巴普惠体 R" panose="00020600040101010101" pitchFamily="18" charset="-122"/>
                        </a:rPr>
                        <a:t>字符串 </a:t>
                      </a:r>
                      <a:r>
                        <a:rPr lang="en-US" altLang="zh-CN" sz="2000" kern="1200" dirty="0">
                          <a:effectLst/>
                          <a:latin typeface="阿里巴巴普惠体 R" panose="00020600040101010101" pitchFamily="18" charset="-122"/>
                          <a:ea typeface="阿里巴巴普惠体 R" panose="00020600040101010101" pitchFamily="18" charset="-122"/>
                          <a:cs typeface="阿里巴巴普惠体 R" panose="00020600040101010101" pitchFamily="18" charset="-122"/>
                        </a:rPr>
                        <a:t>- str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zh-CN" altLang="en-US" sz="2000" kern="1200" dirty="0">
                          <a:effectLst/>
                          <a:latin typeface="阿里巴巴普惠体 R" panose="00020600040101010101" pitchFamily="18" charset="-122"/>
                          <a:ea typeface="阿里巴巴普惠体 R" panose="00020600040101010101" pitchFamily="18" charset="-122"/>
                          <a:cs typeface="阿里巴巴普惠体 R" panose="00020600040101010101" pitchFamily="18" charset="-122"/>
                        </a:rPr>
                        <a:t>布尔 </a:t>
                      </a:r>
                      <a:r>
                        <a:rPr lang="en-US" altLang="zh-CN" sz="2000" kern="1200" dirty="0">
                          <a:effectLst/>
                          <a:latin typeface="阿里巴巴普惠体 R" panose="00020600040101010101" pitchFamily="18" charset="-122"/>
                          <a:ea typeface="阿里巴巴普惠体 R" panose="00020600040101010101" pitchFamily="18" charset="-122"/>
                          <a:cs typeface="阿里巴巴普惠体 R" panose="00020600040101010101" pitchFamily="18" charset="-122"/>
                        </a:rPr>
                        <a:t>- bool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zh-CN" altLang="en-US" sz="2000" kern="1200" dirty="0">
                          <a:effectLst/>
                          <a:latin typeface="阿里巴巴普惠体 R" panose="00020600040101010101" pitchFamily="18" charset="-122"/>
                          <a:ea typeface="阿里巴巴普惠体 R" panose="00020600040101010101" pitchFamily="18" charset="-122"/>
                          <a:cs typeface="阿里巴巴普惠体 R" panose="00020600040101010101" pitchFamily="18" charset="-122"/>
                        </a:rPr>
                        <a:t>二进制字节流 </a:t>
                      </a:r>
                      <a:r>
                        <a:rPr lang="en-US" altLang="zh-CN" sz="2000" kern="1200" dirty="0">
                          <a:effectLst/>
                          <a:latin typeface="阿里巴巴普惠体 R" panose="00020600040101010101" pitchFamily="18" charset="-122"/>
                          <a:ea typeface="阿里巴巴普惠体 R" panose="00020600040101010101" pitchFamily="18" charset="-122"/>
                          <a:cs typeface="阿里巴巴普惠体 R" panose="00020600040101010101" pitchFamily="18" charset="-122"/>
                        </a:rPr>
                        <a:t>- bytes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zh-CN" altLang="en-US" sz="2000" kern="1200" dirty="0">
                          <a:effectLst/>
                          <a:latin typeface="阿里巴巴普惠体 R" panose="00020600040101010101" pitchFamily="18" charset="-122"/>
                          <a:ea typeface="阿里巴巴普惠体 R" panose="00020600040101010101" pitchFamily="18" charset="-122"/>
                          <a:cs typeface="阿里巴巴普惠体 R" panose="00020600040101010101" pitchFamily="18" charset="-122"/>
                        </a:rPr>
                        <a:t>元组 </a:t>
                      </a:r>
                      <a:r>
                        <a:rPr lang="en-US" altLang="zh-CN" sz="2000" kern="1200" dirty="0">
                          <a:effectLst/>
                          <a:latin typeface="阿里巴巴普惠体 R" panose="00020600040101010101" pitchFamily="18" charset="-122"/>
                          <a:ea typeface="阿里巴巴普惠体 R" panose="00020600040101010101" pitchFamily="18" charset="-122"/>
                          <a:cs typeface="阿里巴巴普惠体 R" panose="00020600040101010101" pitchFamily="18" charset="-122"/>
                        </a:rPr>
                        <a:t>- tuple</a:t>
                      </a:r>
                      <a:endParaRPr lang="zh-CN" altLang="en-US" sz="2000" dirty="0">
                        <a:latin typeface="阿里巴巴普惠体 R" panose="00020600040101010101" pitchFamily="18" charset="-122"/>
                        <a:ea typeface="阿里巴巴普惠体 R" panose="00020600040101010101" pitchFamily="18" charset="-122"/>
                        <a:cs typeface="阿里巴巴普惠体 R" panose="00020600040101010101" pitchFamily="18" charset="-122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zh-CN" altLang="en-US" sz="2000" kern="1200" dirty="0">
                          <a:effectLst/>
                          <a:latin typeface="阿里巴巴普惠体 R" panose="00020600040101010101" pitchFamily="18" charset="-122"/>
                          <a:ea typeface="阿里巴巴普惠体 R" panose="00020600040101010101" pitchFamily="18" charset="-122"/>
                          <a:cs typeface="阿里巴巴普惠体 R" panose="00020600040101010101" pitchFamily="18" charset="-122"/>
                        </a:rPr>
                        <a:t>列表 </a:t>
                      </a:r>
                      <a:r>
                        <a:rPr lang="en-US" altLang="zh-CN" sz="2000" kern="1200" dirty="0">
                          <a:effectLst/>
                          <a:latin typeface="阿里巴巴普惠体 R" panose="00020600040101010101" pitchFamily="18" charset="-122"/>
                          <a:ea typeface="阿里巴巴普惠体 R" panose="00020600040101010101" pitchFamily="18" charset="-122"/>
                          <a:cs typeface="阿里巴巴普惠体 R" panose="00020600040101010101" pitchFamily="18" charset="-122"/>
                        </a:rPr>
                        <a:t>- list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zh-CN" altLang="en-US" sz="2000" kern="1200" dirty="0">
                          <a:effectLst/>
                          <a:latin typeface="阿里巴巴普惠体 R" panose="00020600040101010101" pitchFamily="18" charset="-122"/>
                          <a:ea typeface="阿里巴巴普惠体 R" panose="00020600040101010101" pitchFamily="18" charset="-122"/>
                          <a:cs typeface="阿里巴巴普惠体 R" panose="00020600040101010101" pitchFamily="18" charset="-122"/>
                        </a:rPr>
                        <a:t>字节数组 </a:t>
                      </a:r>
                      <a:r>
                        <a:rPr lang="en-US" altLang="zh-CN" sz="2000" kern="1200" dirty="0">
                          <a:effectLst/>
                          <a:latin typeface="阿里巴巴普惠体 R" panose="00020600040101010101" pitchFamily="18" charset="-122"/>
                          <a:ea typeface="阿里巴巴普惠体 R" panose="00020600040101010101" pitchFamily="18" charset="-122"/>
                          <a:cs typeface="阿里巴巴普惠体 R" panose="00020600040101010101" pitchFamily="18" charset="-122"/>
                        </a:rPr>
                        <a:t>- </a:t>
                      </a:r>
                      <a:r>
                        <a:rPr lang="en-US" altLang="zh-CN" sz="2000" kern="1200" dirty="0" err="1">
                          <a:effectLst/>
                          <a:latin typeface="阿里巴巴普惠体 R" panose="00020600040101010101" pitchFamily="18" charset="-122"/>
                          <a:ea typeface="阿里巴巴普惠体 R" panose="00020600040101010101" pitchFamily="18" charset="-122"/>
                          <a:cs typeface="阿里巴巴普惠体 R" panose="00020600040101010101" pitchFamily="18" charset="-122"/>
                        </a:rPr>
                        <a:t>bytearray</a:t>
                      </a:r>
                      <a:endParaRPr lang="en-US" altLang="zh-CN" sz="2000" kern="1200" dirty="0">
                        <a:effectLst/>
                        <a:latin typeface="阿里巴巴普惠体 R" panose="00020600040101010101" pitchFamily="18" charset="-122"/>
                        <a:ea typeface="阿里巴巴普惠体 R" panose="00020600040101010101" pitchFamily="18" charset="-122"/>
                        <a:cs typeface="阿里巴巴普惠体 R" panose="00020600040101010101" pitchFamily="18" charset="-122"/>
                      </a:endParaRP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zh-CN" altLang="en-US" sz="2000" kern="1200" dirty="0">
                          <a:effectLst/>
                          <a:latin typeface="阿里巴巴普惠体 R" panose="00020600040101010101" pitchFamily="18" charset="-122"/>
                          <a:ea typeface="阿里巴巴普惠体 R" panose="00020600040101010101" pitchFamily="18" charset="-122"/>
                          <a:cs typeface="阿里巴巴普惠体 R" panose="00020600040101010101" pitchFamily="18" charset="-122"/>
                        </a:rPr>
                        <a:t>集合 </a:t>
                      </a:r>
                      <a:r>
                        <a:rPr lang="en-US" altLang="zh-CN" sz="2000" kern="1200" dirty="0">
                          <a:effectLst/>
                          <a:latin typeface="阿里巴巴普惠体 R" panose="00020600040101010101" pitchFamily="18" charset="-122"/>
                          <a:ea typeface="阿里巴巴普惠体 R" panose="00020600040101010101" pitchFamily="18" charset="-122"/>
                          <a:cs typeface="阿里巴巴普惠体 R" panose="00020600040101010101" pitchFamily="18" charset="-122"/>
                        </a:rPr>
                        <a:t>- set</a:t>
                      </a:r>
                      <a:endParaRPr lang="zh-CN" altLang="en-US" sz="2000" dirty="0">
                        <a:latin typeface="阿里巴巴普惠体 R" panose="00020600040101010101" pitchFamily="18" charset="-122"/>
                        <a:ea typeface="阿里巴巴普惠体 R" panose="00020600040101010101" pitchFamily="18" charset="-122"/>
                        <a:cs typeface="阿里巴巴普惠体 R" panose="00020600040101010101" pitchFamily="18" charset="-122"/>
                      </a:endParaRP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85382100"/>
                  </a:ext>
                </a:extLst>
              </a:tr>
            </a:tbl>
          </a:graphicData>
        </a:graphic>
      </p:graphicFrame>
      <p:sp>
        <p:nvSpPr>
          <p:cNvPr id="5" name="矩形 4">
            <a:extLst>
              <a:ext uri="{FF2B5EF4-FFF2-40B4-BE49-F238E27FC236}">
                <a16:creationId xmlns:a16="http://schemas.microsoft.com/office/drawing/2014/main" id="{A193D6B2-74EB-414D-90B1-95AE46B557D4}"/>
              </a:ext>
            </a:extLst>
          </p:cNvPr>
          <p:cNvSpPr/>
          <p:nvPr/>
        </p:nvSpPr>
        <p:spPr>
          <a:xfrm>
            <a:off x="2771800" y="1916832"/>
            <a:ext cx="480131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</a:rPr>
              <a:t>下表列出了我们已经讨论过的全部数据类型：</a:t>
            </a:r>
          </a:p>
        </p:txBody>
      </p:sp>
    </p:spTree>
    <p:extLst>
      <p:ext uri="{BB962C8B-B14F-4D97-AF65-F5344CB8AC3E}">
        <p14:creationId xmlns:p14="http://schemas.microsoft.com/office/powerpoint/2010/main" val="1903642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/>
    </mc:Choice>
    <mc:Fallback xmlns="">
      <p:transition advClick="0"/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E48A9AC-A243-4B87-975A-FE8091DDEE60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8585626" y="5658563"/>
            <a:ext cx="208814" cy="205743"/>
          </a:xfrm>
          <a:prstGeom prst="rect">
            <a:avLst/>
          </a:prstGeom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</a:bodyPr>
          <a:lstStyle>
            <a:defPPr rtl="0">
              <a:defRPr lang="zh-CN"/>
            </a:defPPr>
            <a:lvl1pPr marL="0" algn="ctr" defTabSz="685800" rtl="0" eaLnBrk="1" latinLnBrk="0" hangingPunct="1">
              <a:defRPr sz="900" i="1" kern="1200">
                <a:solidFill>
                  <a:schemeClr val="bg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19B51A1E-902D-48AF-9020-955120F399B6}" type="slidenum">
              <a:rPr lang="en-ZA" altLang="zh-CN" smtClean="0"/>
              <a:pPr/>
              <a:t>26</a:t>
            </a:fld>
            <a:endParaRPr lang="zh-CN" altLang="en-US" noProof="0" dirty="0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C1369C35-DEE7-4C64-85F6-3BEEA7C2F50E}"/>
              </a:ext>
            </a:extLst>
          </p:cNvPr>
          <p:cNvSpPr/>
          <p:nvPr/>
        </p:nvSpPr>
        <p:spPr>
          <a:xfrm>
            <a:off x="1968102" y="314398"/>
            <a:ext cx="2603897" cy="391121"/>
          </a:xfrm>
          <a:prstGeom prst="rect">
            <a:avLst/>
          </a:prstGeom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dirty="0"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</a:rPr>
              <a:t>只读数据类型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A5F56049-C7A4-4E2D-9845-D4AE374097B6}"/>
              </a:ext>
            </a:extLst>
          </p:cNvPr>
          <p:cNvSpPr/>
          <p:nvPr/>
        </p:nvSpPr>
        <p:spPr>
          <a:xfrm>
            <a:off x="1759375" y="4040331"/>
            <a:ext cx="7035065" cy="646331"/>
          </a:xfrm>
          <a:prstGeom prst="rect">
            <a:avLst/>
          </a:prstGeom>
          <a:noFill/>
          <a:ln w="12700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altLang="zh-CN" dirty="0">
                <a:latin typeface="Consolas" panose="020B0609020204030204" pitchFamily="49" charset="0"/>
                <a:ea typeface="阿里巴巴普惠体 R" panose="00020600040101010101" pitchFamily="18" charset="-122"/>
                <a:cs typeface="阿里巴巴普惠体 R" panose="00020600040101010101" pitchFamily="18" charset="-122"/>
              </a:rPr>
              <a:t>(3, 2, 1) - (1, 2, 3)</a:t>
            </a:r>
          </a:p>
          <a:p>
            <a:r>
              <a:rPr lang="en-US" altLang="zh-CN" dirty="0">
                <a:latin typeface="Consolas" panose="020B0609020204030204" pitchFamily="49" charset="0"/>
                <a:ea typeface="阿里巴巴普惠体 R" panose="00020600040101010101" pitchFamily="18" charset="-122"/>
                <a:cs typeface="阿里巴巴普惠体 R" panose="00020600040101010101" pitchFamily="18" charset="-122"/>
              </a:rPr>
              <a:t>string - new string</a:t>
            </a:r>
            <a:endParaRPr lang="zh-CN" altLang="en-US" dirty="0">
              <a:latin typeface="Consolas" panose="020B0609020204030204" pitchFamily="49" charset="0"/>
              <a:ea typeface="阿里巴巴普惠体 R" panose="00020600040101010101" pitchFamily="18" charset="-122"/>
              <a:cs typeface="阿里巴巴普惠体 R" panose="00020600040101010101" pitchFamily="18" charset="-122"/>
            </a:endParaRP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5A923DD2-21AD-4838-92C8-03948A761C10}"/>
              </a:ext>
            </a:extLst>
          </p:cNvPr>
          <p:cNvSpPr txBox="1"/>
          <p:nvPr/>
        </p:nvSpPr>
        <p:spPr>
          <a:xfrm>
            <a:off x="1526367" y="4789276"/>
            <a:ext cx="7214199" cy="1754326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214313" indent="-214313">
              <a:buFont typeface="Arial" panose="020B0604020202020204" pitchFamily="34" charset="0"/>
              <a:buChar char="•"/>
            </a:pPr>
            <a:r>
              <a:rPr lang="zh-CN" altLang="en-US" dirty="0"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</a:rPr>
              <a:t>对于只读类型，编程者完全可以忽略名字绑定这件事，任何赋值操作的最终结果都会跟你的期望一致。</a:t>
            </a:r>
            <a:endParaRPr lang="en-US" altLang="zh-CN" dirty="0">
              <a:latin typeface="阿里巴巴普惠体 R" panose="00020600040101010101" pitchFamily="18" charset="-122"/>
              <a:ea typeface="阿里巴巴普惠体 R" panose="00020600040101010101" pitchFamily="18" charset="-122"/>
              <a:cs typeface="阿里巴巴普惠体 R" panose="00020600040101010101" pitchFamily="18" charset="-122"/>
            </a:endParaRPr>
          </a:p>
          <a:p>
            <a:pPr marL="214313" indent="-214313">
              <a:buFont typeface="Arial" panose="020B0604020202020204" pitchFamily="34" charset="0"/>
              <a:buChar char="•"/>
            </a:pPr>
            <a:r>
              <a:rPr lang="en-US" altLang="zh-CN" dirty="0" err="1"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</a:rPr>
              <a:t>valuesCopy</a:t>
            </a:r>
            <a:r>
              <a:rPr lang="zh-CN" altLang="en-US" dirty="0"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</a:rPr>
              <a:t>与</a:t>
            </a:r>
            <a:r>
              <a:rPr lang="en-US" altLang="zh-CN" dirty="0"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</a:rPr>
              <a:t>values, </a:t>
            </a:r>
            <a:r>
              <a:rPr lang="en-US" altLang="zh-CN" dirty="0" err="1"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</a:rPr>
              <a:t>stringCopy</a:t>
            </a:r>
            <a:r>
              <a:rPr lang="zh-CN" altLang="en-US" dirty="0"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</a:rPr>
              <a:t>与</a:t>
            </a:r>
            <a:r>
              <a:rPr lang="en-US" altLang="zh-CN" dirty="0"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</a:rPr>
              <a:t>string</a:t>
            </a:r>
            <a:r>
              <a:rPr lang="zh-CN" altLang="en-US" dirty="0"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</a:rPr>
              <a:t>都曾经同时绑定到同一个只读类型对象。由于对象是只读的，所以对象无法修改，任何对</a:t>
            </a:r>
            <a:r>
              <a:rPr lang="en-US" altLang="zh-CN" dirty="0" err="1"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</a:rPr>
              <a:t>valuesCopy</a:t>
            </a:r>
            <a:r>
              <a:rPr lang="en-US" altLang="zh-CN" dirty="0"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</a:rPr>
              <a:t>, </a:t>
            </a:r>
            <a:r>
              <a:rPr lang="en-US" altLang="zh-CN" dirty="0" err="1"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</a:rPr>
              <a:t>stringCopy</a:t>
            </a:r>
            <a:r>
              <a:rPr lang="zh-CN" altLang="en-US" dirty="0"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</a:rPr>
              <a:t>的赋值都将创建一个新对象，</a:t>
            </a:r>
            <a:r>
              <a:rPr lang="en-US" altLang="zh-CN" dirty="0"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</a:rPr>
              <a:t>values</a:t>
            </a:r>
            <a:r>
              <a:rPr lang="zh-CN" altLang="en-US" dirty="0"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</a:rPr>
              <a:t>，</a:t>
            </a:r>
            <a:r>
              <a:rPr lang="en-US" altLang="zh-CN" dirty="0"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</a:rPr>
              <a:t>string</a:t>
            </a:r>
            <a:r>
              <a:rPr lang="zh-CN" altLang="en-US" dirty="0"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</a:rPr>
              <a:t>名字绑定的原有对象不受影响。</a:t>
            </a:r>
            <a:endParaRPr lang="en-US" altLang="zh-CN" dirty="0">
              <a:latin typeface="阿里巴巴普惠体 R" panose="00020600040101010101" pitchFamily="18" charset="-122"/>
              <a:ea typeface="阿里巴巴普惠体 R" panose="00020600040101010101" pitchFamily="18" charset="-122"/>
              <a:cs typeface="阿里巴巴普惠体 R" panose="00020600040101010101" pitchFamily="18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4639EC39-0BA6-4614-BEC9-B155893BB739}"/>
              </a:ext>
            </a:extLst>
          </p:cNvPr>
          <p:cNvSpPr/>
          <p:nvPr/>
        </p:nvSpPr>
        <p:spPr>
          <a:xfrm>
            <a:off x="1726799" y="993694"/>
            <a:ext cx="7035064" cy="2862322"/>
          </a:xfrm>
          <a:prstGeom prst="rect">
            <a:avLst/>
          </a:prstGeom>
          <a:ln w="1905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altLang="zh-CN" dirty="0">
                <a:solidFill>
                  <a:srgbClr val="008000"/>
                </a:solidFill>
                <a:latin typeface="Consolas" panose="020B0609020204030204" pitchFamily="49" charset="0"/>
              </a:rPr>
              <a:t>#readonly.py</a:t>
            </a:r>
            <a:endParaRPr lang="en-US" altLang="zh-CN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values = (</a:t>
            </a:r>
            <a:r>
              <a:rPr lang="en-US" altLang="zh-CN" dirty="0">
                <a:solidFill>
                  <a:srgbClr val="09885A"/>
                </a:solidFill>
                <a:latin typeface="Consolas" panose="020B0609020204030204" pitchFamily="49" charset="0"/>
              </a:rPr>
              <a:t>3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,</a:t>
            </a:r>
            <a:r>
              <a:rPr lang="en-US" altLang="zh-CN" dirty="0">
                <a:solidFill>
                  <a:srgbClr val="09885A"/>
                </a:solidFill>
                <a:latin typeface="Consolas" panose="020B0609020204030204" pitchFamily="49" charset="0"/>
              </a:rPr>
              <a:t>2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,</a:t>
            </a:r>
            <a:r>
              <a:rPr lang="en-US" altLang="zh-CN" dirty="0">
                <a:solidFill>
                  <a:srgbClr val="09885A"/>
                </a:solidFill>
                <a:latin typeface="Consolas" panose="020B0609020204030204" pitchFamily="49" charset="0"/>
              </a:rPr>
              <a:t>1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en-US" altLang="zh-CN" dirty="0" err="1">
                <a:solidFill>
                  <a:srgbClr val="000000"/>
                </a:solidFill>
                <a:latin typeface="Consolas" panose="020B0609020204030204" pitchFamily="49" charset="0"/>
              </a:rPr>
              <a:t>valuesCopy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 = values</a:t>
            </a:r>
          </a:p>
          <a:p>
            <a:r>
              <a:rPr lang="en-US" altLang="zh-CN" dirty="0" err="1">
                <a:solidFill>
                  <a:srgbClr val="000000"/>
                </a:solidFill>
                <a:latin typeface="Consolas" panose="020B0609020204030204" pitchFamily="49" charset="0"/>
              </a:rPr>
              <a:t>valuesCopy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 = (</a:t>
            </a:r>
            <a:r>
              <a:rPr lang="en-US" altLang="zh-CN" dirty="0">
                <a:solidFill>
                  <a:srgbClr val="09885A"/>
                </a:solidFill>
                <a:latin typeface="Consolas" panose="020B0609020204030204" pitchFamily="49" charset="0"/>
              </a:rPr>
              <a:t>1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,</a:t>
            </a:r>
            <a:r>
              <a:rPr lang="en-US" altLang="zh-CN" dirty="0">
                <a:solidFill>
                  <a:srgbClr val="09885A"/>
                </a:solidFill>
                <a:latin typeface="Consolas" panose="020B0609020204030204" pitchFamily="49" charset="0"/>
              </a:rPr>
              <a:t>2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,</a:t>
            </a:r>
            <a:r>
              <a:rPr lang="en-US" altLang="zh-CN" dirty="0">
                <a:solidFill>
                  <a:srgbClr val="09885A"/>
                </a:solidFill>
                <a:latin typeface="Consolas" panose="020B0609020204030204" pitchFamily="49" charset="0"/>
              </a:rPr>
              <a:t>3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en-US" altLang="zh-CN" dirty="0">
                <a:solidFill>
                  <a:srgbClr val="795E26"/>
                </a:solidFill>
                <a:latin typeface="Consolas" panose="020B0609020204030204" pitchFamily="49" charset="0"/>
              </a:rPr>
              <a:t>print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(values, </a:t>
            </a:r>
            <a:r>
              <a:rPr lang="en-US" altLang="zh-CN" dirty="0">
                <a:solidFill>
                  <a:srgbClr val="A31515"/>
                </a:solidFill>
                <a:latin typeface="Consolas" panose="020B0609020204030204" pitchFamily="49" charset="0"/>
              </a:rPr>
              <a:t>"-"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altLang="zh-CN" dirty="0" err="1">
                <a:solidFill>
                  <a:srgbClr val="000000"/>
                </a:solidFill>
                <a:latin typeface="Consolas" panose="020B0609020204030204" pitchFamily="49" charset="0"/>
              </a:rPr>
              <a:t>valuesCopy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b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string = </a:t>
            </a:r>
            <a:r>
              <a:rPr lang="en-US" altLang="zh-CN" dirty="0">
                <a:solidFill>
                  <a:srgbClr val="A31515"/>
                </a:solidFill>
                <a:latin typeface="Consolas" panose="020B0609020204030204" pitchFamily="49" charset="0"/>
              </a:rPr>
              <a:t>"string"</a:t>
            </a:r>
            <a:endParaRPr lang="en-US" altLang="zh-CN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altLang="zh-CN" dirty="0" err="1">
                <a:solidFill>
                  <a:srgbClr val="000000"/>
                </a:solidFill>
                <a:latin typeface="Consolas" panose="020B0609020204030204" pitchFamily="49" charset="0"/>
              </a:rPr>
              <a:t>stringCopy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 = string</a:t>
            </a:r>
          </a:p>
          <a:p>
            <a:r>
              <a:rPr lang="en-US" altLang="zh-CN" dirty="0" err="1">
                <a:solidFill>
                  <a:srgbClr val="000000"/>
                </a:solidFill>
                <a:latin typeface="Consolas" panose="020B0609020204030204" pitchFamily="49" charset="0"/>
              </a:rPr>
              <a:t>stringCopy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altLang="zh-CN" dirty="0">
                <a:solidFill>
                  <a:srgbClr val="A31515"/>
                </a:solidFill>
                <a:latin typeface="Consolas" panose="020B0609020204030204" pitchFamily="49" charset="0"/>
              </a:rPr>
              <a:t>"new string"</a:t>
            </a:r>
            <a:endParaRPr lang="en-US" altLang="zh-CN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altLang="zh-CN" dirty="0">
                <a:solidFill>
                  <a:srgbClr val="795E26"/>
                </a:solidFill>
                <a:latin typeface="Consolas" panose="020B0609020204030204" pitchFamily="49" charset="0"/>
              </a:rPr>
              <a:t>print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(string, </a:t>
            </a:r>
            <a:r>
              <a:rPr lang="en-US" altLang="zh-CN" dirty="0">
                <a:solidFill>
                  <a:srgbClr val="A31515"/>
                </a:solidFill>
                <a:latin typeface="Consolas" panose="020B0609020204030204" pitchFamily="49" charset="0"/>
              </a:rPr>
              <a:t>"-"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altLang="zh-CN" dirty="0" err="1">
                <a:solidFill>
                  <a:srgbClr val="000000"/>
                </a:solidFill>
                <a:latin typeface="Consolas" panose="020B0609020204030204" pitchFamily="49" charset="0"/>
              </a:rPr>
              <a:t>stringCopy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8072382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/>
    </mc:Choice>
    <mc:Fallback xmlns="">
      <p:transition advClick="0"/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E48A9AC-A243-4B87-975A-FE8091DDEE60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8585626" y="5658563"/>
            <a:ext cx="208814" cy="205743"/>
          </a:xfrm>
          <a:prstGeom prst="rect">
            <a:avLst/>
          </a:prstGeom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</a:bodyPr>
          <a:lstStyle>
            <a:defPPr rtl="0">
              <a:defRPr lang="zh-CN"/>
            </a:defPPr>
            <a:lvl1pPr marL="0" algn="ctr" defTabSz="685800" rtl="0" eaLnBrk="1" latinLnBrk="0" hangingPunct="1">
              <a:defRPr sz="900" i="1" kern="1200">
                <a:solidFill>
                  <a:schemeClr val="bg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19B51A1E-902D-48AF-9020-955120F399B6}" type="slidenum">
              <a:rPr lang="en-ZA" altLang="zh-CN" smtClean="0"/>
              <a:pPr/>
              <a:t>27</a:t>
            </a:fld>
            <a:endParaRPr lang="zh-CN" altLang="en-US" noProof="0" dirty="0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C1369C35-DEE7-4C64-85F6-3BEEA7C2F50E}"/>
              </a:ext>
            </a:extLst>
          </p:cNvPr>
          <p:cNvSpPr/>
          <p:nvPr/>
        </p:nvSpPr>
        <p:spPr>
          <a:xfrm>
            <a:off x="1907704" y="403024"/>
            <a:ext cx="2603897" cy="391121"/>
          </a:xfrm>
          <a:prstGeom prst="rect">
            <a:avLst/>
          </a:prstGeom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dirty="0"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</a:rPr>
              <a:t>可修改数据类型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A5F56049-C7A4-4E2D-9845-D4AE374097B6}"/>
              </a:ext>
            </a:extLst>
          </p:cNvPr>
          <p:cNvSpPr/>
          <p:nvPr/>
        </p:nvSpPr>
        <p:spPr>
          <a:xfrm>
            <a:off x="1654968" y="3152980"/>
            <a:ext cx="7035065" cy="646331"/>
          </a:xfrm>
          <a:prstGeom prst="rect">
            <a:avLst/>
          </a:prstGeom>
          <a:noFill/>
          <a:ln w="12700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altLang="zh-CN" dirty="0">
                <a:latin typeface="Consolas" panose="020B0609020204030204" pitchFamily="49" charset="0"/>
                <a:ea typeface="阿里巴巴普惠体 R" panose="00020600040101010101" pitchFamily="18" charset="-122"/>
                <a:cs typeface="阿里巴巴普惠体 R" panose="00020600040101010101" pitchFamily="18" charset="-122"/>
              </a:rPr>
              <a:t>['10000', 'Tom Henry', 'male', 47, 'CEO']</a:t>
            </a:r>
          </a:p>
          <a:p>
            <a:r>
              <a:rPr lang="en-US" altLang="zh-CN" dirty="0">
                <a:latin typeface="Consolas" panose="020B0609020204030204" pitchFamily="49" charset="0"/>
                <a:ea typeface="阿里巴巴普惠体 R" panose="00020600040101010101" pitchFamily="18" charset="-122"/>
                <a:cs typeface="阿里巴巴普惠体 R" panose="00020600040101010101" pitchFamily="18" charset="-122"/>
              </a:rPr>
              <a:t>['10000', 'Tom Henry', 'male', 47, 'CEO']</a:t>
            </a:r>
            <a:endParaRPr lang="zh-CN" altLang="en-US" dirty="0">
              <a:latin typeface="Consolas" panose="020B0609020204030204" pitchFamily="49" charset="0"/>
              <a:ea typeface="阿里巴巴普惠体 R" panose="00020600040101010101" pitchFamily="18" charset="-122"/>
              <a:cs typeface="阿里巴巴普惠体 R" panose="00020600040101010101" pitchFamily="18" charset="-122"/>
            </a:endParaRP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5A923DD2-21AD-4838-92C8-03948A761C10}"/>
              </a:ext>
            </a:extLst>
          </p:cNvPr>
          <p:cNvSpPr txBox="1"/>
          <p:nvPr/>
        </p:nvSpPr>
        <p:spPr>
          <a:xfrm>
            <a:off x="1550562" y="4509120"/>
            <a:ext cx="7035064" cy="2031325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214313" indent="-214313">
              <a:buFont typeface="Arial" panose="020B0604020202020204" pitchFamily="34" charset="0"/>
              <a:buChar char="•"/>
            </a:pPr>
            <a:r>
              <a:rPr lang="zh-CN" altLang="en-US" dirty="0"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</a:rPr>
              <a:t>解开疑惑的时间到了。</a:t>
            </a:r>
            <a:endParaRPr lang="en-US" altLang="zh-CN" dirty="0">
              <a:latin typeface="阿里巴巴普惠体 R" panose="00020600040101010101" pitchFamily="18" charset="-122"/>
              <a:ea typeface="阿里巴巴普惠体 R" panose="00020600040101010101" pitchFamily="18" charset="-122"/>
              <a:cs typeface="阿里巴巴普惠体 R" panose="00020600040101010101" pitchFamily="18" charset="-122"/>
            </a:endParaRPr>
          </a:p>
          <a:p>
            <a:pPr marL="214313" indent="-214313">
              <a:buFont typeface="Arial" panose="020B0604020202020204" pitchFamily="34" charset="0"/>
              <a:buChar char="•"/>
            </a:pPr>
            <a:r>
              <a:rPr lang="zh-CN" altLang="en-US" dirty="0"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</a:rPr>
              <a:t>第</a:t>
            </a:r>
            <a:r>
              <a:rPr lang="en-US" altLang="zh-CN" dirty="0"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</a:rPr>
              <a:t>2</a:t>
            </a:r>
            <a:r>
              <a:rPr lang="zh-CN" altLang="en-US" dirty="0"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</a:rPr>
              <a:t>行</a:t>
            </a:r>
            <a:r>
              <a:rPr lang="en-US" altLang="zh-CN" dirty="0"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</a:rPr>
              <a:t>person2 = person1</a:t>
            </a:r>
            <a:r>
              <a:rPr lang="zh-CN" altLang="en-US" dirty="0"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</a:rPr>
              <a:t>之后，两个名字事实上绑定到了同一个列表对象。由于列表是可修改类型，对</a:t>
            </a:r>
            <a:r>
              <a:rPr lang="en-US" altLang="zh-CN" dirty="0"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</a:rPr>
              <a:t>person2</a:t>
            </a:r>
            <a:r>
              <a:rPr lang="zh-CN" altLang="en-US" dirty="0"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</a:rPr>
              <a:t>的修改事实上是对</a:t>
            </a:r>
            <a:r>
              <a:rPr lang="en-US" altLang="zh-CN" dirty="0"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</a:rPr>
              <a:t>person1</a:t>
            </a:r>
            <a:r>
              <a:rPr lang="zh-CN" altLang="en-US" dirty="0"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</a:rPr>
              <a:t>和</a:t>
            </a:r>
            <a:r>
              <a:rPr lang="en-US" altLang="zh-CN" dirty="0"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</a:rPr>
              <a:t>person2</a:t>
            </a:r>
            <a:r>
              <a:rPr lang="zh-CN" altLang="en-US" dirty="0"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</a:rPr>
              <a:t>共同绑定的同一个对象的修改。</a:t>
            </a:r>
            <a:endParaRPr lang="en-US" altLang="zh-CN" dirty="0">
              <a:latin typeface="阿里巴巴普惠体 R" panose="00020600040101010101" pitchFamily="18" charset="-122"/>
              <a:ea typeface="阿里巴巴普惠体 R" panose="00020600040101010101" pitchFamily="18" charset="-122"/>
              <a:cs typeface="阿里巴巴普惠体 R" panose="00020600040101010101" pitchFamily="18" charset="-122"/>
            </a:endParaRPr>
          </a:p>
          <a:p>
            <a:pPr marL="214313" indent="-214313">
              <a:buFont typeface="Arial" panose="020B0604020202020204" pitchFamily="34" charset="0"/>
              <a:buChar char="•"/>
            </a:pPr>
            <a:r>
              <a:rPr lang="en-US" altLang="zh-CN" dirty="0"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</a:rPr>
              <a:t>Python</a:t>
            </a:r>
            <a:r>
              <a:rPr lang="zh-CN" altLang="en-US" dirty="0"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</a:rPr>
              <a:t>的名字绑定机制可以快速高效地完成函数的参数传递 </a:t>
            </a:r>
            <a:r>
              <a:rPr lang="en-US" altLang="zh-CN" dirty="0"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  <a:sym typeface="Wingdings" panose="05000000000000000000" pitchFamily="2" charset="2"/>
              </a:rPr>
              <a:t> </a:t>
            </a:r>
            <a:r>
              <a:rPr lang="zh-CN" altLang="en-US" dirty="0">
                <a:solidFill>
                  <a:srgbClr val="FF0000"/>
                </a:solidFill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  <a:sym typeface="Wingdings" panose="05000000000000000000" pitchFamily="2" charset="2"/>
              </a:rPr>
              <a:t>函数内对形参的修改实际上就是对外部实参的修改</a:t>
            </a:r>
            <a:r>
              <a:rPr lang="zh-CN" altLang="en-US" dirty="0"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  <a:sym typeface="Wingdings" panose="05000000000000000000" pitchFamily="2" charset="2"/>
              </a:rPr>
              <a:t>。</a:t>
            </a:r>
            <a:endParaRPr lang="en-US" altLang="zh-CN" dirty="0">
              <a:latin typeface="阿里巴巴普惠体 R" panose="00020600040101010101" pitchFamily="18" charset="-122"/>
              <a:ea typeface="阿里巴巴普惠体 R" panose="00020600040101010101" pitchFamily="18" charset="-122"/>
              <a:cs typeface="阿里巴巴普惠体 R" panose="00020600040101010101" pitchFamily="18" charset="-122"/>
            </a:endParaRPr>
          </a:p>
          <a:p>
            <a:pPr marL="214313" indent="-214313">
              <a:buFont typeface="Arial" panose="020B0604020202020204" pitchFamily="34" charset="0"/>
              <a:buChar char="•"/>
            </a:pPr>
            <a:endParaRPr lang="en-US" altLang="zh-CN" dirty="0">
              <a:latin typeface="阿里巴巴普惠体 R" panose="00020600040101010101" pitchFamily="18" charset="-122"/>
              <a:ea typeface="阿里巴巴普惠体 R" panose="00020600040101010101" pitchFamily="18" charset="-122"/>
              <a:cs typeface="阿里巴巴普惠体 R" panose="00020600040101010101" pitchFamily="18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4FDA0C8-CE66-4E52-A5C1-0CBF4C8259D1}"/>
              </a:ext>
            </a:extLst>
          </p:cNvPr>
          <p:cNvSpPr/>
          <p:nvPr/>
        </p:nvSpPr>
        <p:spPr>
          <a:xfrm>
            <a:off x="1730166" y="1026709"/>
            <a:ext cx="7035065" cy="1754326"/>
          </a:xfrm>
          <a:prstGeom prst="rect">
            <a:avLst/>
          </a:prstGeom>
          <a:ln w="1905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altLang="zh-CN" dirty="0">
                <a:solidFill>
                  <a:srgbClr val="008000"/>
                </a:solidFill>
                <a:latin typeface="Consolas" panose="020B0609020204030204" pitchFamily="49" charset="0"/>
              </a:rPr>
              <a:t>#editable.py</a:t>
            </a:r>
            <a:endParaRPr lang="en-US" altLang="zh-CN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person1 = [</a:t>
            </a:r>
            <a:r>
              <a:rPr lang="en-US" altLang="zh-CN" dirty="0">
                <a:solidFill>
                  <a:srgbClr val="A31515"/>
                </a:solidFill>
                <a:latin typeface="Consolas" panose="020B0609020204030204" pitchFamily="49" charset="0"/>
              </a:rPr>
              <a:t>'10000'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altLang="zh-CN" dirty="0">
                <a:solidFill>
                  <a:srgbClr val="A31515"/>
                </a:solidFill>
                <a:latin typeface="Consolas" panose="020B0609020204030204" pitchFamily="49" charset="0"/>
              </a:rPr>
              <a:t>'Jack Ma'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altLang="zh-CN" dirty="0">
                <a:solidFill>
                  <a:srgbClr val="A31515"/>
                </a:solidFill>
                <a:latin typeface="Consolas" panose="020B0609020204030204" pitchFamily="49" charset="0"/>
              </a:rPr>
              <a:t>'male'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altLang="zh-CN" dirty="0">
                <a:solidFill>
                  <a:srgbClr val="09885A"/>
                </a:solidFill>
                <a:latin typeface="Consolas" panose="020B0609020204030204" pitchFamily="49" charset="0"/>
              </a:rPr>
              <a:t>47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altLang="zh-CN" dirty="0">
                <a:solidFill>
                  <a:srgbClr val="A31515"/>
                </a:solidFill>
                <a:latin typeface="Consolas" panose="020B0609020204030204" pitchFamily="49" charset="0"/>
              </a:rPr>
              <a:t>'CEO'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]</a:t>
            </a:r>
          </a:p>
          <a:p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person2 = person1</a:t>
            </a:r>
          </a:p>
          <a:p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person2[</a:t>
            </a:r>
            <a:r>
              <a:rPr lang="en-US" altLang="zh-CN" dirty="0">
                <a:solidFill>
                  <a:srgbClr val="09885A"/>
                </a:solidFill>
                <a:latin typeface="Consolas" panose="020B0609020204030204" pitchFamily="49" charset="0"/>
              </a:rPr>
              <a:t>1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] = </a:t>
            </a:r>
            <a:r>
              <a:rPr lang="en-US" altLang="zh-CN" dirty="0">
                <a:solidFill>
                  <a:srgbClr val="A31515"/>
                </a:solidFill>
                <a:latin typeface="Consolas" panose="020B0609020204030204" pitchFamily="49" charset="0"/>
              </a:rPr>
              <a:t>"Tom Henry"</a:t>
            </a:r>
            <a:endParaRPr lang="en-US" altLang="zh-CN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altLang="zh-CN" dirty="0">
                <a:solidFill>
                  <a:srgbClr val="795E26"/>
                </a:solidFill>
                <a:latin typeface="Consolas" panose="020B0609020204030204" pitchFamily="49" charset="0"/>
              </a:rPr>
              <a:t>print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(person1)</a:t>
            </a:r>
          </a:p>
          <a:p>
            <a:r>
              <a:rPr lang="en-US" altLang="zh-CN" dirty="0">
                <a:solidFill>
                  <a:srgbClr val="795E26"/>
                </a:solidFill>
                <a:latin typeface="Consolas" panose="020B0609020204030204" pitchFamily="49" charset="0"/>
              </a:rPr>
              <a:t>print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(person2)</a:t>
            </a:r>
          </a:p>
        </p:txBody>
      </p:sp>
    </p:spTree>
    <p:extLst>
      <p:ext uri="{BB962C8B-B14F-4D97-AF65-F5344CB8AC3E}">
        <p14:creationId xmlns:p14="http://schemas.microsoft.com/office/powerpoint/2010/main" val="6481780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/>
    </mc:Choice>
    <mc:Fallback xmlns="">
      <p:transition advClick="0"/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E48A9AC-A243-4B87-975A-FE8091DDEE60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8585626" y="5658563"/>
            <a:ext cx="208814" cy="205743"/>
          </a:xfrm>
          <a:prstGeom prst="rect">
            <a:avLst/>
          </a:prstGeom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</a:bodyPr>
          <a:lstStyle>
            <a:defPPr rtl="0">
              <a:defRPr lang="zh-CN"/>
            </a:defPPr>
            <a:lvl1pPr marL="0" algn="ctr" defTabSz="685800" rtl="0" eaLnBrk="1" latinLnBrk="0" hangingPunct="1">
              <a:defRPr sz="900" i="1" kern="1200">
                <a:solidFill>
                  <a:schemeClr val="bg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19B51A1E-902D-48AF-9020-955120F399B6}" type="slidenum">
              <a:rPr lang="en-ZA" altLang="zh-CN" smtClean="0"/>
              <a:pPr/>
              <a:t>28</a:t>
            </a:fld>
            <a:endParaRPr lang="zh-CN" altLang="en-US" noProof="0" dirty="0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C1369C35-DEE7-4C64-85F6-3BEEA7C2F50E}"/>
              </a:ext>
            </a:extLst>
          </p:cNvPr>
          <p:cNvSpPr/>
          <p:nvPr/>
        </p:nvSpPr>
        <p:spPr>
          <a:xfrm flipH="1">
            <a:off x="382135" y="332656"/>
            <a:ext cx="504055" cy="3715466"/>
          </a:xfrm>
          <a:prstGeom prst="rect">
            <a:avLst/>
          </a:prstGeom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dirty="0"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</a:rPr>
              <a:t>可修改数据类型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A5F56049-C7A4-4E2D-9845-D4AE374097B6}"/>
              </a:ext>
            </a:extLst>
          </p:cNvPr>
          <p:cNvSpPr/>
          <p:nvPr/>
        </p:nvSpPr>
        <p:spPr>
          <a:xfrm>
            <a:off x="1608735" y="4633658"/>
            <a:ext cx="7081298" cy="923330"/>
          </a:xfrm>
          <a:prstGeom prst="rect">
            <a:avLst/>
          </a:prstGeom>
          <a:noFill/>
          <a:ln w="12700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altLang="zh-CN" dirty="0">
                <a:latin typeface="Consolas" panose="020B0609020204030204" pitchFamily="49" charset="0"/>
                <a:ea typeface="阿里巴巴普惠体 R" panose="00020600040101010101" pitchFamily="18" charset="-122"/>
                <a:cs typeface="阿里巴巴普惠体 R" panose="00020600040101010101" pitchFamily="18" charset="-122"/>
              </a:rPr>
              <a:t>2090502934232 - 2090502931208 - 2090502950960</a:t>
            </a:r>
          </a:p>
          <a:p>
            <a:r>
              <a:rPr lang="en-US" altLang="zh-CN" dirty="0">
                <a:latin typeface="Consolas" panose="020B0609020204030204" pitchFamily="49" charset="0"/>
                <a:ea typeface="阿里巴巴普惠体 R" panose="00020600040101010101" pitchFamily="18" charset="-122"/>
                <a:cs typeface="阿里巴巴普惠体 R" panose="00020600040101010101" pitchFamily="18" charset="-122"/>
              </a:rPr>
              <a:t>2090503871624 - 2090503792584 - 2090503872008 - 2090503871560 - 2090503871880</a:t>
            </a:r>
            <a:endParaRPr lang="zh-CN" altLang="en-US" dirty="0">
              <a:latin typeface="Consolas" panose="020B0609020204030204" pitchFamily="49" charset="0"/>
              <a:ea typeface="阿里巴巴普惠体 R" panose="00020600040101010101" pitchFamily="18" charset="-122"/>
              <a:cs typeface="阿里巴巴普惠体 R" panose="00020600040101010101" pitchFamily="18" charset="-122"/>
            </a:endParaRP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5A923DD2-21AD-4838-92C8-03948A761C10}"/>
              </a:ext>
            </a:extLst>
          </p:cNvPr>
          <p:cNvSpPr txBox="1"/>
          <p:nvPr/>
        </p:nvSpPr>
        <p:spPr>
          <a:xfrm>
            <a:off x="1599201" y="5817559"/>
            <a:ext cx="8379728" cy="1200329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214313" indent="-214313">
              <a:buFont typeface="Arial" panose="020B0604020202020204" pitchFamily="34" charset="0"/>
              <a:buChar char="•"/>
            </a:pPr>
            <a:r>
              <a:rPr lang="zh-CN" altLang="en-US" dirty="0"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</a:rPr>
              <a:t>对象的</a:t>
            </a:r>
            <a:r>
              <a:rPr lang="en-US" altLang="zh-CN" dirty="0"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</a:rPr>
              <a:t>copy()</a:t>
            </a:r>
            <a:r>
              <a:rPr lang="zh-CN" altLang="en-US" dirty="0"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</a:rPr>
              <a:t>函数；</a:t>
            </a:r>
            <a:endParaRPr lang="en-US" altLang="zh-CN" dirty="0">
              <a:latin typeface="阿里巴巴普惠体 R" panose="00020600040101010101" pitchFamily="18" charset="-122"/>
              <a:ea typeface="阿里巴巴普惠体 R" panose="00020600040101010101" pitchFamily="18" charset="-122"/>
              <a:cs typeface="阿里巴巴普惠体 R" panose="00020600040101010101" pitchFamily="18" charset="-122"/>
            </a:endParaRPr>
          </a:p>
          <a:p>
            <a:pPr marL="214313" indent="-214313">
              <a:buFont typeface="Arial" panose="020B0604020202020204" pitchFamily="34" charset="0"/>
              <a:buChar char="•"/>
            </a:pPr>
            <a:r>
              <a:rPr lang="zh-CN" altLang="en-US" dirty="0"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</a:rPr>
              <a:t>序列的切片；</a:t>
            </a:r>
            <a:endParaRPr lang="en-US" altLang="zh-CN" dirty="0">
              <a:latin typeface="阿里巴巴普惠体 R" panose="00020600040101010101" pitchFamily="18" charset="-122"/>
              <a:ea typeface="阿里巴巴普惠体 R" panose="00020600040101010101" pitchFamily="18" charset="-122"/>
              <a:cs typeface="阿里巴巴普惠体 R" panose="00020600040101010101" pitchFamily="18" charset="-122"/>
            </a:endParaRPr>
          </a:p>
          <a:p>
            <a:pPr marL="214313" indent="-214313">
              <a:buFont typeface="Arial" panose="020B0604020202020204" pitchFamily="34" charset="0"/>
              <a:buChar char="•"/>
            </a:pPr>
            <a:r>
              <a:rPr lang="en-US" altLang="zh-CN" dirty="0" err="1"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</a:rPr>
              <a:t>copy.copy</a:t>
            </a:r>
            <a:r>
              <a:rPr lang="en-US" altLang="zh-CN" dirty="0"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</a:rPr>
              <a:t>(),  </a:t>
            </a:r>
            <a:r>
              <a:rPr lang="en-US" altLang="zh-CN" dirty="0" err="1"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</a:rPr>
              <a:t>copy.deepcopy</a:t>
            </a:r>
            <a:r>
              <a:rPr lang="en-US" altLang="zh-CN" dirty="0"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</a:rPr>
              <a:t>()</a:t>
            </a:r>
            <a:r>
              <a:rPr lang="zh-CN" altLang="en-US" dirty="0"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</a:rPr>
              <a:t>都可以创建对象的独立复制品。</a:t>
            </a:r>
            <a:r>
              <a:rPr lang="en-US" altLang="zh-CN" dirty="0"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</a:rPr>
              <a:t> </a:t>
            </a:r>
          </a:p>
          <a:p>
            <a:pPr marL="214313" indent="-214313">
              <a:buFont typeface="Arial" panose="020B0604020202020204" pitchFamily="34" charset="0"/>
              <a:buChar char="•"/>
            </a:pPr>
            <a:endParaRPr lang="en-US" altLang="zh-CN" dirty="0">
              <a:latin typeface="阿里巴巴普惠体 R" panose="00020600040101010101" pitchFamily="18" charset="-122"/>
              <a:ea typeface="阿里巴巴普惠体 R" panose="00020600040101010101" pitchFamily="18" charset="-122"/>
              <a:cs typeface="阿里巴巴普惠体 R" panose="00020600040101010101" pitchFamily="18" charset="-122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7C07BF14-0E53-4DF8-B568-54726BB91B94}"/>
              </a:ext>
            </a:extLst>
          </p:cNvPr>
          <p:cNvSpPr/>
          <p:nvPr/>
        </p:nvSpPr>
        <p:spPr>
          <a:xfrm>
            <a:off x="1680567" y="93527"/>
            <a:ext cx="7081298" cy="4247317"/>
          </a:xfrm>
          <a:prstGeom prst="rect">
            <a:avLst/>
          </a:prstGeom>
          <a:ln w="1905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altLang="zh-CN" dirty="0">
                <a:solidFill>
                  <a:srgbClr val="008000"/>
                </a:solidFill>
                <a:latin typeface="Consolas" panose="020B0609020204030204" pitchFamily="49" charset="0"/>
              </a:rPr>
              <a:t>#copy_deep.py</a:t>
            </a:r>
            <a:endParaRPr lang="en-US" altLang="zh-CN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altLang="zh-CN" dirty="0">
                <a:solidFill>
                  <a:srgbClr val="AF00DB"/>
                </a:solidFill>
                <a:latin typeface="Consolas" panose="020B0609020204030204" pitchFamily="49" charset="0"/>
              </a:rPr>
              <a:t>import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 copy</a:t>
            </a:r>
          </a:p>
          <a:p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chars = </a:t>
            </a:r>
            <a:r>
              <a:rPr lang="en-US" altLang="zh-CN" dirty="0" err="1">
                <a:solidFill>
                  <a:srgbClr val="267F99"/>
                </a:solidFill>
                <a:latin typeface="Consolas" panose="020B0609020204030204" pitchFamily="49" charset="0"/>
              </a:rPr>
              <a:t>bytearray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altLang="zh-CN" dirty="0" err="1">
                <a:solidFill>
                  <a:srgbClr val="0000FF"/>
                </a:solidFill>
                <a:latin typeface="Consolas" panose="020B0609020204030204" pitchFamily="49" charset="0"/>
              </a:rPr>
              <a:t>b</a:t>
            </a:r>
            <a:r>
              <a:rPr lang="en-US" altLang="zh-CN" dirty="0" err="1">
                <a:solidFill>
                  <a:srgbClr val="A31515"/>
                </a:solidFill>
                <a:latin typeface="Consolas" panose="020B0609020204030204" pitchFamily="49" charset="0"/>
              </a:rPr>
              <a:t>'abcdefghijklmn</a:t>
            </a:r>
            <a:r>
              <a:rPr lang="en-US" altLang="zh-CN" dirty="0">
                <a:solidFill>
                  <a:srgbClr val="A31515"/>
                </a:solidFill>
                <a:latin typeface="Consolas" panose="020B0609020204030204" pitchFamily="49" charset="0"/>
              </a:rPr>
              <a:t>'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en-US" altLang="zh-CN" dirty="0" err="1">
                <a:solidFill>
                  <a:srgbClr val="000000"/>
                </a:solidFill>
                <a:latin typeface="Consolas" panose="020B0609020204030204" pitchFamily="49" charset="0"/>
              </a:rPr>
              <a:t>charsCopy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altLang="zh-CN" dirty="0" err="1">
                <a:solidFill>
                  <a:srgbClr val="000000"/>
                </a:solidFill>
                <a:latin typeface="Consolas" panose="020B0609020204030204" pitchFamily="49" charset="0"/>
              </a:rPr>
              <a:t>chars.copy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()</a:t>
            </a:r>
          </a:p>
          <a:p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charsCopy2 = chars[:]</a:t>
            </a:r>
          </a:p>
          <a:p>
            <a:r>
              <a:rPr lang="en-US" altLang="zh-CN" dirty="0">
                <a:solidFill>
                  <a:srgbClr val="795E26"/>
                </a:solidFill>
                <a:latin typeface="Consolas" panose="020B0609020204030204" pitchFamily="49" charset="0"/>
              </a:rPr>
              <a:t>print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altLang="zh-CN" dirty="0">
                <a:solidFill>
                  <a:srgbClr val="795E26"/>
                </a:solidFill>
                <a:latin typeface="Consolas" panose="020B0609020204030204" pitchFamily="49" charset="0"/>
              </a:rPr>
              <a:t>id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(chars),</a:t>
            </a:r>
            <a:r>
              <a:rPr lang="en-US" altLang="zh-CN" dirty="0">
                <a:solidFill>
                  <a:srgbClr val="A31515"/>
                </a:solidFill>
                <a:latin typeface="Consolas" panose="020B0609020204030204" pitchFamily="49" charset="0"/>
              </a:rPr>
              <a:t>"-"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,</a:t>
            </a:r>
            <a:r>
              <a:rPr lang="en-US" altLang="zh-CN" dirty="0">
                <a:solidFill>
                  <a:srgbClr val="795E26"/>
                </a:solidFill>
                <a:latin typeface="Consolas" panose="020B0609020204030204" pitchFamily="49" charset="0"/>
              </a:rPr>
              <a:t>id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altLang="zh-CN" dirty="0" err="1">
                <a:solidFill>
                  <a:srgbClr val="000000"/>
                </a:solidFill>
                <a:latin typeface="Consolas" panose="020B0609020204030204" pitchFamily="49" charset="0"/>
              </a:rPr>
              <a:t>charsCopy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),</a:t>
            </a:r>
            <a:r>
              <a:rPr lang="en-US" altLang="zh-CN" dirty="0">
                <a:solidFill>
                  <a:srgbClr val="A31515"/>
                </a:solidFill>
                <a:latin typeface="Consolas" panose="020B0609020204030204" pitchFamily="49" charset="0"/>
              </a:rPr>
              <a:t>"-"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,</a:t>
            </a:r>
            <a:r>
              <a:rPr lang="en-US" altLang="zh-CN" dirty="0">
                <a:solidFill>
                  <a:srgbClr val="795E26"/>
                </a:solidFill>
                <a:latin typeface="Consolas" panose="020B0609020204030204" pitchFamily="49" charset="0"/>
              </a:rPr>
              <a:t>id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(charsCopy2))</a:t>
            </a:r>
          </a:p>
          <a:p>
            <a:b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numbers = [</a:t>
            </a:r>
            <a:r>
              <a:rPr lang="en-US" altLang="zh-CN" dirty="0">
                <a:solidFill>
                  <a:srgbClr val="09885A"/>
                </a:solidFill>
                <a:latin typeface="Consolas" panose="020B0609020204030204" pitchFamily="49" charset="0"/>
              </a:rPr>
              <a:t>0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,</a:t>
            </a:r>
            <a:r>
              <a:rPr lang="en-US" altLang="zh-CN" dirty="0">
                <a:solidFill>
                  <a:srgbClr val="09885A"/>
                </a:solidFill>
                <a:latin typeface="Consolas" panose="020B0609020204030204" pitchFamily="49" charset="0"/>
              </a:rPr>
              <a:t>1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,</a:t>
            </a:r>
            <a:r>
              <a:rPr lang="en-US" altLang="zh-CN" dirty="0">
                <a:solidFill>
                  <a:srgbClr val="09885A"/>
                </a:solidFill>
                <a:latin typeface="Consolas" panose="020B0609020204030204" pitchFamily="49" charset="0"/>
              </a:rPr>
              <a:t>2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,</a:t>
            </a:r>
            <a:r>
              <a:rPr lang="en-US" altLang="zh-CN" dirty="0">
                <a:solidFill>
                  <a:srgbClr val="09885A"/>
                </a:solidFill>
                <a:latin typeface="Consolas" panose="020B0609020204030204" pitchFamily="49" charset="0"/>
              </a:rPr>
              <a:t>3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,</a:t>
            </a:r>
            <a:r>
              <a:rPr lang="en-US" altLang="zh-CN" dirty="0">
                <a:solidFill>
                  <a:srgbClr val="09885A"/>
                </a:solidFill>
                <a:latin typeface="Consolas" panose="020B0609020204030204" pitchFamily="49" charset="0"/>
              </a:rPr>
              <a:t>4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,</a:t>
            </a:r>
            <a:r>
              <a:rPr lang="en-US" altLang="zh-CN" dirty="0">
                <a:solidFill>
                  <a:srgbClr val="09885A"/>
                </a:solidFill>
                <a:latin typeface="Consolas" panose="020B0609020204030204" pitchFamily="49" charset="0"/>
              </a:rPr>
              <a:t>5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,</a:t>
            </a:r>
            <a:r>
              <a:rPr lang="en-US" altLang="zh-CN" dirty="0">
                <a:solidFill>
                  <a:srgbClr val="09885A"/>
                </a:solidFill>
                <a:latin typeface="Consolas" panose="020B0609020204030204" pitchFamily="49" charset="0"/>
              </a:rPr>
              <a:t>6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,</a:t>
            </a:r>
            <a:r>
              <a:rPr lang="en-US" altLang="zh-CN" dirty="0">
                <a:solidFill>
                  <a:srgbClr val="09885A"/>
                </a:solidFill>
                <a:latin typeface="Consolas" panose="020B0609020204030204" pitchFamily="49" charset="0"/>
              </a:rPr>
              <a:t>7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]</a:t>
            </a:r>
          </a:p>
          <a:p>
            <a:r>
              <a:rPr lang="en-US" altLang="zh-CN" dirty="0" err="1">
                <a:solidFill>
                  <a:srgbClr val="000000"/>
                </a:solidFill>
                <a:latin typeface="Consolas" panose="020B0609020204030204" pitchFamily="49" charset="0"/>
              </a:rPr>
              <a:t>numbersCopy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altLang="zh-CN" dirty="0" err="1">
                <a:solidFill>
                  <a:srgbClr val="000000"/>
                </a:solidFill>
                <a:latin typeface="Consolas" panose="020B0609020204030204" pitchFamily="49" charset="0"/>
              </a:rPr>
              <a:t>numbers.copy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()</a:t>
            </a:r>
          </a:p>
          <a:p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numbersCopy2 = numbers[:]</a:t>
            </a:r>
          </a:p>
          <a:p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numbersCopy3 = </a:t>
            </a:r>
            <a:r>
              <a:rPr lang="en-US" altLang="zh-CN" dirty="0" err="1">
                <a:solidFill>
                  <a:srgbClr val="000000"/>
                </a:solidFill>
                <a:latin typeface="Consolas" panose="020B0609020204030204" pitchFamily="49" charset="0"/>
              </a:rPr>
              <a:t>copy.copy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(numbers)</a:t>
            </a:r>
          </a:p>
          <a:p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numbersCopy4 = </a:t>
            </a:r>
            <a:r>
              <a:rPr lang="en-US" altLang="zh-CN" dirty="0" err="1">
                <a:solidFill>
                  <a:srgbClr val="000000"/>
                </a:solidFill>
                <a:latin typeface="Consolas" panose="020B0609020204030204" pitchFamily="49" charset="0"/>
              </a:rPr>
              <a:t>copy.deepcopy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(numbers)</a:t>
            </a:r>
          </a:p>
          <a:p>
            <a:r>
              <a:rPr lang="en-US" altLang="zh-CN" dirty="0">
                <a:solidFill>
                  <a:srgbClr val="795E26"/>
                </a:solidFill>
                <a:latin typeface="Consolas" panose="020B0609020204030204" pitchFamily="49" charset="0"/>
              </a:rPr>
              <a:t>print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altLang="zh-CN" dirty="0">
                <a:solidFill>
                  <a:srgbClr val="795E26"/>
                </a:solidFill>
                <a:latin typeface="Consolas" panose="020B0609020204030204" pitchFamily="49" charset="0"/>
              </a:rPr>
              <a:t>id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(numbers),</a:t>
            </a:r>
            <a:r>
              <a:rPr lang="en-US" altLang="zh-CN" dirty="0">
                <a:solidFill>
                  <a:srgbClr val="A31515"/>
                </a:solidFill>
                <a:latin typeface="Consolas" panose="020B0609020204030204" pitchFamily="49" charset="0"/>
              </a:rPr>
              <a:t>"-"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,</a:t>
            </a:r>
            <a:r>
              <a:rPr lang="en-US" altLang="zh-CN" dirty="0">
                <a:solidFill>
                  <a:srgbClr val="795E26"/>
                </a:solidFill>
                <a:latin typeface="Consolas" panose="020B0609020204030204" pitchFamily="49" charset="0"/>
              </a:rPr>
              <a:t>id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altLang="zh-CN" dirty="0" err="1">
                <a:solidFill>
                  <a:srgbClr val="000000"/>
                </a:solidFill>
                <a:latin typeface="Consolas" panose="020B0609020204030204" pitchFamily="49" charset="0"/>
              </a:rPr>
              <a:t>numbersCopy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),</a:t>
            </a:r>
            <a:r>
              <a:rPr lang="en-US" altLang="zh-CN" dirty="0">
                <a:solidFill>
                  <a:srgbClr val="A31515"/>
                </a:solidFill>
                <a:latin typeface="Consolas" panose="020B0609020204030204" pitchFamily="49" charset="0"/>
              </a:rPr>
              <a:t>"-"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,</a:t>
            </a:r>
            <a:r>
              <a:rPr lang="en-US" altLang="zh-CN" dirty="0">
                <a:solidFill>
                  <a:srgbClr val="795E26"/>
                </a:solidFill>
                <a:latin typeface="Consolas" panose="020B0609020204030204" pitchFamily="49" charset="0"/>
              </a:rPr>
              <a:t>id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(numbersCopy2),</a:t>
            </a:r>
          </a:p>
          <a:p>
            <a:r>
              <a:rPr lang="en-US" altLang="zh-CN" dirty="0">
                <a:solidFill>
                  <a:srgbClr val="A31515"/>
                </a:solidFill>
                <a:latin typeface="Consolas" panose="020B0609020204030204" pitchFamily="49" charset="0"/>
              </a:rPr>
              <a:t>"-"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,</a:t>
            </a:r>
            <a:r>
              <a:rPr lang="en-US" altLang="zh-CN" dirty="0">
                <a:solidFill>
                  <a:srgbClr val="795E26"/>
                </a:solidFill>
                <a:latin typeface="Consolas" panose="020B0609020204030204" pitchFamily="49" charset="0"/>
              </a:rPr>
              <a:t>id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(numbersCopy3),</a:t>
            </a:r>
            <a:r>
              <a:rPr lang="en-US" altLang="zh-CN" dirty="0">
                <a:solidFill>
                  <a:srgbClr val="A31515"/>
                </a:solidFill>
                <a:latin typeface="Consolas" panose="020B0609020204030204" pitchFamily="49" charset="0"/>
              </a:rPr>
              <a:t>"-"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,</a:t>
            </a:r>
            <a:r>
              <a:rPr lang="en-US" altLang="zh-CN" dirty="0">
                <a:solidFill>
                  <a:srgbClr val="795E26"/>
                </a:solidFill>
                <a:latin typeface="Consolas" panose="020B0609020204030204" pitchFamily="49" charset="0"/>
              </a:rPr>
              <a:t>id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(numbersCopy4))</a:t>
            </a:r>
          </a:p>
        </p:txBody>
      </p:sp>
    </p:spTree>
    <p:extLst>
      <p:ext uri="{BB962C8B-B14F-4D97-AF65-F5344CB8AC3E}">
        <p14:creationId xmlns:p14="http://schemas.microsoft.com/office/powerpoint/2010/main" val="6512431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/>
    </mc:Choice>
    <mc:Fallback xmlns="">
      <p:transition advClick="0"/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E48A9AC-A243-4B87-975A-FE8091DDEE60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8585626" y="5658563"/>
            <a:ext cx="208814" cy="205743"/>
          </a:xfrm>
          <a:prstGeom prst="rect">
            <a:avLst/>
          </a:prstGeom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</a:bodyPr>
          <a:lstStyle>
            <a:defPPr rtl="0">
              <a:defRPr lang="zh-CN"/>
            </a:defPPr>
            <a:lvl1pPr marL="0" algn="ctr" defTabSz="685800" rtl="0" eaLnBrk="1" latinLnBrk="0" hangingPunct="1">
              <a:defRPr sz="900" i="1" kern="1200">
                <a:solidFill>
                  <a:schemeClr val="bg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19B51A1E-902D-48AF-9020-955120F399B6}" type="slidenum">
              <a:rPr lang="en-ZA" altLang="zh-CN" smtClean="0"/>
              <a:pPr/>
              <a:t>29</a:t>
            </a:fld>
            <a:endParaRPr lang="zh-CN" altLang="en-US" noProof="0" dirty="0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C1369C35-DEE7-4C64-85F6-3BEEA7C2F50E}"/>
              </a:ext>
            </a:extLst>
          </p:cNvPr>
          <p:cNvSpPr/>
          <p:nvPr/>
        </p:nvSpPr>
        <p:spPr>
          <a:xfrm>
            <a:off x="1691680" y="241111"/>
            <a:ext cx="4961185" cy="533689"/>
          </a:xfrm>
          <a:prstGeom prst="rect">
            <a:avLst/>
          </a:prstGeom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dirty="0"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</a:rPr>
              <a:t>可修改数据类型 </a:t>
            </a:r>
            <a:r>
              <a:rPr lang="en-US" altLang="zh-CN" dirty="0"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</a:rPr>
              <a:t>– copy vs </a:t>
            </a:r>
            <a:r>
              <a:rPr lang="en-US" altLang="zh-CN" dirty="0" err="1"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</a:rPr>
              <a:t>deepcopy</a:t>
            </a:r>
            <a:endParaRPr lang="zh-CN" altLang="en-US" dirty="0">
              <a:latin typeface="阿里巴巴普惠体 R" panose="00020600040101010101" pitchFamily="18" charset="-122"/>
              <a:ea typeface="阿里巴巴普惠体 R" panose="00020600040101010101" pitchFamily="18" charset="-122"/>
              <a:cs typeface="阿里巴巴普惠体 R" panose="00020600040101010101" pitchFamily="18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A5F56049-C7A4-4E2D-9845-D4AE374097B6}"/>
              </a:ext>
            </a:extLst>
          </p:cNvPr>
          <p:cNvSpPr/>
          <p:nvPr/>
        </p:nvSpPr>
        <p:spPr>
          <a:xfrm>
            <a:off x="1673018" y="3681935"/>
            <a:ext cx="7070582" cy="923330"/>
          </a:xfrm>
          <a:prstGeom prst="rect">
            <a:avLst/>
          </a:prstGeom>
          <a:noFill/>
          <a:ln w="12700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altLang="zh-CN" dirty="0">
                <a:latin typeface="Consolas" panose="020B0609020204030204" pitchFamily="49" charset="0"/>
                <a:ea typeface="阿里巴巴普惠体 R" panose="00020600040101010101" pitchFamily="18" charset="-122"/>
                <a:cs typeface="阿里巴巴普惠体 R" panose="00020600040101010101" pitchFamily="18" charset="-122"/>
              </a:rPr>
              <a:t>id(a): 2208490183496 id(b): 2208490183432</a:t>
            </a:r>
          </a:p>
          <a:p>
            <a:r>
              <a:rPr lang="en-US" altLang="zh-CN" dirty="0">
                <a:latin typeface="Consolas" panose="020B0609020204030204" pitchFamily="49" charset="0"/>
                <a:ea typeface="阿里巴巴普惠体 R" panose="00020600040101010101" pitchFamily="18" charset="-122"/>
                <a:cs typeface="阿里巴巴普惠体 R" panose="00020600040101010101" pitchFamily="18" charset="-122"/>
              </a:rPr>
              <a:t>id(a[3]): 2208490183176 id(b[3]): 2208490183176</a:t>
            </a:r>
          </a:p>
          <a:p>
            <a:r>
              <a:rPr lang="en-US" altLang="zh-CN" dirty="0">
                <a:latin typeface="Consolas" panose="020B0609020204030204" pitchFamily="49" charset="0"/>
                <a:ea typeface="阿里巴巴普惠体 R" panose="00020600040101010101" pitchFamily="18" charset="-122"/>
                <a:cs typeface="阿里巴巴普惠体 R" panose="00020600040101010101" pitchFamily="18" charset="-122"/>
              </a:rPr>
              <a:t>[1, 2, 3, [3, 2, 99]] [1, 2, 3, [3, 2, 99]]</a:t>
            </a:r>
            <a:endParaRPr lang="zh-CN" altLang="en-US" dirty="0">
              <a:latin typeface="Consolas" panose="020B0609020204030204" pitchFamily="49" charset="0"/>
              <a:ea typeface="阿里巴巴普惠体 R" panose="00020600040101010101" pitchFamily="18" charset="-122"/>
              <a:cs typeface="阿里巴巴普惠体 R" panose="00020600040101010101" pitchFamily="18" charset="-122"/>
            </a:endParaRP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5A923DD2-21AD-4838-92C8-03948A761C10}"/>
              </a:ext>
            </a:extLst>
          </p:cNvPr>
          <p:cNvSpPr txBox="1"/>
          <p:nvPr/>
        </p:nvSpPr>
        <p:spPr>
          <a:xfrm>
            <a:off x="1606672" y="5264141"/>
            <a:ext cx="7070582" cy="1200329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214313" indent="-214313">
              <a:buFont typeface="Arial" panose="020B0604020202020204" pitchFamily="34" charset="0"/>
              <a:buChar char="•"/>
            </a:pPr>
            <a:r>
              <a:rPr lang="zh-CN" altLang="en-US" dirty="0"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</a:rPr>
              <a:t>可以看出，通过浅拷贝</a:t>
            </a:r>
            <a:r>
              <a:rPr lang="en-US" altLang="zh-CN" dirty="0"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</a:rPr>
              <a:t>copy()</a:t>
            </a:r>
            <a:r>
              <a:rPr lang="zh-CN" altLang="en-US" dirty="0"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</a:rPr>
              <a:t>后，</a:t>
            </a:r>
            <a:r>
              <a:rPr lang="en-US" altLang="zh-CN" dirty="0" err="1"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</a:rPr>
              <a:t>a,b</a:t>
            </a:r>
            <a:r>
              <a:rPr lang="zh-CN" altLang="en-US" dirty="0"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</a:rPr>
              <a:t>绑定的是两个独立的列表对象。但由于列表有子列表</a:t>
            </a:r>
            <a:r>
              <a:rPr lang="en-US" altLang="zh-CN" dirty="0"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</a:rPr>
              <a:t>[3,2,1]</a:t>
            </a:r>
            <a:r>
              <a:rPr lang="zh-CN" altLang="en-US" dirty="0"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</a:rPr>
              <a:t>，两个列表对象的下标</a:t>
            </a:r>
            <a:r>
              <a:rPr lang="en-US" altLang="zh-CN" dirty="0"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</a:rPr>
              <a:t>3</a:t>
            </a:r>
            <a:r>
              <a:rPr lang="zh-CN" altLang="en-US" dirty="0"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</a:rPr>
              <a:t>位置仍然绑定了同一个子列表对象，这从</a:t>
            </a:r>
            <a:r>
              <a:rPr lang="en-US" altLang="zh-CN" dirty="0"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</a:rPr>
              <a:t>id(a[3])</a:t>
            </a:r>
            <a:r>
              <a:rPr lang="zh-CN" altLang="en-US" dirty="0"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</a:rPr>
              <a:t>和</a:t>
            </a:r>
            <a:r>
              <a:rPr lang="en-US" altLang="zh-CN" dirty="0"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</a:rPr>
              <a:t>id(b[3])</a:t>
            </a:r>
            <a:r>
              <a:rPr lang="zh-CN" altLang="en-US" dirty="0"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</a:rPr>
              <a:t>的值可以看出来。此时，修改</a:t>
            </a:r>
            <a:r>
              <a:rPr lang="en-US" altLang="zh-CN" dirty="0"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</a:rPr>
              <a:t>b[3]</a:t>
            </a:r>
            <a:r>
              <a:rPr lang="zh-CN" altLang="en-US" dirty="0"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</a:rPr>
              <a:t>的元素值事实上就是在修改</a:t>
            </a:r>
            <a:r>
              <a:rPr lang="en-US" altLang="zh-CN" dirty="0"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</a:rPr>
              <a:t>a[3]</a:t>
            </a:r>
            <a:r>
              <a:rPr lang="zh-CN" altLang="en-US" dirty="0"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</a:rPr>
              <a:t>的对应元素值。</a:t>
            </a:r>
            <a:endParaRPr lang="en-US" altLang="zh-CN" dirty="0">
              <a:latin typeface="阿里巴巴普惠体 R" panose="00020600040101010101" pitchFamily="18" charset="-122"/>
              <a:ea typeface="阿里巴巴普惠体 R" panose="00020600040101010101" pitchFamily="18" charset="-122"/>
              <a:cs typeface="阿里巴巴普惠体 R" panose="00020600040101010101" pitchFamily="18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25192B19-0574-4681-84BA-01A01DAD034C}"/>
              </a:ext>
            </a:extLst>
          </p:cNvPr>
          <p:cNvSpPr/>
          <p:nvPr/>
        </p:nvSpPr>
        <p:spPr>
          <a:xfrm>
            <a:off x="1619451" y="1026870"/>
            <a:ext cx="7070582" cy="2031325"/>
          </a:xfrm>
          <a:prstGeom prst="rect">
            <a:avLst/>
          </a:prstGeom>
          <a:ln w="1905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altLang="zh-CN" dirty="0">
                <a:solidFill>
                  <a:srgbClr val="008000"/>
                </a:solidFill>
                <a:latin typeface="Consolas" panose="020B0609020204030204" pitchFamily="49" charset="0"/>
              </a:rPr>
              <a:t>#copy2.py</a:t>
            </a:r>
            <a:endParaRPr lang="en-US" altLang="zh-CN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a = [</a:t>
            </a:r>
            <a:r>
              <a:rPr lang="en-US" altLang="zh-CN" dirty="0">
                <a:solidFill>
                  <a:srgbClr val="09885A"/>
                </a:solidFill>
                <a:latin typeface="Consolas" panose="020B0609020204030204" pitchFamily="49" charset="0"/>
              </a:rPr>
              <a:t>1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,</a:t>
            </a:r>
            <a:r>
              <a:rPr lang="en-US" altLang="zh-CN" dirty="0">
                <a:solidFill>
                  <a:srgbClr val="09885A"/>
                </a:solidFill>
                <a:latin typeface="Consolas" panose="020B0609020204030204" pitchFamily="49" charset="0"/>
              </a:rPr>
              <a:t>2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,</a:t>
            </a:r>
            <a:r>
              <a:rPr lang="en-US" altLang="zh-CN" dirty="0">
                <a:solidFill>
                  <a:srgbClr val="09885A"/>
                </a:solidFill>
                <a:latin typeface="Consolas" panose="020B0609020204030204" pitchFamily="49" charset="0"/>
              </a:rPr>
              <a:t>3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,[</a:t>
            </a:r>
            <a:r>
              <a:rPr lang="en-US" altLang="zh-CN" dirty="0">
                <a:solidFill>
                  <a:srgbClr val="09885A"/>
                </a:solidFill>
                <a:latin typeface="Consolas" panose="020B0609020204030204" pitchFamily="49" charset="0"/>
              </a:rPr>
              <a:t>3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,</a:t>
            </a:r>
            <a:r>
              <a:rPr lang="en-US" altLang="zh-CN" dirty="0">
                <a:solidFill>
                  <a:srgbClr val="09885A"/>
                </a:solidFill>
                <a:latin typeface="Consolas" panose="020B0609020204030204" pitchFamily="49" charset="0"/>
              </a:rPr>
              <a:t>2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,</a:t>
            </a:r>
            <a:r>
              <a:rPr lang="en-US" altLang="zh-CN" dirty="0">
                <a:solidFill>
                  <a:srgbClr val="09885A"/>
                </a:solidFill>
                <a:latin typeface="Consolas" panose="020B0609020204030204" pitchFamily="49" charset="0"/>
              </a:rPr>
              <a:t>1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]]</a:t>
            </a:r>
          </a:p>
          <a:p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b = </a:t>
            </a:r>
            <a:r>
              <a:rPr lang="en-US" altLang="zh-CN" dirty="0" err="1">
                <a:solidFill>
                  <a:srgbClr val="000000"/>
                </a:solidFill>
                <a:latin typeface="Consolas" panose="020B0609020204030204" pitchFamily="49" charset="0"/>
              </a:rPr>
              <a:t>a.copy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()</a:t>
            </a:r>
          </a:p>
          <a:p>
            <a:r>
              <a:rPr lang="en-US" altLang="zh-CN" dirty="0">
                <a:solidFill>
                  <a:srgbClr val="795E26"/>
                </a:solidFill>
                <a:latin typeface="Consolas" panose="020B0609020204030204" pitchFamily="49" charset="0"/>
              </a:rPr>
              <a:t>print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altLang="zh-CN" dirty="0">
                <a:solidFill>
                  <a:srgbClr val="A31515"/>
                </a:solidFill>
                <a:latin typeface="Consolas" panose="020B0609020204030204" pitchFamily="49" charset="0"/>
              </a:rPr>
              <a:t>"id(a):"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,</a:t>
            </a:r>
            <a:r>
              <a:rPr lang="en-US" altLang="zh-CN" dirty="0">
                <a:solidFill>
                  <a:srgbClr val="795E26"/>
                </a:solidFill>
                <a:latin typeface="Consolas" panose="020B0609020204030204" pitchFamily="49" charset="0"/>
              </a:rPr>
              <a:t>id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(a),</a:t>
            </a:r>
            <a:r>
              <a:rPr lang="en-US" altLang="zh-CN" dirty="0">
                <a:solidFill>
                  <a:srgbClr val="A31515"/>
                </a:solidFill>
                <a:latin typeface="Consolas" panose="020B0609020204030204" pitchFamily="49" charset="0"/>
              </a:rPr>
              <a:t>"id(b):"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,</a:t>
            </a:r>
            <a:r>
              <a:rPr lang="en-US" altLang="zh-CN" dirty="0">
                <a:solidFill>
                  <a:srgbClr val="795E26"/>
                </a:solidFill>
                <a:latin typeface="Consolas" panose="020B0609020204030204" pitchFamily="49" charset="0"/>
              </a:rPr>
              <a:t>id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(b))</a:t>
            </a:r>
          </a:p>
          <a:p>
            <a:r>
              <a:rPr lang="en-US" altLang="zh-CN" dirty="0">
                <a:solidFill>
                  <a:srgbClr val="795E26"/>
                </a:solidFill>
                <a:latin typeface="Consolas" panose="020B0609020204030204" pitchFamily="49" charset="0"/>
              </a:rPr>
              <a:t>print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altLang="zh-CN" dirty="0">
                <a:solidFill>
                  <a:srgbClr val="A31515"/>
                </a:solidFill>
                <a:latin typeface="Consolas" panose="020B0609020204030204" pitchFamily="49" charset="0"/>
              </a:rPr>
              <a:t>"id(a[3]):"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,</a:t>
            </a:r>
            <a:r>
              <a:rPr lang="en-US" altLang="zh-CN" dirty="0">
                <a:solidFill>
                  <a:srgbClr val="795E26"/>
                </a:solidFill>
                <a:latin typeface="Consolas" panose="020B0609020204030204" pitchFamily="49" charset="0"/>
              </a:rPr>
              <a:t>id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(a[</a:t>
            </a:r>
            <a:r>
              <a:rPr lang="en-US" altLang="zh-CN" dirty="0">
                <a:solidFill>
                  <a:srgbClr val="09885A"/>
                </a:solidFill>
                <a:latin typeface="Consolas" panose="020B0609020204030204" pitchFamily="49" charset="0"/>
              </a:rPr>
              <a:t>3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]),</a:t>
            </a:r>
            <a:r>
              <a:rPr lang="en-US" altLang="zh-CN" dirty="0">
                <a:solidFill>
                  <a:srgbClr val="A31515"/>
                </a:solidFill>
                <a:latin typeface="Consolas" panose="020B0609020204030204" pitchFamily="49" charset="0"/>
              </a:rPr>
              <a:t>"id(b[3]):"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,</a:t>
            </a:r>
            <a:r>
              <a:rPr lang="en-US" altLang="zh-CN" dirty="0">
                <a:solidFill>
                  <a:srgbClr val="795E26"/>
                </a:solidFill>
                <a:latin typeface="Consolas" panose="020B0609020204030204" pitchFamily="49" charset="0"/>
              </a:rPr>
              <a:t>id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(b[</a:t>
            </a:r>
            <a:r>
              <a:rPr lang="en-US" altLang="zh-CN" dirty="0">
                <a:solidFill>
                  <a:srgbClr val="09885A"/>
                </a:solidFill>
                <a:latin typeface="Consolas" panose="020B0609020204030204" pitchFamily="49" charset="0"/>
              </a:rPr>
              <a:t>3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]))</a:t>
            </a:r>
          </a:p>
          <a:p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b[</a:t>
            </a:r>
            <a:r>
              <a:rPr lang="en-US" altLang="zh-CN" dirty="0">
                <a:solidFill>
                  <a:srgbClr val="09885A"/>
                </a:solidFill>
                <a:latin typeface="Consolas" panose="020B0609020204030204" pitchFamily="49" charset="0"/>
              </a:rPr>
              <a:t>3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][</a:t>
            </a:r>
            <a:r>
              <a:rPr lang="en-US" altLang="zh-CN" dirty="0">
                <a:solidFill>
                  <a:srgbClr val="09885A"/>
                </a:solidFill>
                <a:latin typeface="Consolas" panose="020B0609020204030204" pitchFamily="49" charset="0"/>
              </a:rPr>
              <a:t>2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] = </a:t>
            </a:r>
            <a:r>
              <a:rPr lang="en-US" altLang="zh-CN" dirty="0">
                <a:solidFill>
                  <a:srgbClr val="09885A"/>
                </a:solidFill>
                <a:latin typeface="Consolas" panose="020B0609020204030204" pitchFamily="49" charset="0"/>
              </a:rPr>
              <a:t>99</a:t>
            </a:r>
            <a:endParaRPr lang="en-US" altLang="zh-CN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altLang="zh-CN" dirty="0">
                <a:solidFill>
                  <a:srgbClr val="795E26"/>
                </a:solidFill>
                <a:latin typeface="Consolas" panose="020B0609020204030204" pitchFamily="49" charset="0"/>
              </a:rPr>
              <a:t>print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altLang="zh-CN" dirty="0" err="1">
                <a:solidFill>
                  <a:srgbClr val="000000"/>
                </a:solidFill>
                <a:latin typeface="Consolas" panose="020B0609020204030204" pitchFamily="49" charset="0"/>
              </a:rPr>
              <a:t>a,b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41112834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/>
    </mc:Choice>
    <mc:Fallback xmlns="">
      <p:transition advClick="0"/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E48A9AC-A243-4B87-975A-FE8091DDEE60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8585626" y="5658563"/>
            <a:ext cx="208814" cy="205743"/>
          </a:xfrm>
          <a:prstGeom prst="rect">
            <a:avLst/>
          </a:prstGeom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</a:bodyPr>
          <a:lstStyle>
            <a:defPPr rtl="0">
              <a:defRPr lang="zh-CN"/>
            </a:defPPr>
            <a:lvl1pPr marL="0" algn="ctr" defTabSz="685800" rtl="0" eaLnBrk="1" latinLnBrk="0" hangingPunct="1">
              <a:defRPr sz="900" i="1" kern="1200">
                <a:solidFill>
                  <a:schemeClr val="bg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19B51A1E-902D-48AF-9020-955120F399B6}" type="slidenum">
              <a:rPr lang="en-ZA" altLang="zh-CN" smtClean="0"/>
              <a:pPr/>
              <a:t>30</a:t>
            </a:fld>
            <a:endParaRPr lang="zh-CN" altLang="en-US" noProof="0" dirty="0"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A5F56049-C7A4-4E2D-9845-D4AE374097B6}"/>
              </a:ext>
            </a:extLst>
          </p:cNvPr>
          <p:cNvSpPr/>
          <p:nvPr/>
        </p:nvSpPr>
        <p:spPr>
          <a:xfrm>
            <a:off x="1515044" y="3308935"/>
            <a:ext cx="7070582" cy="923330"/>
          </a:xfrm>
          <a:prstGeom prst="rect">
            <a:avLst/>
          </a:prstGeom>
          <a:noFill/>
          <a:ln w="12700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altLang="zh-CN" dirty="0">
                <a:latin typeface="Consolas" panose="020B0609020204030204" pitchFamily="49" charset="0"/>
                <a:ea typeface="阿里巴巴普惠体 R" panose="00020600040101010101" pitchFamily="18" charset="-122"/>
                <a:cs typeface="阿里巴巴普惠体 R" panose="00020600040101010101" pitchFamily="18" charset="-122"/>
              </a:rPr>
              <a:t>id(a): 2001757257160 id(b): 2001757257096</a:t>
            </a:r>
          </a:p>
          <a:p>
            <a:r>
              <a:rPr lang="en-US" altLang="zh-CN" dirty="0">
                <a:latin typeface="Consolas" panose="020B0609020204030204" pitchFamily="49" charset="0"/>
                <a:ea typeface="阿里巴巴普惠体 R" panose="00020600040101010101" pitchFamily="18" charset="-122"/>
                <a:cs typeface="阿里巴巴普惠体 R" panose="00020600040101010101" pitchFamily="18" charset="-122"/>
              </a:rPr>
              <a:t>id(a[3]): 2001757256840 id(b[3]): 2001757257224</a:t>
            </a:r>
          </a:p>
          <a:p>
            <a:r>
              <a:rPr lang="en-US" altLang="zh-CN" dirty="0">
                <a:latin typeface="Consolas" panose="020B0609020204030204" pitchFamily="49" charset="0"/>
                <a:ea typeface="阿里巴巴普惠体 R" panose="00020600040101010101" pitchFamily="18" charset="-122"/>
                <a:cs typeface="阿里巴巴普惠体 R" panose="00020600040101010101" pitchFamily="18" charset="-122"/>
              </a:rPr>
              <a:t>[1, 2, 3, [3, 2, 1]] [1, 2, 3, [3, 2, 99]]</a:t>
            </a:r>
            <a:endParaRPr lang="zh-CN" altLang="en-US" dirty="0">
              <a:latin typeface="Consolas" panose="020B0609020204030204" pitchFamily="49" charset="0"/>
              <a:ea typeface="阿里巴巴普惠体 R" panose="00020600040101010101" pitchFamily="18" charset="-122"/>
              <a:cs typeface="阿里巴巴普惠体 R" panose="00020600040101010101" pitchFamily="18" charset="-122"/>
            </a:endParaRP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5A923DD2-21AD-4838-92C8-03948A761C10}"/>
              </a:ext>
            </a:extLst>
          </p:cNvPr>
          <p:cNvSpPr txBox="1"/>
          <p:nvPr/>
        </p:nvSpPr>
        <p:spPr>
          <a:xfrm>
            <a:off x="1020278" y="4838104"/>
            <a:ext cx="7565348" cy="92333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214313" indent="-214313">
              <a:buFont typeface="Arial" panose="020B0604020202020204" pitchFamily="34" charset="0"/>
              <a:buChar char="•"/>
            </a:pPr>
            <a:r>
              <a:rPr lang="en-US" altLang="zh-CN" dirty="0" err="1"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</a:rPr>
              <a:t>deepcopy</a:t>
            </a:r>
            <a:r>
              <a:rPr lang="en-US" altLang="zh-CN" dirty="0"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</a:rPr>
              <a:t>()</a:t>
            </a:r>
            <a:r>
              <a:rPr lang="zh-CN" altLang="en-US" dirty="0"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</a:rPr>
              <a:t>之后，</a:t>
            </a:r>
            <a:r>
              <a:rPr lang="en-US" altLang="zh-CN" dirty="0"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</a:rPr>
              <a:t>a[3]</a:t>
            </a:r>
            <a:r>
              <a:rPr lang="zh-CN" altLang="en-US" dirty="0"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</a:rPr>
              <a:t>和</a:t>
            </a:r>
            <a:r>
              <a:rPr lang="en-US" altLang="zh-CN" dirty="0"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</a:rPr>
              <a:t>b[3]</a:t>
            </a:r>
            <a:r>
              <a:rPr lang="zh-CN" altLang="en-US" dirty="0"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</a:rPr>
              <a:t>的</a:t>
            </a:r>
            <a:r>
              <a:rPr lang="en-US" altLang="zh-CN" dirty="0"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</a:rPr>
              <a:t>id</a:t>
            </a:r>
            <a:r>
              <a:rPr lang="zh-CN" altLang="en-US" dirty="0"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</a:rPr>
              <a:t>值不一样</a:t>
            </a:r>
            <a:r>
              <a:rPr lang="en-US" altLang="zh-CN" dirty="0"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</a:rPr>
              <a:t>: </a:t>
            </a:r>
            <a:r>
              <a:rPr lang="zh-CN" altLang="en-US" dirty="0"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</a:rPr>
              <a:t>它们绑定在了不同的对象上。对</a:t>
            </a:r>
            <a:r>
              <a:rPr lang="en-US" altLang="zh-CN" dirty="0"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</a:rPr>
              <a:t>b[3]</a:t>
            </a:r>
            <a:r>
              <a:rPr lang="zh-CN" altLang="en-US" dirty="0"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</a:rPr>
              <a:t>的修改，不会影响</a:t>
            </a:r>
            <a:r>
              <a:rPr lang="en-US" altLang="zh-CN" dirty="0"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</a:rPr>
              <a:t>a[3]</a:t>
            </a:r>
            <a:r>
              <a:rPr lang="zh-CN" altLang="en-US" dirty="0"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</a:rPr>
              <a:t>。</a:t>
            </a:r>
            <a:endParaRPr lang="en-US" altLang="zh-CN" dirty="0">
              <a:latin typeface="阿里巴巴普惠体 R" panose="00020600040101010101" pitchFamily="18" charset="-122"/>
              <a:ea typeface="阿里巴巴普惠体 R" panose="00020600040101010101" pitchFamily="18" charset="-122"/>
              <a:cs typeface="阿里巴巴普惠体 R" panose="00020600040101010101" pitchFamily="18" charset="-122"/>
            </a:endParaRPr>
          </a:p>
          <a:p>
            <a:pPr marL="214313" indent="-214313">
              <a:buFont typeface="Arial" panose="020B0604020202020204" pitchFamily="34" charset="0"/>
              <a:buChar char="•"/>
            </a:pPr>
            <a:r>
              <a:rPr lang="zh-CN" altLang="en-US" dirty="0"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</a:rPr>
              <a:t>相对于浅拷贝</a:t>
            </a:r>
            <a:r>
              <a:rPr lang="en-US" altLang="zh-CN" dirty="0"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</a:rPr>
              <a:t>copy, </a:t>
            </a:r>
            <a:r>
              <a:rPr lang="en-US" altLang="zh-CN" dirty="0" err="1"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</a:rPr>
              <a:t>deepcopy</a:t>
            </a:r>
            <a:r>
              <a:rPr lang="zh-CN" altLang="en-US" dirty="0"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</a:rPr>
              <a:t>称为深拷贝。</a:t>
            </a:r>
            <a:endParaRPr lang="en-US" altLang="zh-CN" dirty="0">
              <a:latin typeface="阿里巴巴普惠体 R" panose="00020600040101010101" pitchFamily="18" charset="-122"/>
              <a:ea typeface="阿里巴巴普惠体 R" panose="00020600040101010101" pitchFamily="18" charset="-122"/>
              <a:cs typeface="阿里巴巴普惠体 R" panose="00020600040101010101" pitchFamily="18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D606B0A1-5365-4663-B5C2-E45147FFDB4A}"/>
              </a:ext>
            </a:extLst>
          </p:cNvPr>
          <p:cNvSpPr/>
          <p:nvPr/>
        </p:nvSpPr>
        <p:spPr>
          <a:xfrm>
            <a:off x="1674851" y="394773"/>
            <a:ext cx="7070582" cy="2308324"/>
          </a:xfrm>
          <a:prstGeom prst="rect">
            <a:avLst/>
          </a:prstGeom>
          <a:ln w="1905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altLang="zh-CN" dirty="0">
                <a:solidFill>
                  <a:srgbClr val="008000"/>
                </a:solidFill>
                <a:latin typeface="Consolas" panose="020B0609020204030204" pitchFamily="49" charset="0"/>
              </a:rPr>
              <a:t>#deepcopy2.py</a:t>
            </a:r>
            <a:endParaRPr lang="en-US" altLang="zh-CN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altLang="zh-CN" dirty="0">
                <a:solidFill>
                  <a:srgbClr val="AF00DB"/>
                </a:solidFill>
                <a:latin typeface="Consolas" panose="020B0609020204030204" pitchFamily="49" charset="0"/>
              </a:rPr>
              <a:t>import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 copy</a:t>
            </a:r>
          </a:p>
          <a:p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a = [</a:t>
            </a:r>
            <a:r>
              <a:rPr lang="en-US" altLang="zh-CN" dirty="0">
                <a:solidFill>
                  <a:srgbClr val="09885A"/>
                </a:solidFill>
                <a:latin typeface="Consolas" panose="020B0609020204030204" pitchFamily="49" charset="0"/>
              </a:rPr>
              <a:t>1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,</a:t>
            </a:r>
            <a:r>
              <a:rPr lang="en-US" altLang="zh-CN" dirty="0">
                <a:solidFill>
                  <a:srgbClr val="09885A"/>
                </a:solidFill>
                <a:latin typeface="Consolas" panose="020B0609020204030204" pitchFamily="49" charset="0"/>
              </a:rPr>
              <a:t>2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,</a:t>
            </a:r>
            <a:r>
              <a:rPr lang="en-US" altLang="zh-CN" dirty="0">
                <a:solidFill>
                  <a:srgbClr val="09885A"/>
                </a:solidFill>
                <a:latin typeface="Consolas" panose="020B0609020204030204" pitchFamily="49" charset="0"/>
              </a:rPr>
              <a:t>3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,[</a:t>
            </a:r>
            <a:r>
              <a:rPr lang="en-US" altLang="zh-CN" dirty="0">
                <a:solidFill>
                  <a:srgbClr val="09885A"/>
                </a:solidFill>
                <a:latin typeface="Consolas" panose="020B0609020204030204" pitchFamily="49" charset="0"/>
              </a:rPr>
              <a:t>3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,</a:t>
            </a:r>
            <a:r>
              <a:rPr lang="en-US" altLang="zh-CN" dirty="0">
                <a:solidFill>
                  <a:srgbClr val="09885A"/>
                </a:solidFill>
                <a:latin typeface="Consolas" panose="020B0609020204030204" pitchFamily="49" charset="0"/>
              </a:rPr>
              <a:t>2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,</a:t>
            </a:r>
            <a:r>
              <a:rPr lang="en-US" altLang="zh-CN" dirty="0">
                <a:solidFill>
                  <a:srgbClr val="09885A"/>
                </a:solidFill>
                <a:latin typeface="Consolas" panose="020B0609020204030204" pitchFamily="49" charset="0"/>
              </a:rPr>
              <a:t>1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]]</a:t>
            </a:r>
          </a:p>
          <a:p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b = </a:t>
            </a:r>
            <a:r>
              <a:rPr lang="en-US" altLang="zh-CN" dirty="0" err="1">
                <a:solidFill>
                  <a:srgbClr val="000000"/>
                </a:solidFill>
                <a:latin typeface="Consolas" panose="020B0609020204030204" pitchFamily="49" charset="0"/>
              </a:rPr>
              <a:t>copy.deepcopy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(a)</a:t>
            </a:r>
          </a:p>
          <a:p>
            <a:r>
              <a:rPr lang="en-US" altLang="zh-CN" dirty="0">
                <a:solidFill>
                  <a:srgbClr val="795E26"/>
                </a:solidFill>
                <a:latin typeface="Consolas" panose="020B0609020204030204" pitchFamily="49" charset="0"/>
              </a:rPr>
              <a:t>print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altLang="zh-CN" dirty="0">
                <a:solidFill>
                  <a:srgbClr val="A31515"/>
                </a:solidFill>
                <a:latin typeface="Consolas" panose="020B0609020204030204" pitchFamily="49" charset="0"/>
              </a:rPr>
              <a:t>"id(a):"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,</a:t>
            </a:r>
            <a:r>
              <a:rPr lang="en-US" altLang="zh-CN" dirty="0">
                <a:solidFill>
                  <a:srgbClr val="795E26"/>
                </a:solidFill>
                <a:latin typeface="Consolas" panose="020B0609020204030204" pitchFamily="49" charset="0"/>
              </a:rPr>
              <a:t>id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(a),</a:t>
            </a:r>
            <a:r>
              <a:rPr lang="en-US" altLang="zh-CN" dirty="0">
                <a:solidFill>
                  <a:srgbClr val="A31515"/>
                </a:solidFill>
                <a:latin typeface="Consolas" panose="020B0609020204030204" pitchFamily="49" charset="0"/>
              </a:rPr>
              <a:t>"id(b):"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,</a:t>
            </a:r>
            <a:r>
              <a:rPr lang="en-US" altLang="zh-CN" dirty="0">
                <a:solidFill>
                  <a:srgbClr val="795E26"/>
                </a:solidFill>
                <a:latin typeface="Consolas" panose="020B0609020204030204" pitchFamily="49" charset="0"/>
              </a:rPr>
              <a:t>id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(b))</a:t>
            </a:r>
          </a:p>
          <a:p>
            <a:r>
              <a:rPr lang="en-US" altLang="zh-CN" dirty="0">
                <a:solidFill>
                  <a:srgbClr val="795E26"/>
                </a:solidFill>
                <a:latin typeface="Consolas" panose="020B0609020204030204" pitchFamily="49" charset="0"/>
              </a:rPr>
              <a:t>print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altLang="zh-CN" dirty="0">
                <a:solidFill>
                  <a:srgbClr val="A31515"/>
                </a:solidFill>
                <a:latin typeface="Consolas" panose="020B0609020204030204" pitchFamily="49" charset="0"/>
              </a:rPr>
              <a:t>"id(a[3]):"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,</a:t>
            </a:r>
            <a:r>
              <a:rPr lang="en-US" altLang="zh-CN" dirty="0">
                <a:solidFill>
                  <a:srgbClr val="795E26"/>
                </a:solidFill>
                <a:latin typeface="Consolas" panose="020B0609020204030204" pitchFamily="49" charset="0"/>
              </a:rPr>
              <a:t>id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(a[</a:t>
            </a:r>
            <a:r>
              <a:rPr lang="en-US" altLang="zh-CN" dirty="0">
                <a:solidFill>
                  <a:srgbClr val="09885A"/>
                </a:solidFill>
                <a:latin typeface="Consolas" panose="020B0609020204030204" pitchFamily="49" charset="0"/>
              </a:rPr>
              <a:t>3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]),</a:t>
            </a:r>
            <a:r>
              <a:rPr lang="en-US" altLang="zh-CN" dirty="0">
                <a:solidFill>
                  <a:srgbClr val="A31515"/>
                </a:solidFill>
                <a:latin typeface="Consolas" panose="020B0609020204030204" pitchFamily="49" charset="0"/>
              </a:rPr>
              <a:t>"id(b[3]):"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,</a:t>
            </a:r>
            <a:r>
              <a:rPr lang="en-US" altLang="zh-CN" dirty="0">
                <a:solidFill>
                  <a:srgbClr val="795E26"/>
                </a:solidFill>
                <a:latin typeface="Consolas" panose="020B0609020204030204" pitchFamily="49" charset="0"/>
              </a:rPr>
              <a:t>id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(b[</a:t>
            </a:r>
            <a:r>
              <a:rPr lang="en-US" altLang="zh-CN" dirty="0">
                <a:solidFill>
                  <a:srgbClr val="09885A"/>
                </a:solidFill>
                <a:latin typeface="Consolas" panose="020B0609020204030204" pitchFamily="49" charset="0"/>
              </a:rPr>
              <a:t>3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]))</a:t>
            </a:r>
          </a:p>
          <a:p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b[</a:t>
            </a:r>
            <a:r>
              <a:rPr lang="en-US" altLang="zh-CN" dirty="0">
                <a:solidFill>
                  <a:srgbClr val="09885A"/>
                </a:solidFill>
                <a:latin typeface="Consolas" panose="020B0609020204030204" pitchFamily="49" charset="0"/>
              </a:rPr>
              <a:t>3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][</a:t>
            </a:r>
            <a:r>
              <a:rPr lang="en-US" altLang="zh-CN" dirty="0">
                <a:solidFill>
                  <a:srgbClr val="09885A"/>
                </a:solidFill>
                <a:latin typeface="Consolas" panose="020B0609020204030204" pitchFamily="49" charset="0"/>
              </a:rPr>
              <a:t>2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] = </a:t>
            </a:r>
            <a:r>
              <a:rPr lang="en-US" altLang="zh-CN" dirty="0">
                <a:solidFill>
                  <a:srgbClr val="09885A"/>
                </a:solidFill>
                <a:latin typeface="Consolas" panose="020B0609020204030204" pitchFamily="49" charset="0"/>
              </a:rPr>
              <a:t>99</a:t>
            </a:r>
            <a:endParaRPr lang="en-US" altLang="zh-CN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altLang="zh-CN" dirty="0">
                <a:solidFill>
                  <a:srgbClr val="795E26"/>
                </a:solidFill>
                <a:latin typeface="Consolas" panose="020B0609020204030204" pitchFamily="49" charset="0"/>
              </a:rPr>
              <a:t>print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altLang="zh-CN" dirty="0" err="1">
                <a:solidFill>
                  <a:srgbClr val="000000"/>
                </a:solidFill>
                <a:latin typeface="Consolas" panose="020B0609020204030204" pitchFamily="49" charset="0"/>
              </a:rPr>
              <a:t>a,b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1731131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/>
    </mc:Choice>
    <mc:Fallback xmlns="">
      <p:transition advClick="0"/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E48A9AC-A243-4B87-975A-FE8091DDEE60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8585626" y="5658563"/>
            <a:ext cx="208814" cy="205743"/>
          </a:xfrm>
          <a:prstGeom prst="rect">
            <a:avLst/>
          </a:prstGeom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</a:bodyPr>
          <a:lstStyle>
            <a:defPPr rtl="0">
              <a:defRPr lang="zh-CN"/>
            </a:defPPr>
            <a:lvl1pPr marL="0" algn="ctr" defTabSz="685800" rtl="0" eaLnBrk="1" latinLnBrk="0" hangingPunct="1">
              <a:defRPr sz="900" i="1" kern="1200">
                <a:solidFill>
                  <a:schemeClr val="bg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19B51A1E-902D-48AF-9020-955120F399B6}" type="slidenum">
              <a:rPr lang="en-ZA" altLang="zh-CN" smtClean="0"/>
              <a:pPr/>
              <a:t>31</a:t>
            </a:fld>
            <a:endParaRPr lang="zh-CN" altLang="en-US" noProof="0" dirty="0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C1369C35-DEE7-4C64-85F6-3BEEA7C2F50E}"/>
              </a:ext>
            </a:extLst>
          </p:cNvPr>
          <p:cNvSpPr/>
          <p:nvPr/>
        </p:nvSpPr>
        <p:spPr>
          <a:xfrm>
            <a:off x="1739561" y="714769"/>
            <a:ext cx="3552229" cy="391121"/>
          </a:xfrm>
          <a:prstGeom prst="rect">
            <a:avLst/>
          </a:prstGeom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dirty="0"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</a:rPr>
              <a:t>可修改数据类型 </a:t>
            </a:r>
            <a:r>
              <a:rPr lang="en-US" altLang="zh-CN" dirty="0"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</a:rPr>
              <a:t>– </a:t>
            </a:r>
            <a:r>
              <a:rPr lang="zh-CN" altLang="en-US" dirty="0"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</a:rPr>
              <a:t>列表的结构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5A923DD2-21AD-4838-92C8-03948A761C10}"/>
              </a:ext>
            </a:extLst>
          </p:cNvPr>
          <p:cNvSpPr txBox="1"/>
          <p:nvPr/>
        </p:nvSpPr>
        <p:spPr>
          <a:xfrm>
            <a:off x="446429" y="1685323"/>
            <a:ext cx="8379728" cy="369332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214313" indent="-214313">
              <a:buFont typeface="Arial" panose="020B0604020202020204" pitchFamily="34" charset="0"/>
              <a:buChar char="•"/>
            </a:pPr>
            <a:r>
              <a:rPr lang="zh-CN" altLang="en-US" dirty="0"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</a:rPr>
              <a:t>列表的任意元素位置也可以看作是一个名字，它同具体的对象相绑定。</a:t>
            </a:r>
            <a:endParaRPr lang="en-US" altLang="zh-CN" dirty="0">
              <a:latin typeface="阿里巴巴普惠体 R" panose="00020600040101010101" pitchFamily="18" charset="-122"/>
              <a:ea typeface="阿里巴巴普惠体 R" panose="00020600040101010101" pitchFamily="18" charset="-122"/>
              <a:cs typeface="阿里巴巴普惠体 R" panose="00020600040101010101" pitchFamily="18" charset="-122"/>
            </a:endParaRPr>
          </a:p>
        </p:txBody>
      </p:sp>
      <p:graphicFrame>
        <p:nvGraphicFramePr>
          <p:cNvPr id="19" name="表格 18">
            <a:extLst>
              <a:ext uri="{FF2B5EF4-FFF2-40B4-BE49-F238E27FC236}">
                <a16:creationId xmlns:a16="http://schemas.microsoft.com/office/drawing/2014/main" id="{786DA402-E58D-47F1-A710-DC7948E9916B}"/>
              </a:ext>
            </a:extLst>
          </p:cNvPr>
          <p:cNvGraphicFramePr>
            <a:graphicFrameLocks noGrp="1"/>
          </p:cNvGraphicFramePr>
          <p:nvPr/>
        </p:nvGraphicFramePr>
        <p:xfrm>
          <a:off x="1574306" y="4354902"/>
          <a:ext cx="6272644" cy="68291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568161">
                  <a:extLst>
                    <a:ext uri="{9D8B030D-6E8A-4147-A177-3AD203B41FA5}">
                      <a16:colId xmlns:a16="http://schemas.microsoft.com/office/drawing/2014/main" val="1557379028"/>
                    </a:ext>
                  </a:extLst>
                </a:gridCol>
                <a:gridCol w="1568161">
                  <a:extLst>
                    <a:ext uri="{9D8B030D-6E8A-4147-A177-3AD203B41FA5}">
                      <a16:colId xmlns:a16="http://schemas.microsoft.com/office/drawing/2014/main" val="2787982236"/>
                    </a:ext>
                  </a:extLst>
                </a:gridCol>
                <a:gridCol w="1568161">
                  <a:extLst>
                    <a:ext uri="{9D8B030D-6E8A-4147-A177-3AD203B41FA5}">
                      <a16:colId xmlns:a16="http://schemas.microsoft.com/office/drawing/2014/main" val="2695869773"/>
                    </a:ext>
                  </a:extLst>
                </a:gridCol>
                <a:gridCol w="1568161">
                  <a:extLst>
                    <a:ext uri="{9D8B030D-6E8A-4147-A177-3AD203B41FA5}">
                      <a16:colId xmlns:a16="http://schemas.microsoft.com/office/drawing/2014/main" val="1370833842"/>
                    </a:ext>
                  </a:extLst>
                </a:gridCol>
              </a:tblGrid>
              <a:tr h="682915">
                <a:tc>
                  <a:txBody>
                    <a:bodyPr/>
                    <a:lstStyle/>
                    <a:p>
                      <a:endParaRPr lang="zh-CN" altLang="en-US" sz="27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zh-CN" altLang="en-US" sz="27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zh-CN" altLang="en-US" sz="27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zh-CN" altLang="en-US" sz="2700" dirty="0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2336259063"/>
                  </a:ext>
                </a:extLst>
              </a:tr>
            </a:tbl>
          </a:graphicData>
        </a:graphic>
      </p:graphicFrame>
      <p:sp>
        <p:nvSpPr>
          <p:cNvPr id="20" name="椭圆 19">
            <a:extLst>
              <a:ext uri="{FF2B5EF4-FFF2-40B4-BE49-F238E27FC236}">
                <a16:creationId xmlns:a16="http://schemas.microsoft.com/office/drawing/2014/main" id="{8FA1F415-B29D-4CB3-B23C-1B10A97E6886}"/>
              </a:ext>
            </a:extLst>
          </p:cNvPr>
          <p:cNvSpPr/>
          <p:nvPr/>
        </p:nvSpPr>
        <p:spPr>
          <a:xfrm>
            <a:off x="1936258" y="2915473"/>
            <a:ext cx="801830" cy="753341"/>
          </a:xfrm>
          <a:prstGeom prst="ellipse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2700" dirty="0"/>
              <a:t>1</a:t>
            </a:r>
            <a:endParaRPr lang="zh-CN" altLang="en-US" sz="2700" dirty="0"/>
          </a:p>
        </p:txBody>
      </p:sp>
      <p:sp>
        <p:nvSpPr>
          <p:cNvPr id="21" name="椭圆 20">
            <a:extLst>
              <a:ext uri="{FF2B5EF4-FFF2-40B4-BE49-F238E27FC236}">
                <a16:creationId xmlns:a16="http://schemas.microsoft.com/office/drawing/2014/main" id="{7CF0CACA-BF0C-4C9D-9B56-8CA3107D42C2}"/>
              </a:ext>
            </a:extLst>
          </p:cNvPr>
          <p:cNvSpPr/>
          <p:nvPr/>
        </p:nvSpPr>
        <p:spPr>
          <a:xfrm>
            <a:off x="6191335" y="2366765"/>
            <a:ext cx="1823604" cy="829271"/>
          </a:xfrm>
          <a:prstGeom prst="ellipse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2400" dirty="0"/>
              <a:t>[3,2,1]</a:t>
            </a:r>
            <a:endParaRPr lang="zh-CN" altLang="en-US" sz="2400" dirty="0"/>
          </a:p>
        </p:txBody>
      </p:sp>
      <p:sp>
        <p:nvSpPr>
          <p:cNvPr id="22" name="箭头: 燕尾形 21">
            <a:extLst>
              <a:ext uri="{FF2B5EF4-FFF2-40B4-BE49-F238E27FC236}">
                <a16:creationId xmlns:a16="http://schemas.microsoft.com/office/drawing/2014/main" id="{18BCBD37-9A6C-4227-9365-6A10553579E5}"/>
              </a:ext>
            </a:extLst>
          </p:cNvPr>
          <p:cNvSpPr/>
          <p:nvPr/>
        </p:nvSpPr>
        <p:spPr>
          <a:xfrm rot="1362715">
            <a:off x="854085" y="3945760"/>
            <a:ext cx="711777" cy="545523"/>
          </a:xfrm>
          <a:prstGeom prst="notchedRightArrow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2100" dirty="0"/>
              <a:t>a</a:t>
            </a:r>
            <a:endParaRPr lang="zh-CN" altLang="en-US" sz="2100" dirty="0"/>
          </a:p>
        </p:txBody>
      </p:sp>
      <p:sp>
        <p:nvSpPr>
          <p:cNvPr id="24" name="椭圆 23">
            <a:extLst>
              <a:ext uri="{FF2B5EF4-FFF2-40B4-BE49-F238E27FC236}">
                <a16:creationId xmlns:a16="http://schemas.microsoft.com/office/drawing/2014/main" id="{936B59B2-327E-4642-B044-62192E9BD12C}"/>
              </a:ext>
            </a:extLst>
          </p:cNvPr>
          <p:cNvSpPr/>
          <p:nvPr/>
        </p:nvSpPr>
        <p:spPr>
          <a:xfrm>
            <a:off x="3515676" y="2915473"/>
            <a:ext cx="801830" cy="753341"/>
          </a:xfrm>
          <a:prstGeom prst="ellipse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2700" dirty="0"/>
              <a:t>2</a:t>
            </a:r>
            <a:endParaRPr lang="zh-CN" altLang="en-US" sz="2700" dirty="0"/>
          </a:p>
        </p:txBody>
      </p:sp>
      <p:sp>
        <p:nvSpPr>
          <p:cNvPr id="25" name="椭圆 24">
            <a:extLst>
              <a:ext uri="{FF2B5EF4-FFF2-40B4-BE49-F238E27FC236}">
                <a16:creationId xmlns:a16="http://schemas.microsoft.com/office/drawing/2014/main" id="{B555A3E4-BFC8-41FE-896F-C1BBB78511E8}"/>
              </a:ext>
            </a:extLst>
          </p:cNvPr>
          <p:cNvSpPr/>
          <p:nvPr/>
        </p:nvSpPr>
        <p:spPr>
          <a:xfrm>
            <a:off x="5095093" y="2915473"/>
            <a:ext cx="801830" cy="753341"/>
          </a:xfrm>
          <a:prstGeom prst="ellipse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2700" dirty="0"/>
              <a:t>3</a:t>
            </a:r>
            <a:endParaRPr lang="zh-CN" altLang="en-US" sz="2700" dirty="0"/>
          </a:p>
        </p:txBody>
      </p:sp>
      <p:sp>
        <p:nvSpPr>
          <p:cNvPr id="26" name="箭头: 虚尾 25">
            <a:extLst>
              <a:ext uri="{FF2B5EF4-FFF2-40B4-BE49-F238E27FC236}">
                <a16:creationId xmlns:a16="http://schemas.microsoft.com/office/drawing/2014/main" id="{3D3BAD1E-C1EE-4E4A-8DD3-F3E8A72ABE10}"/>
              </a:ext>
            </a:extLst>
          </p:cNvPr>
          <p:cNvSpPr/>
          <p:nvPr/>
        </p:nvSpPr>
        <p:spPr>
          <a:xfrm rot="16200000">
            <a:off x="1867811" y="3989385"/>
            <a:ext cx="938727" cy="297584"/>
          </a:xfrm>
          <a:prstGeom prst="stripedRightArrow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7" name="箭头: 虚尾 26">
            <a:extLst>
              <a:ext uri="{FF2B5EF4-FFF2-40B4-BE49-F238E27FC236}">
                <a16:creationId xmlns:a16="http://schemas.microsoft.com/office/drawing/2014/main" id="{8ACA729F-BEC1-48C4-9E1F-9FE8B17DA40C}"/>
              </a:ext>
            </a:extLst>
          </p:cNvPr>
          <p:cNvSpPr/>
          <p:nvPr/>
        </p:nvSpPr>
        <p:spPr>
          <a:xfrm rot="16200000">
            <a:off x="3447227" y="3989384"/>
            <a:ext cx="938727" cy="297584"/>
          </a:xfrm>
          <a:prstGeom prst="stripedRightArrow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8" name="箭头: 虚尾 27">
            <a:extLst>
              <a:ext uri="{FF2B5EF4-FFF2-40B4-BE49-F238E27FC236}">
                <a16:creationId xmlns:a16="http://schemas.microsoft.com/office/drawing/2014/main" id="{D1BD9AD3-097D-4418-970A-DF1EDA042623}"/>
              </a:ext>
            </a:extLst>
          </p:cNvPr>
          <p:cNvSpPr/>
          <p:nvPr/>
        </p:nvSpPr>
        <p:spPr>
          <a:xfrm rot="16200000">
            <a:off x="5026644" y="3989384"/>
            <a:ext cx="938727" cy="297584"/>
          </a:xfrm>
          <a:prstGeom prst="stripedRightArrow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9" name="箭头: 虚尾 28">
            <a:extLst>
              <a:ext uri="{FF2B5EF4-FFF2-40B4-BE49-F238E27FC236}">
                <a16:creationId xmlns:a16="http://schemas.microsoft.com/office/drawing/2014/main" id="{1EE245B7-BA0C-4771-949D-9C1880596545}"/>
              </a:ext>
            </a:extLst>
          </p:cNvPr>
          <p:cNvSpPr/>
          <p:nvPr/>
        </p:nvSpPr>
        <p:spPr>
          <a:xfrm rot="16200000">
            <a:off x="6401365" y="3758927"/>
            <a:ext cx="1399640" cy="297584"/>
          </a:xfrm>
          <a:prstGeom prst="stripedRightArrow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8CA923EA-CC99-4566-AB7C-99B33658CA81}"/>
              </a:ext>
            </a:extLst>
          </p:cNvPr>
          <p:cNvSpPr txBox="1"/>
          <p:nvPr/>
        </p:nvSpPr>
        <p:spPr>
          <a:xfrm>
            <a:off x="644668" y="2095306"/>
            <a:ext cx="2326278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100" dirty="0"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</a:rPr>
              <a:t>a = [1,2,3,[3,2,1]]</a:t>
            </a:r>
            <a:endParaRPr lang="zh-CN" altLang="en-US" sz="2100" dirty="0">
              <a:latin typeface="阿里巴巴普惠体 R" panose="00020600040101010101" pitchFamily="18" charset="-122"/>
              <a:ea typeface="阿里巴巴普惠体 R" panose="00020600040101010101" pitchFamily="18" charset="-122"/>
              <a:cs typeface="阿里巴巴普惠体 R" panose="00020600040101010101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7621625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/>
    </mc:Choice>
    <mc:Fallback xmlns="">
      <p:transition advClick="0"/>
    </mc:Fallback>
  </mc:AlternateContent>
</p:sld>
</file>

<file path=ppt/theme/theme1.xml><?xml version="1.0" encoding="utf-8"?>
<a:theme xmlns:a="http://schemas.openxmlformats.org/drawingml/2006/main" name="Balloons">
  <a:themeElements>
    <a:clrScheme name="Balloons 8">
      <a:dk1>
        <a:srgbClr val="006699"/>
      </a:dk1>
      <a:lt1>
        <a:srgbClr val="FFFFFF"/>
      </a:lt1>
      <a:dk2>
        <a:srgbClr val="006666"/>
      </a:dk2>
      <a:lt2>
        <a:srgbClr val="FFFFCC"/>
      </a:lt2>
      <a:accent1>
        <a:srgbClr val="EDFAD2"/>
      </a:accent1>
      <a:accent2>
        <a:srgbClr val="EBF7FF"/>
      </a:accent2>
      <a:accent3>
        <a:srgbClr val="FFFFFF"/>
      </a:accent3>
      <a:accent4>
        <a:srgbClr val="005682"/>
      </a:accent4>
      <a:accent5>
        <a:srgbClr val="F4FCE5"/>
      </a:accent5>
      <a:accent6>
        <a:srgbClr val="D5E0E7"/>
      </a:accent6>
      <a:hlink>
        <a:srgbClr val="CC99FF"/>
      </a:hlink>
      <a:folHlink>
        <a:srgbClr val="F2DFFD"/>
      </a:folHlink>
    </a:clrScheme>
    <a:fontScheme name="Balloons">
      <a:majorFont>
        <a:latin typeface="Verdana"/>
        <a:ea typeface="宋体"/>
        <a:cs typeface=""/>
      </a:majorFont>
      <a:minorFont>
        <a:latin typeface="Verdana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Balloons 1">
        <a:dk1>
          <a:srgbClr val="9900CC"/>
        </a:dk1>
        <a:lt1>
          <a:srgbClr val="FFFFCC"/>
        </a:lt1>
        <a:dk2>
          <a:srgbClr val="000000"/>
        </a:dk2>
        <a:lt2>
          <a:srgbClr val="FFFFFF"/>
        </a:lt2>
        <a:accent1>
          <a:srgbClr val="666699"/>
        </a:accent1>
        <a:accent2>
          <a:srgbClr val="660066"/>
        </a:accent2>
        <a:accent3>
          <a:srgbClr val="AAAAAA"/>
        </a:accent3>
        <a:accent4>
          <a:srgbClr val="DADAAE"/>
        </a:accent4>
        <a:accent5>
          <a:srgbClr val="B8B8CA"/>
        </a:accent5>
        <a:accent6>
          <a:srgbClr val="5C005C"/>
        </a:accent6>
        <a:hlink>
          <a:srgbClr val="CC0000"/>
        </a:hlink>
        <a:folHlink>
          <a:srgbClr val="A5002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alloons 2">
        <a:dk1>
          <a:srgbClr val="990033"/>
        </a:dk1>
        <a:lt1>
          <a:srgbClr val="FFFFFF"/>
        </a:lt1>
        <a:dk2>
          <a:srgbClr val="000000"/>
        </a:dk2>
        <a:lt2>
          <a:srgbClr val="FFFFFF"/>
        </a:lt2>
        <a:accent1>
          <a:srgbClr val="FF3300"/>
        </a:accent1>
        <a:accent2>
          <a:srgbClr val="FF9900"/>
        </a:accent2>
        <a:accent3>
          <a:srgbClr val="AAAAAA"/>
        </a:accent3>
        <a:accent4>
          <a:srgbClr val="DADADA"/>
        </a:accent4>
        <a:accent5>
          <a:srgbClr val="FFADAA"/>
        </a:accent5>
        <a:accent6>
          <a:srgbClr val="E78A00"/>
        </a:accent6>
        <a:hlink>
          <a:srgbClr val="FFFF99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alloons 3">
        <a:dk1>
          <a:srgbClr val="CCCCFF"/>
        </a:dk1>
        <a:lt1>
          <a:srgbClr val="FFFFCC"/>
        </a:lt1>
        <a:dk2>
          <a:srgbClr val="000000"/>
        </a:dk2>
        <a:lt2>
          <a:srgbClr val="FFFFFF"/>
        </a:lt2>
        <a:accent1>
          <a:srgbClr val="9999FF"/>
        </a:accent1>
        <a:accent2>
          <a:srgbClr val="33CCCC"/>
        </a:accent2>
        <a:accent3>
          <a:srgbClr val="AAAAAA"/>
        </a:accent3>
        <a:accent4>
          <a:srgbClr val="DADAAE"/>
        </a:accent4>
        <a:accent5>
          <a:srgbClr val="CACAFF"/>
        </a:accent5>
        <a:accent6>
          <a:srgbClr val="2DB9B9"/>
        </a:accent6>
        <a:hlink>
          <a:srgbClr val="66FFFF"/>
        </a:hlink>
        <a:folHlink>
          <a:srgbClr val="6600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alloons 4">
        <a:dk1>
          <a:srgbClr val="000000"/>
        </a:dk1>
        <a:lt1>
          <a:srgbClr val="F8F8F8"/>
        </a:lt1>
        <a:dk2>
          <a:srgbClr val="800000"/>
        </a:dk2>
        <a:lt2>
          <a:srgbClr val="FFFFFF"/>
        </a:lt2>
        <a:accent1>
          <a:srgbClr val="FF3300"/>
        </a:accent1>
        <a:accent2>
          <a:srgbClr val="FF5050"/>
        </a:accent2>
        <a:accent3>
          <a:srgbClr val="C0AAAA"/>
        </a:accent3>
        <a:accent4>
          <a:srgbClr val="D4D4D4"/>
        </a:accent4>
        <a:accent5>
          <a:srgbClr val="FFADAA"/>
        </a:accent5>
        <a:accent6>
          <a:srgbClr val="E74848"/>
        </a:accent6>
        <a:hlink>
          <a:srgbClr val="FF9999"/>
        </a:hlink>
        <a:folHlink>
          <a:srgbClr val="FF99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alloons 5">
        <a:dk1>
          <a:srgbClr val="666699"/>
        </a:dk1>
        <a:lt1>
          <a:srgbClr val="FFFFFF"/>
        </a:lt1>
        <a:dk2>
          <a:srgbClr val="000066"/>
        </a:dk2>
        <a:lt2>
          <a:srgbClr val="CCECFF"/>
        </a:lt2>
        <a:accent1>
          <a:srgbClr val="009999"/>
        </a:accent1>
        <a:accent2>
          <a:srgbClr val="0099CC"/>
        </a:accent2>
        <a:accent3>
          <a:srgbClr val="AAAAB8"/>
        </a:accent3>
        <a:accent4>
          <a:srgbClr val="DADADA"/>
        </a:accent4>
        <a:accent5>
          <a:srgbClr val="AACACA"/>
        </a:accent5>
        <a:accent6>
          <a:srgbClr val="008AB9"/>
        </a:accent6>
        <a:hlink>
          <a:srgbClr val="CC99FF"/>
        </a:hlink>
        <a:folHlink>
          <a:srgbClr val="3366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alloons 6">
        <a:dk1>
          <a:srgbClr val="99CC00"/>
        </a:dk1>
        <a:lt1>
          <a:srgbClr val="FFFFFF"/>
        </a:lt1>
        <a:dk2>
          <a:srgbClr val="009900"/>
        </a:dk2>
        <a:lt2>
          <a:srgbClr val="FFFF99"/>
        </a:lt2>
        <a:accent1>
          <a:srgbClr val="336600"/>
        </a:accent1>
        <a:accent2>
          <a:srgbClr val="008000"/>
        </a:accent2>
        <a:accent3>
          <a:srgbClr val="AACAAA"/>
        </a:accent3>
        <a:accent4>
          <a:srgbClr val="DADADA"/>
        </a:accent4>
        <a:accent5>
          <a:srgbClr val="ADB8AA"/>
        </a:accent5>
        <a:accent6>
          <a:srgbClr val="007300"/>
        </a:accent6>
        <a:hlink>
          <a:srgbClr val="CCCC00"/>
        </a:hlink>
        <a:folHlink>
          <a:srgbClr val="33CC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alloons 7">
        <a:dk1>
          <a:srgbClr val="000066"/>
        </a:dk1>
        <a:lt1>
          <a:srgbClr val="E1F4FF"/>
        </a:lt1>
        <a:dk2>
          <a:srgbClr val="000066"/>
        </a:dk2>
        <a:lt2>
          <a:srgbClr val="CCCCFF"/>
        </a:lt2>
        <a:accent1>
          <a:srgbClr val="9999FF"/>
        </a:accent1>
        <a:accent2>
          <a:srgbClr val="33CCCC"/>
        </a:accent2>
        <a:accent3>
          <a:srgbClr val="EEF8FF"/>
        </a:accent3>
        <a:accent4>
          <a:srgbClr val="000056"/>
        </a:accent4>
        <a:accent5>
          <a:srgbClr val="CACAFF"/>
        </a:accent5>
        <a:accent6>
          <a:srgbClr val="2DB9B9"/>
        </a:accent6>
        <a:hlink>
          <a:srgbClr val="66FFFF"/>
        </a:hlink>
        <a:folHlink>
          <a:srgbClr val="6600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alloons 8">
        <a:dk1>
          <a:srgbClr val="006699"/>
        </a:dk1>
        <a:lt1>
          <a:srgbClr val="FFFFFF"/>
        </a:lt1>
        <a:dk2>
          <a:srgbClr val="006666"/>
        </a:dk2>
        <a:lt2>
          <a:srgbClr val="FFFFCC"/>
        </a:lt2>
        <a:accent1>
          <a:srgbClr val="EDFAD2"/>
        </a:accent1>
        <a:accent2>
          <a:srgbClr val="EBF7FF"/>
        </a:accent2>
        <a:accent3>
          <a:srgbClr val="FFFFFF"/>
        </a:accent3>
        <a:accent4>
          <a:srgbClr val="005682"/>
        </a:accent4>
        <a:accent5>
          <a:srgbClr val="F4FCE5"/>
        </a:accent5>
        <a:accent6>
          <a:srgbClr val="D5E0E7"/>
        </a:accent6>
        <a:hlink>
          <a:srgbClr val="CC99FF"/>
        </a:hlink>
        <a:folHlink>
          <a:srgbClr val="F2DFF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alloons 9">
        <a:dk1>
          <a:srgbClr val="000000"/>
        </a:dk1>
        <a:lt1>
          <a:srgbClr val="FFFFFF"/>
        </a:lt1>
        <a:dk2>
          <a:srgbClr val="000000"/>
        </a:dk2>
        <a:lt2>
          <a:srgbClr val="FFCC99"/>
        </a:lt2>
        <a:accent1>
          <a:srgbClr val="FF9900"/>
        </a:accent1>
        <a:accent2>
          <a:srgbClr val="FF99CC"/>
        </a:accent2>
        <a:accent3>
          <a:srgbClr val="FFFFFF"/>
        </a:accent3>
        <a:accent4>
          <a:srgbClr val="000000"/>
        </a:accent4>
        <a:accent5>
          <a:srgbClr val="FFCAAA"/>
        </a:accent5>
        <a:accent6>
          <a:srgbClr val="E78AB9"/>
        </a:accent6>
        <a:hlink>
          <a:srgbClr val="FF9999"/>
        </a:hlink>
        <a:folHlink>
          <a:srgbClr val="FFFF99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Balloons</Template>
  <TotalTime>25</TotalTime>
  <Words>3771</Words>
  <Application>Microsoft Office PowerPoint</Application>
  <PresentationFormat>全屏显示(4:3)</PresentationFormat>
  <Paragraphs>422</Paragraphs>
  <Slides>31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31</vt:i4>
      </vt:variant>
    </vt:vector>
  </HeadingPairs>
  <TitlesOfParts>
    <vt:vector size="42" baseType="lpstr">
      <vt:lpstr>Arial Unicode MS</vt:lpstr>
      <vt:lpstr>阿里巴巴普惠体 R</vt:lpstr>
      <vt:lpstr>宋体</vt:lpstr>
      <vt:lpstr>微软雅黑</vt:lpstr>
      <vt:lpstr>Arial</vt:lpstr>
      <vt:lpstr>Calibri</vt:lpstr>
      <vt:lpstr>Consolas</vt:lpstr>
      <vt:lpstr>Courier New</vt:lpstr>
      <vt:lpstr>Times New Roman</vt:lpstr>
      <vt:lpstr>Verdana</vt:lpstr>
      <vt:lpstr>Balloons</vt:lpstr>
      <vt:lpstr>元组和集合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Huawei Technologies Co.,Ltd.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谈谈未来操作系统的发展趋势</dc:title>
  <dc:creator>Lenovo User</dc:creator>
  <cp:lastModifiedBy>tian he</cp:lastModifiedBy>
  <cp:revision>129</cp:revision>
  <dcterms:created xsi:type="dcterms:W3CDTF">2008-02-24T15:59:36Z</dcterms:created>
  <dcterms:modified xsi:type="dcterms:W3CDTF">2026-06-27T09:00:49Z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2052-11.1.0.9513</vt:lpwstr>
  </property>
</Properties>
</file>